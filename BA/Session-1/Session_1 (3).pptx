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12192000" cy="6858000"/>
  <p:notesSz cx="6858000" cy="9144000"/>
  <p:embeddedFontLst>
    <p:embeddedFont>
      <p:font typeface="Calibri" panose="020F0502020204030204" pitchFamily="34" charset="0"/>
      <p:regular r:id="rId55"/>
      <p:bold r:id="rId56"/>
      <p:italic r:id="rId57"/>
      <p:boldItalic r:id="rId58"/>
    </p:embeddedFont>
    <p:embeddedFont>
      <p:font typeface="Play" panose="020B0604020202020204" charset="0"/>
      <p:regular r:id="rId59"/>
      <p:bold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1" roundtripDataSignature="AMtx7mihn4PjmJ4emzZ/lb0QkhObCLBH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customschemas.google.com/relationships/presentationmetadata" Target="meta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0" name="Google Shape;220;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5" name="Google Shape;33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1" name="Google Shape;36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3" name="Google Shape;45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8" name="Google Shape;4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0" name="Google Shape;57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0" name="Google Shape;58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5" name="Google Shape;595;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9" name="Google Shape;62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4" name="Google Shape;64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8" name="Google Shape;678;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1" name="Google Shape;72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7" name="Google Shape;7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5" name="Google Shape;88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5" name="Google Shape;995;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2" name="Google Shape;1002;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4" name="Google Shape;105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3" name="Google Shape;1083;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6" name="Google Shape;110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9" name="Google Shape;1129;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3" name="Google Shape;114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5"/>
        <p:cNvGrpSpPr/>
        <p:nvPr/>
      </p:nvGrpSpPr>
      <p:grpSpPr>
        <a:xfrm>
          <a:off x="0" y="0"/>
          <a:ext cx="0" cy="0"/>
          <a:chOff x="0" y="0"/>
          <a:chExt cx="0" cy="0"/>
        </a:xfrm>
      </p:grpSpPr>
      <p:sp>
        <p:nvSpPr>
          <p:cNvPr id="1156" name="Google Shape;115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7" name="Google Shape;115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7" name="Google Shape;118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1"/>
        <p:cNvGrpSpPr/>
        <p:nvPr/>
      </p:nvGrpSpPr>
      <p:grpSpPr>
        <a:xfrm>
          <a:off x="0" y="0"/>
          <a:ext cx="0" cy="0"/>
          <a:chOff x="0" y="0"/>
          <a:chExt cx="0" cy="0"/>
        </a:xfrm>
      </p:grpSpPr>
      <p:sp>
        <p:nvSpPr>
          <p:cNvPr id="1202" name="Google Shape;1202;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3" name="Google Shape;1203;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1" name="Google Shape;1211;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5"/>
        <p:cNvGrpSpPr/>
        <p:nvPr/>
      </p:nvGrpSpPr>
      <p:grpSpPr>
        <a:xfrm>
          <a:off x="0" y="0"/>
          <a:ext cx="0" cy="0"/>
          <a:chOff x="0" y="0"/>
          <a:chExt cx="0" cy="0"/>
        </a:xfrm>
      </p:grpSpPr>
      <p:sp>
        <p:nvSpPr>
          <p:cNvPr id="1226" name="Google Shape;1226;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7" name="Google Shape;1227;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7"/>
        <p:cNvGrpSpPr/>
        <p:nvPr/>
      </p:nvGrpSpPr>
      <p:grpSpPr>
        <a:xfrm>
          <a:off x="0" y="0"/>
          <a:ext cx="0" cy="0"/>
          <a:chOff x="0" y="0"/>
          <a:chExt cx="0" cy="0"/>
        </a:xfrm>
      </p:grpSpPr>
      <p:sp>
        <p:nvSpPr>
          <p:cNvPr id="1238" name="Google Shape;1238;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9" name="Google Shape;1239;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3"/>
        <p:cNvGrpSpPr/>
        <p:nvPr/>
      </p:nvGrpSpPr>
      <p:grpSpPr>
        <a:xfrm>
          <a:off x="0" y="0"/>
          <a:ext cx="0" cy="0"/>
          <a:chOff x="0" y="0"/>
          <a:chExt cx="0" cy="0"/>
        </a:xfrm>
      </p:grpSpPr>
      <p:sp>
        <p:nvSpPr>
          <p:cNvPr id="1254" name="Google Shape;1254;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5" name="Google Shape;125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7"/>
        <p:cNvGrpSpPr/>
        <p:nvPr/>
      </p:nvGrpSpPr>
      <p:grpSpPr>
        <a:xfrm>
          <a:off x="0" y="0"/>
          <a:ext cx="0" cy="0"/>
          <a:chOff x="0" y="0"/>
          <a:chExt cx="0" cy="0"/>
        </a:xfrm>
      </p:grpSpPr>
      <p:sp>
        <p:nvSpPr>
          <p:cNvPr id="1278" name="Google Shape;1278;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9" name="Google Shape;127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2" name="Google Shape;1292;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3"/>
        <p:cNvGrpSpPr/>
        <p:nvPr/>
      </p:nvGrpSpPr>
      <p:grpSpPr>
        <a:xfrm>
          <a:off x="0" y="0"/>
          <a:ext cx="0" cy="0"/>
          <a:chOff x="0" y="0"/>
          <a:chExt cx="0" cy="0"/>
        </a:xfrm>
      </p:grpSpPr>
      <p:sp>
        <p:nvSpPr>
          <p:cNvPr id="1304" name="Google Shape;130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5" name="Google Shape;130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7" name="Google Shape;132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ext" type="tx">
  <p:cSld name="TITLE_AND_BODY">
    <p:spTree>
      <p:nvGrpSpPr>
        <p:cNvPr id="1" name="Shape 15"/>
        <p:cNvGrpSpPr/>
        <p:nvPr/>
      </p:nvGrpSpPr>
      <p:grpSpPr>
        <a:xfrm>
          <a:off x="0" y="0"/>
          <a:ext cx="0" cy="0"/>
          <a:chOff x="0" y="0"/>
          <a:chExt cx="0" cy="0"/>
        </a:xfrm>
      </p:grpSpPr>
      <p:sp>
        <p:nvSpPr>
          <p:cNvPr id="16" name="Google Shape;16;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
        <p:cNvGrpSpPr/>
        <p:nvPr/>
      </p:nvGrpSpPr>
      <p:grpSpPr>
        <a:xfrm>
          <a:off x="0" y="0"/>
          <a:ext cx="0" cy="0"/>
          <a:chOff x="0" y="0"/>
          <a:chExt cx="0" cy="0"/>
        </a:xfrm>
      </p:grpSpPr>
      <p:sp>
        <p:nvSpPr>
          <p:cNvPr id="28" name="Google Shape;28;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
        <p:cNvGrpSpPr/>
        <p:nvPr/>
      </p:nvGrpSpPr>
      <p:grpSpPr>
        <a:xfrm>
          <a:off x="0" y="0"/>
          <a:ext cx="0" cy="0"/>
          <a:chOff x="0" y="0"/>
          <a:chExt cx="0" cy="0"/>
        </a:xfrm>
      </p:grpSpPr>
      <p:sp>
        <p:nvSpPr>
          <p:cNvPr id="32" name="Google Shape;32;p5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4" name="Google Shape;34;p5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5" name="Google Shape;35;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
        <p:cNvGrpSpPr/>
        <p:nvPr/>
      </p:nvGrpSpPr>
      <p:grpSpPr>
        <a:xfrm>
          <a:off x="0" y="0"/>
          <a:ext cx="0" cy="0"/>
          <a:chOff x="0" y="0"/>
          <a:chExt cx="0" cy="0"/>
        </a:xfrm>
      </p:grpSpPr>
      <p:sp>
        <p:nvSpPr>
          <p:cNvPr id="44" name="Google Shape;44;p5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6" name="Google Shape;46;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6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2" name="Google Shape;52;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6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6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6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6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5" name="Google Shape;65;p6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6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6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6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3"/>
          <p:cNvSpPr>
            <a:spLocks noGrp="1"/>
          </p:cNvSpPr>
          <p:nvPr>
            <p:ph type="pic" idx="2"/>
          </p:nvPr>
        </p:nvSpPr>
        <p:spPr>
          <a:xfrm>
            <a:off x="5183188" y="987425"/>
            <a:ext cx="6172200" cy="4873625"/>
          </a:xfrm>
          <a:prstGeom prst="rect">
            <a:avLst/>
          </a:prstGeom>
          <a:noFill/>
          <a:ln>
            <a:noFill/>
          </a:ln>
        </p:spPr>
      </p:sp>
      <p:sp>
        <p:nvSpPr>
          <p:cNvPr id="74" name="Google Shape;74;p6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43.jp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hyperlink" Target="https://www.youtube.com/watch?v=uMzUB89uSxU"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3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3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32.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3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3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3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03.png"/></Relationships>
</file>

<file path=ppt/slides/_rels/slide40.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42.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44.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10.png"/></Relationships>
</file>

<file path=ppt/slides/_rels/slide46.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12.png"/></Relationships>
</file>

<file path=ppt/slides/_rels/slide4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115.png"/><Relationship Id="rId4" Type="http://schemas.openxmlformats.org/officeDocument/2006/relationships/image" Target="../media/image114.png"/></Relationships>
</file>

<file path=ppt/slides/_rels/slide49.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121.png"/><Relationship Id="rId5" Type="http://schemas.openxmlformats.org/officeDocument/2006/relationships/image" Target="../media/image120.png"/><Relationship Id="rId4" Type="http://schemas.openxmlformats.org/officeDocument/2006/relationships/image" Target="../media/image119.png"/></Relationships>
</file>

<file path=ppt/slides/_rels/slide5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3"/>
        <p:cNvGrpSpPr/>
        <p:nvPr/>
      </p:nvGrpSpPr>
      <p:grpSpPr>
        <a:xfrm>
          <a:off x="0" y="0"/>
          <a:ext cx="0" cy="0"/>
          <a:chOff x="0" y="0"/>
          <a:chExt cx="0" cy="0"/>
        </a:xfrm>
      </p:grpSpPr>
      <p:sp>
        <p:nvSpPr>
          <p:cNvPr id="94" name="Google Shape;94;p1"/>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95" name="Google Shape;95;p1"/>
          <p:cNvGrpSpPr/>
          <p:nvPr/>
        </p:nvGrpSpPr>
        <p:grpSpPr>
          <a:xfrm>
            <a:off x="1407279" y="3029174"/>
            <a:ext cx="9377440" cy="1944239"/>
            <a:chOff x="569079" y="1203549"/>
            <a:chExt cx="9377440" cy="1944239"/>
          </a:xfrm>
        </p:grpSpPr>
        <p:sp>
          <p:nvSpPr>
            <p:cNvPr id="96" name="Google Shape;96;p1"/>
            <p:cNvSpPr/>
            <p:nvPr/>
          </p:nvSpPr>
          <p:spPr>
            <a:xfrm>
              <a:off x="1138979" y="1203549"/>
              <a:ext cx="932563" cy="93256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
            <p:cNvSpPr/>
            <p:nvPr/>
          </p:nvSpPr>
          <p:spPr>
            <a:xfrm>
              <a:off x="569079"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
            <p:cNvSpPr txBox="1"/>
            <p:nvPr/>
          </p:nvSpPr>
          <p:spPr>
            <a:xfrm>
              <a:off x="569079"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en-US" sz="1500" b="1" i="0" u="none" strike="noStrike" cap="none">
                  <a:solidFill>
                    <a:schemeClr val="dk1"/>
                  </a:solidFill>
                  <a:latin typeface="Arial"/>
                  <a:ea typeface="Arial"/>
                  <a:cs typeface="Arial"/>
                  <a:sym typeface="Arial"/>
                </a:rPr>
                <a:t>Title</a:t>
              </a:r>
              <a:r>
                <a:rPr lang="en-US" sz="1500" b="0" i="0" u="none" strike="noStrike" cap="none">
                  <a:solidFill>
                    <a:schemeClr val="dk1"/>
                  </a:solidFill>
                  <a:latin typeface="Arial"/>
                  <a:ea typeface="Arial"/>
                  <a:cs typeface="Arial"/>
                  <a:sym typeface="Arial"/>
                </a:rPr>
                <a:t>: Introduction to Business Analysis and AI</a:t>
              </a:r>
              <a:endParaRPr sz="1500" b="0" i="0" u="none" strike="noStrike" cap="none">
                <a:solidFill>
                  <a:schemeClr val="dk1"/>
                </a:solidFill>
                <a:latin typeface="Arial"/>
                <a:ea typeface="Arial"/>
                <a:cs typeface="Arial"/>
                <a:sym typeface="Arial"/>
              </a:endParaRPr>
            </a:p>
          </p:txBody>
        </p:sp>
        <p:sp>
          <p:nvSpPr>
            <p:cNvPr id="99" name="Google Shape;99;p1"/>
            <p:cNvSpPr/>
            <p:nvPr/>
          </p:nvSpPr>
          <p:spPr>
            <a:xfrm>
              <a:off x="3574005" y="1203549"/>
              <a:ext cx="932563" cy="93256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
            <p:cNvSpPr/>
            <p:nvPr/>
          </p:nvSpPr>
          <p:spPr>
            <a:xfrm>
              <a:off x="3004105"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
            <p:cNvSpPr txBox="1"/>
            <p:nvPr/>
          </p:nvSpPr>
          <p:spPr>
            <a:xfrm>
              <a:off x="3004105"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en-US" sz="1500" b="1" i="0" u="none" strike="noStrike" cap="none">
                  <a:solidFill>
                    <a:schemeClr val="dk1"/>
                  </a:solidFill>
                  <a:latin typeface="Arial"/>
                  <a:ea typeface="Arial"/>
                  <a:cs typeface="Arial"/>
                  <a:sym typeface="Arial"/>
                </a:rPr>
                <a:t>Subtitle</a:t>
              </a:r>
              <a:r>
                <a:rPr lang="en-US" sz="1500" b="0" i="0" u="none" strike="noStrike" cap="none">
                  <a:solidFill>
                    <a:schemeClr val="dk1"/>
                  </a:solidFill>
                  <a:latin typeface="Arial"/>
                  <a:ea typeface="Arial"/>
                  <a:cs typeface="Arial"/>
                  <a:sym typeface="Arial"/>
                </a:rPr>
                <a:t>: Understanding the Intersection of Business Analysis &amp; AI</a:t>
              </a:r>
              <a:endParaRPr sz="1500" b="0" i="0" u="none" strike="noStrike" cap="none">
                <a:solidFill>
                  <a:schemeClr val="dk1"/>
                </a:solidFill>
                <a:latin typeface="Arial"/>
                <a:ea typeface="Arial"/>
                <a:cs typeface="Arial"/>
                <a:sym typeface="Arial"/>
              </a:endParaRPr>
            </a:p>
          </p:txBody>
        </p:sp>
        <p:sp>
          <p:nvSpPr>
            <p:cNvPr id="102" name="Google Shape;102;p1"/>
            <p:cNvSpPr/>
            <p:nvPr/>
          </p:nvSpPr>
          <p:spPr>
            <a:xfrm>
              <a:off x="6009031" y="1203549"/>
              <a:ext cx="932563" cy="93256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
            <p:cNvSpPr/>
            <p:nvPr/>
          </p:nvSpPr>
          <p:spPr>
            <a:xfrm>
              <a:off x="5439131"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
            <p:cNvSpPr txBox="1"/>
            <p:nvPr/>
          </p:nvSpPr>
          <p:spPr>
            <a:xfrm>
              <a:off x="5439131"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en-US" sz="1500" b="1" i="0" u="none" strike="noStrike" cap="none">
                  <a:solidFill>
                    <a:schemeClr val="dk1"/>
                  </a:solidFill>
                  <a:latin typeface="Arial"/>
                  <a:ea typeface="Arial"/>
                  <a:cs typeface="Arial"/>
                  <a:sym typeface="Arial"/>
                </a:rPr>
                <a:t>Lecturer Name</a:t>
              </a:r>
              <a:r>
                <a:rPr lang="en-US" sz="1500" b="0" i="0" u="none" strike="noStrike" cap="none">
                  <a:solidFill>
                    <a:schemeClr val="dk1"/>
                  </a:solidFill>
                  <a:latin typeface="Arial"/>
                  <a:ea typeface="Arial"/>
                  <a:cs typeface="Arial"/>
                  <a:sym typeface="Arial"/>
                </a:rPr>
                <a:t>: Diptarko Sharma</a:t>
              </a:r>
              <a:endParaRPr sz="1500" b="0" i="0" u="none" strike="noStrike" cap="none">
                <a:solidFill>
                  <a:schemeClr val="dk1"/>
                </a:solidFill>
                <a:latin typeface="Arial"/>
                <a:ea typeface="Arial"/>
                <a:cs typeface="Arial"/>
                <a:sym typeface="Arial"/>
              </a:endParaRPr>
            </a:p>
          </p:txBody>
        </p:sp>
        <p:sp>
          <p:nvSpPr>
            <p:cNvPr id="105" name="Google Shape;105;p1"/>
            <p:cNvSpPr/>
            <p:nvPr/>
          </p:nvSpPr>
          <p:spPr>
            <a:xfrm>
              <a:off x="8444057" y="1203549"/>
              <a:ext cx="932563" cy="93256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
            <p:cNvSpPr/>
            <p:nvPr/>
          </p:nvSpPr>
          <p:spPr>
            <a:xfrm>
              <a:off x="7874157"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
            <p:cNvSpPr txBox="1"/>
            <p:nvPr/>
          </p:nvSpPr>
          <p:spPr>
            <a:xfrm>
              <a:off x="7874157"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500"/>
                <a:buFont typeface="Arial"/>
                <a:buNone/>
              </a:pPr>
              <a:r>
                <a:rPr lang="en-US" sz="1500" b="1" i="0" u="none" strike="noStrike" cap="none" dirty="0">
                  <a:solidFill>
                    <a:schemeClr val="dk1"/>
                  </a:solidFill>
                  <a:latin typeface="Arial"/>
                  <a:ea typeface="Arial"/>
                  <a:cs typeface="Arial"/>
                  <a:sym typeface="Arial"/>
                </a:rPr>
                <a:t>Date</a:t>
              </a:r>
              <a:r>
                <a:rPr lang="en-US" sz="1500" b="0" i="0" u="none" strike="noStrike" cap="none" dirty="0">
                  <a:solidFill>
                    <a:schemeClr val="dk1"/>
                  </a:solidFill>
                  <a:latin typeface="Arial"/>
                  <a:ea typeface="Arial"/>
                  <a:cs typeface="Arial"/>
                  <a:sym typeface="Arial"/>
                </a:rPr>
                <a:t>: [07-Apr-25]</a:t>
              </a:r>
              <a:endParaRPr sz="1500" b="0" i="0" u="none" strike="noStrike" cap="none" dirty="0">
                <a:solidFill>
                  <a:schemeClr val="dk1"/>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
        <p:cNvGrpSpPr/>
        <p:nvPr/>
      </p:nvGrpSpPr>
      <p:grpSpPr>
        <a:xfrm>
          <a:off x="0" y="0"/>
          <a:ext cx="0" cy="0"/>
          <a:chOff x="0" y="0"/>
          <a:chExt cx="0" cy="0"/>
        </a:xfrm>
      </p:grpSpPr>
      <p:sp>
        <p:nvSpPr>
          <p:cNvPr id="112" name="Google Shape;112;p2"/>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3" name="Google Shape;113;p2"/>
          <p:cNvSpPr txBox="1">
            <a:spLocks noGrp="1"/>
          </p:cNvSpPr>
          <p:nvPr>
            <p:ph type="title"/>
          </p:nvPr>
        </p:nvSpPr>
        <p:spPr>
          <a:xfrm>
            <a:off x="838200" y="556995"/>
            <a:ext cx="10515600" cy="113369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5200"/>
              <a:buFont typeface="Play"/>
              <a:buNone/>
            </a:pPr>
            <a:r>
              <a:rPr lang="en-US" sz="5200" b="1" i="0" u="none" strike="noStrike">
                <a:solidFill>
                  <a:schemeClr val="dk1"/>
                </a:solidFill>
                <a:latin typeface="Play"/>
                <a:ea typeface="Play"/>
                <a:cs typeface="Play"/>
                <a:sym typeface="Play"/>
              </a:rPr>
              <a:t>Agenda</a:t>
            </a:r>
            <a:endParaRPr/>
          </a:p>
        </p:txBody>
      </p:sp>
      <p:grpSp>
        <p:nvGrpSpPr>
          <p:cNvPr id="114" name="Google Shape;114;p2"/>
          <p:cNvGrpSpPr/>
          <p:nvPr/>
        </p:nvGrpSpPr>
        <p:grpSpPr>
          <a:xfrm>
            <a:off x="1407279" y="3029174"/>
            <a:ext cx="9377440" cy="1944239"/>
            <a:chOff x="569079" y="1203549"/>
            <a:chExt cx="9377440" cy="1944239"/>
          </a:xfrm>
        </p:grpSpPr>
        <p:sp>
          <p:nvSpPr>
            <p:cNvPr id="115" name="Google Shape;115;p2"/>
            <p:cNvSpPr/>
            <p:nvPr/>
          </p:nvSpPr>
          <p:spPr>
            <a:xfrm>
              <a:off x="1138979" y="1203549"/>
              <a:ext cx="932563" cy="93256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569079"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txBox="1"/>
            <p:nvPr/>
          </p:nvSpPr>
          <p:spPr>
            <a:xfrm>
              <a:off x="569079"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Introduction to Business Analysis</a:t>
              </a:r>
              <a:endParaRPr sz="1900" b="0" i="0" u="none" strike="noStrike" cap="none">
                <a:solidFill>
                  <a:schemeClr val="dk1"/>
                </a:solidFill>
                <a:latin typeface="Arial"/>
                <a:ea typeface="Arial"/>
                <a:cs typeface="Arial"/>
                <a:sym typeface="Arial"/>
              </a:endParaRPr>
            </a:p>
          </p:txBody>
        </p:sp>
        <p:sp>
          <p:nvSpPr>
            <p:cNvPr id="118" name="Google Shape;118;p2"/>
            <p:cNvSpPr/>
            <p:nvPr/>
          </p:nvSpPr>
          <p:spPr>
            <a:xfrm>
              <a:off x="3574005" y="1203549"/>
              <a:ext cx="932563" cy="93256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3004105"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txBox="1"/>
            <p:nvPr/>
          </p:nvSpPr>
          <p:spPr>
            <a:xfrm>
              <a:off x="3004105"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Introduction to AI</a:t>
              </a:r>
              <a:endParaRPr sz="1900" b="0" i="0" u="none" strike="noStrike" cap="none">
                <a:solidFill>
                  <a:schemeClr val="dk1"/>
                </a:solidFill>
                <a:latin typeface="Arial"/>
                <a:ea typeface="Arial"/>
                <a:cs typeface="Arial"/>
                <a:sym typeface="Arial"/>
              </a:endParaRPr>
            </a:p>
          </p:txBody>
        </p:sp>
        <p:sp>
          <p:nvSpPr>
            <p:cNvPr id="121" name="Google Shape;121;p2"/>
            <p:cNvSpPr/>
            <p:nvPr/>
          </p:nvSpPr>
          <p:spPr>
            <a:xfrm>
              <a:off x="6009031" y="1203549"/>
              <a:ext cx="932563" cy="93256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5439131"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txBox="1"/>
            <p:nvPr/>
          </p:nvSpPr>
          <p:spPr>
            <a:xfrm>
              <a:off x="5439131"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AI in Business</a:t>
              </a:r>
              <a:endParaRPr sz="1900" b="0" i="0" u="none" strike="noStrike" cap="none">
                <a:solidFill>
                  <a:schemeClr val="dk1"/>
                </a:solidFill>
                <a:latin typeface="Arial"/>
                <a:ea typeface="Arial"/>
                <a:cs typeface="Arial"/>
                <a:sym typeface="Arial"/>
              </a:endParaRPr>
            </a:p>
          </p:txBody>
        </p:sp>
        <p:sp>
          <p:nvSpPr>
            <p:cNvPr id="124" name="Google Shape;124;p2"/>
            <p:cNvSpPr/>
            <p:nvPr/>
          </p:nvSpPr>
          <p:spPr>
            <a:xfrm>
              <a:off x="8444057" y="1203549"/>
              <a:ext cx="932563" cy="93256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2"/>
            <p:cNvSpPr/>
            <p:nvPr/>
          </p:nvSpPr>
          <p:spPr>
            <a:xfrm>
              <a:off x="7874157" y="2427788"/>
              <a:ext cx="2072362"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txBox="1"/>
            <p:nvPr/>
          </p:nvSpPr>
          <p:spPr>
            <a:xfrm>
              <a:off x="7874157" y="2427788"/>
              <a:ext cx="2072362" cy="72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900"/>
                <a:buFont typeface="Arial"/>
                <a:buNone/>
              </a:pPr>
              <a:r>
                <a:rPr lang="en-US" sz="1900" b="1" i="0" u="none" strike="noStrike" cap="none">
                  <a:solidFill>
                    <a:schemeClr val="dk1"/>
                  </a:solidFill>
                  <a:latin typeface="Arial"/>
                  <a:ea typeface="Arial"/>
                  <a:cs typeface="Arial"/>
                  <a:sym typeface="Arial"/>
                </a:rPr>
                <a:t>Exercises</a:t>
              </a:r>
              <a:endParaRPr sz="1900" b="0" i="0" u="none" strike="noStrike" cap="none">
                <a:solidFill>
                  <a:schemeClr val="dk1"/>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0"/>
        <p:cNvGrpSpPr/>
        <p:nvPr/>
      </p:nvGrpSpPr>
      <p:grpSpPr>
        <a:xfrm>
          <a:off x="0" y="0"/>
          <a:ext cx="0" cy="0"/>
          <a:chOff x="0" y="0"/>
          <a:chExt cx="0" cy="0"/>
        </a:xfrm>
      </p:grpSpPr>
      <p:sp>
        <p:nvSpPr>
          <p:cNvPr id="131" name="Google Shape;131;p3"/>
          <p:cNvSpPr/>
          <p:nvPr/>
        </p:nvSpPr>
        <p:spPr>
          <a:xfrm>
            <a:off x="-1" y="0"/>
            <a:ext cx="1219199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2" name="Google Shape;132;p3"/>
          <p:cNvSpPr/>
          <p:nvPr/>
        </p:nvSpPr>
        <p:spPr>
          <a:xfrm>
            <a:off x="1" y="0"/>
            <a:ext cx="8522446" cy="2285999"/>
          </a:xfrm>
          <a:prstGeom prst="rect">
            <a:avLst/>
          </a:prstGeom>
          <a:solidFill>
            <a:schemeClr val="lt1"/>
          </a:solidFill>
          <a:ln>
            <a:noFill/>
          </a:ln>
          <a:effectLst>
            <a:outerShdw blurRad="596900" dist="304800" dir="7140000" sx="90000" sy="9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33" name="Google Shape;133;p3"/>
          <p:cNvSpPr txBox="1">
            <a:spLocks noGrp="1"/>
          </p:cNvSpPr>
          <p:nvPr>
            <p:ph type="title"/>
          </p:nvPr>
        </p:nvSpPr>
        <p:spPr>
          <a:xfrm>
            <a:off x="761803" y="350196"/>
            <a:ext cx="4646904" cy="162452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Play"/>
              <a:buNone/>
            </a:pPr>
            <a:r>
              <a:rPr lang="en-US" sz="4000"/>
              <a:t>A Story</a:t>
            </a:r>
            <a:endParaRPr sz="4000"/>
          </a:p>
        </p:txBody>
      </p:sp>
      <p:sp>
        <p:nvSpPr>
          <p:cNvPr id="134" name="Google Shape;134;p3"/>
          <p:cNvSpPr txBox="1">
            <a:spLocks noGrp="1"/>
          </p:cNvSpPr>
          <p:nvPr>
            <p:ph type="body" idx="1"/>
          </p:nvPr>
        </p:nvSpPr>
        <p:spPr>
          <a:xfrm>
            <a:off x="761802" y="1651000"/>
            <a:ext cx="5232598" cy="4856804"/>
          </a:xfrm>
          <a:prstGeom prst="rect">
            <a:avLst/>
          </a:prstGeom>
          <a:noFill/>
          <a:ln>
            <a:noFill/>
          </a:ln>
        </p:spPr>
        <p:txBody>
          <a:bodyPr spcFirstLastPara="1" wrap="square" lIns="91425" tIns="45700" rIns="91425" bIns="45700" anchor="ctr" anchorCtr="0">
            <a:normAutofit lnSpcReduction="10000"/>
          </a:bodyPr>
          <a:lstStyle/>
          <a:p>
            <a:pPr marL="228600" lvl="0" indent="-228600" algn="l" rtl="0">
              <a:lnSpc>
                <a:spcPct val="90000"/>
              </a:lnSpc>
              <a:spcBef>
                <a:spcPts val="0"/>
              </a:spcBef>
              <a:spcAft>
                <a:spcPts val="0"/>
              </a:spcAft>
              <a:buClr>
                <a:schemeClr val="dk1"/>
              </a:buClr>
              <a:buSzPts val="1600"/>
              <a:buChar char="•"/>
            </a:pPr>
            <a:r>
              <a:rPr lang="en-US" sz="1600" b="1"/>
              <a:t>Background:</a:t>
            </a:r>
            <a:br>
              <a:rPr lang="en-US" sz="1600"/>
            </a:br>
            <a:r>
              <a:rPr lang="en-US" sz="1600"/>
              <a:t>Anuj, a BBA graduate from a top-tier Bangalore college, pursued his passion for food by starting a restaurant in Patna. His vision was to provide a seamless dining experience with high-quality, hygienic, and affordable food for middle-class families.</a:t>
            </a:r>
            <a:endParaRPr/>
          </a:p>
          <a:p>
            <a:pPr marL="228600" lvl="0" indent="-228600" algn="l" rtl="0">
              <a:lnSpc>
                <a:spcPct val="90000"/>
              </a:lnSpc>
              <a:spcBef>
                <a:spcPts val="1000"/>
              </a:spcBef>
              <a:spcAft>
                <a:spcPts val="0"/>
              </a:spcAft>
              <a:buClr>
                <a:schemeClr val="dk1"/>
              </a:buClr>
              <a:buSzPts val="1600"/>
              <a:buChar char="•"/>
            </a:pPr>
            <a:r>
              <a:rPr lang="en-US" sz="1600" b="1"/>
              <a:t>Challenges:</a:t>
            </a:r>
            <a:endParaRPr sz="1600"/>
          </a:p>
          <a:p>
            <a:pPr marL="685800" lvl="1" indent="-228600" algn="l" rtl="0">
              <a:lnSpc>
                <a:spcPct val="90000"/>
              </a:lnSpc>
              <a:spcBef>
                <a:spcPts val="500"/>
              </a:spcBef>
              <a:spcAft>
                <a:spcPts val="0"/>
              </a:spcAft>
              <a:buClr>
                <a:schemeClr val="dk1"/>
              </a:buClr>
              <a:buSzPts val="1600"/>
              <a:buChar char="•"/>
            </a:pPr>
            <a:r>
              <a:rPr lang="en-US" sz="1600"/>
              <a:t>After two years, the business was only breaking even, failing to meet his ambitious growth objectives.</a:t>
            </a:r>
            <a:endParaRPr/>
          </a:p>
          <a:p>
            <a:pPr marL="685800" lvl="1" indent="-228600" algn="l" rtl="0">
              <a:lnSpc>
                <a:spcPct val="90000"/>
              </a:lnSpc>
              <a:spcBef>
                <a:spcPts val="500"/>
              </a:spcBef>
              <a:spcAft>
                <a:spcPts val="0"/>
              </a:spcAft>
              <a:buClr>
                <a:schemeClr val="dk1"/>
              </a:buClr>
              <a:buSzPts val="1600"/>
              <a:buChar char="•"/>
            </a:pPr>
            <a:r>
              <a:rPr lang="en-US" sz="1600"/>
              <a:t>Lack of differentiation and scalability in a competitive market.</a:t>
            </a:r>
            <a:endParaRPr/>
          </a:p>
          <a:p>
            <a:pPr marL="685800" lvl="1" indent="-228600" algn="l" rtl="0">
              <a:lnSpc>
                <a:spcPct val="90000"/>
              </a:lnSpc>
              <a:spcBef>
                <a:spcPts val="500"/>
              </a:spcBef>
              <a:spcAft>
                <a:spcPts val="0"/>
              </a:spcAft>
              <a:buClr>
                <a:schemeClr val="dk1"/>
              </a:buClr>
              <a:buSzPts val="1600"/>
              <a:buChar char="•"/>
            </a:pPr>
            <a:r>
              <a:rPr lang="en-US" sz="1600"/>
              <a:t>Limited customer reach beyond occasional diners.</a:t>
            </a:r>
            <a:endParaRPr/>
          </a:p>
          <a:p>
            <a:pPr marL="228600" lvl="0" indent="-228600" algn="l" rtl="0">
              <a:lnSpc>
                <a:spcPct val="90000"/>
              </a:lnSpc>
              <a:spcBef>
                <a:spcPts val="1000"/>
              </a:spcBef>
              <a:spcAft>
                <a:spcPts val="0"/>
              </a:spcAft>
              <a:buClr>
                <a:schemeClr val="dk1"/>
              </a:buClr>
              <a:buSzPts val="1600"/>
              <a:buChar char="•"/>
            </a:pPr>
            <a:r>
              <a:rPr lang="en-US" sz="1600" b="1"/>
              <a:t>Seeking Solutions:</a:t>
            </a:r>
            <a:br>
              <a:rPr lang="en-US" sz="1600"/>
            </a:br>
            <a:r>
              <a:rPr lang="en-US" sz="1600"/>
              <a:t>Anuj consults his friend Narayan, a Business Analyst with expertise in problem-solving and strategy. Together, they explore ways to optimize operations, enhance customer engagement, and expand the business towards a sustainable and scalable model.</a:t>
            </a:r>
            <a:endParaRPr/>
          </a:p>
          <a:p>
            <a:pPr marL="0" lvl="0" indent="0" algn="l" rtl="0">
              <a:lnSpc>
                <a:spcPct val="90000"/>
              </a:lnSpc>
              <a:spcBef>
                <a:spcPts val="1000"/>
              </a:spcBef>
              <a:spcAft>
                <a:spcPts val="0"/>
              </a:spcAft>
              <a:buClr>
                <a:schemeClr val="dk1"/>
              </a:buClr>
              <a:buSzPts val="1100"/>
              <a:buNone/>
            </a:pPr>
            <a:endParaRPr sz="1100"/>
          </a:p>
        </p:txBody>
      </p:sp>
      <p:pic>
        <p:nvPicPr>
          <p:cNvPr id="135" name="Google Shape;135;p3" descr="Burgers and milkshakes"/>
          <p:cNvPicPr preferRelativeResize="0"/>
          <p:nvPr/>
        </p:nvPicPr>
        <p:blipFill rotWithShape="1">
          <a:blip r:embed="rId3">
            <a:alphaModFix/>
          </a:blip>
          <a:srcRect l="21921" r="18678" b="-2"/>
          <a:stretch/>
        </p:blipFill>
        <p:spPr>
          <a:xfrm>
            <a:off x="6096000" y="1"/>
            <a:ext cx="6102825"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9"/>
        <p:cNvGrpSpPr/>
        <p:nvPr/>
      </p:nvGrpSpPr>
      <p:grpSpPr>
        <a:xfrm>
          <a:off x="0" y="0"/>
          <a:ext cx="0" cy="0"/>
          <a:chOff x="0" y="0"/>
          <a:chExt cx="0" cy="0"/>
        </a:xfrm>
      </p:grpSpPr>
      <p:sp>
        <p:nvSpPr>
          <p:cNvPr id="140" name="Google Shape;140;p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1" name="Google Shape;141;p4"/>
          <p:cNvSpPr/>
          <p:nvPr/>
        </p:nvSpPr>
        <p:spPr>
          <a:xfrm>
            <a:off x="0" y="0"/>
            <a:ext cx="4890596"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42" name="Google Shape;142;p4"/>
          <p:cNvSpPr txBox="1">
            <a:spLocks noGrp="1"/>
          </p:cNvSpPr>
          <p:nvPr>
            <p:ph type="title"/>
          </p:nvPr>
        </p:nvSpPr>
        <p:spPr>
          <a:xfrm>
            <a:off x="406251" y="1195697"/>
            <a:ext cx="4128873" cy="4238118"/>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lt1"/>
              </a:buClr>
              <a:buSzPts val="4400"/>
              <a:buFont typeface="Play"/>
              <a:buNone/>
            </a:pPr>
            <a:r>
              <a:rPr lang="en-US" b="1" i="0" u="none" strike="noStrike" dirty="0">
                <a:solidFill>
                  <a:schemeClr val="lt1"/>
                </a:solidFill>
                <a:latin typeface="Play"/>
                <a:ea typeface="Play"/>
                <a:cs typeface="Play"/>
                <a:sym typeface="Play"/>
              </a:rPr>
              <a:t>Understanding Business Analysis</a:t>
            </a:r>
            <a:endParaRPr dirty="0"/>
          </a:p>
        </p:txBody>
      </p:sp>
      <p:grpSp>
        <p:nvGrpSpPr>
          <p:cNvPr id="143" name="Google Shape;143;p4"/>
          <p:cNvGrpSpPr/>
          <p:nvPr/>
        </p:nvGrpSpPr>
        <p:grpSpPr>
          <a:xfrm>
            <a:off x="0" y="202912"/>
            <a:ext cx="1910252" cy="709660"/>
            <a:chOff x="2267504" y="2540250"/>
            <a:chExt cx="1990951" cy="739640"/>
          </a:xfrm>
        </p:grpSpPr>
        <p:sp>
          <p:nvSpPr>
            <p:cNvPr id="144" name="Google Shape;144;p4"/>
            <p:cNvSpPr/>
            <p:nvPr/>
          </p:nvSpPr>
          <p:spPr>
            <a:xfrm>
              <a:off x="2267504" y="2540250"/>
              <a:ext cx="1990951" cy="286230"/>
            </a:xfrm>
            <a:custGeom>
              <a:avLst/>
              <a:gdLst/>
              <a:ahLst/>
              <a:cxnLst/>
              <a:rect l="l" t="t" r="r" b="b"/>
              <a:pathLst>
                <a:path w="1990951" h="286230" extrusionOk="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4"/>
            <p:cNvSpPr/>
            <p:nvPr/>
          </p:nvSpPr>
          <p:spPr>
            <a:xfrm>
              <a:off x="2267504" y="2993660"/>
              <a:ext cx="1990951" cy="286230"/>
            </a:xfrm>
            <a:custGeom>
              <a:avLst/>
              <a:gdLst/>
              <a:ahLst/>
              <a:cxnLst/>
              <a:rect l="l" t="t" r="r" b="b"/>
              <a:pathLst>
                <a:path w="1990951" h="286230" extrusionOk="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46" name="Google Shape;146;p4"/>
          <p:cNvSpPr/>
          <p:nvPr/>
        </p:nvSpPr>
        <p:spPr>
          <a:xfrm>
            <a:off x="406260" y="4752208"/>
            <a:ext cx="365021" cy="365021"/>
          </a:xfrm>
          <a:prstGeom prst="ellipse">
            <a:avLst/>
          </a:prstGeom>
          <a:solidFill>
            <a:srgbClr val="FFFFFF"/>
          </a:solidFill>
          <a:ln w="28575" cap="flat" cmpd="sng">
            <a:solidFill>
              <a:srgbClr val="FFFF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7" name="Google Shape;147;p4"/>
          <p:cNvSpPr/>
          <p:nvPr/>
        </p:nvSpPr>
        <p:spPr>
          <a:xfrm>
            <a:off x="406260" y="4752208"/>
            <a:ext cx="365021" cy="365021"/>
          </a:xfrm>
          <a:prstGeom prst="ellipse">
            <a:avLst/>
          </a:prstGeom>
          <a:solidFill>
            <a:schemeClr val="accent6">
              <a:alpha val="29803"/>
            </a:schemeClr>
          </a:solidFill>
          <a:ln w="28575"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48" name="Google Shape;148;p4"/>
          <p:cNvGrpSpPr/>
          <p:nvPr/>
        </p:nvGrpSpPr>
        <p:grpSpPr>
          <a:xfrm>
            <a:off x="4109667" y="5539935"/>
            <a:ext cx="975169" cy="975171"/>
            <a:chOff x="5829300" y="3162300"/>
            <a:chExt cx="532256" cy="532257"/>
          </a:xfrm>
        </p:grpSpPr>
        <p:sp>
          <p:nvSpPr>
            <p:cNvPr id="149" name="Google Shape;149;p4"/>
            <p:cNvSpPr/>
            <p:nvPr/>
          </p:nvSpPr>
          <p:spPr>
            <a:xfrm>
              <a:off x="5859208" y="3192208"/>
              <a:ext cx="112966" cy="112966"/>
            </a:xfrm>
            <a:custGeom>
              <a:avLst/>
              <a:gdLst/>
              <a:ahLst/>
              <a:cxnLst/>
              <a:rect l="l" t="t" r="r" b="b"/>
              <a:pathLst>
                <a:path w="112966" h="112966" extrusionOk="0">
                  <a:moveTo>
                    <a:pt x="112967" y="0"/>
                  </a:moveTo>
                  <a:lnTo>
                    <a:pt x="0" y="112967"/>
                  </a:lnTo>
                  <a:cubicBezTo>
                    <a:pt x="25356" y="64747"/>
                    <a:pt x="64747" y="25356"/>
                    <a:pt x="112967"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4"/>
            <p:cNvSpPr/>
            <p:nvPr/>
          </p:nvSpPr>
          <p:spPr>
            <a:xfrm>
              <a:off x="5831205" y="3164205"/>
              <a:ext cx="230314" cy="230314"/>
            </a:xfrm>
            <a:custGeom>
              <a:avLst/>
              <a:gdLst/>
              <a:ahLst/>
              <a:cxnLst/>
              <a:rect l="l" t="t" r="r" b="b"/>
              <a:pathLst>
                <a:path w="230314" h="230314" extrusionOk="0">
                  <a:moveTo>
                    <a:pt x="230314" y="0"/>
                  </a:moveTo>
                  <a:lnTo>
                    <a:pt x="0" y="230314"/>
                  </a:lnTo>
                  <a:cubicBezTo>
                    <a:pt x="953" y="223361"/>
                    <a:pt x="2095" y="216408"/>
                    <a:pt x="3524" y="209550"/>
                  </a:cubicBezTo>
                  <a:lnTo>
                    <a:pt x="209550" y="3524"/>
                  </a:lnTo>
                  <a:cubicBezTo>
                    <a:pt x="216408" y="2095"/>
                    <a:pt x="223361" y="953"/>
                    <a:pt x="230314"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4"/>
            <p:cNvSpPr/>
            <p:nvPr/>
          </p:nvSpPr>
          <p:spPr>
            <a:xfrm>
              <a:off x="5829300" y="3162300"/>
              <a:ext cx="294131" cy="294131"/>
            </a:xfrm>
            <a:custGeom>
              <a:avLst/>
              <a:gdLst/>
              <a:ahLst/>
              <a:cxnLst/>
              <a:rect l="l" t="t" r="r" b="b"/>
              <a:pathLst>
                <a:path w="294131" h="294131" extrusionOk="0">
                  <a:moveTo>
                    <a:pt x="294132" y="1238"/>
                  </a:moveTo>
                  <a:lnTo>
                    <a:pt x="1238" y="294132"/>
                  </a:lnTo>
                  <a:cubicBezTo>
                    <a:pt x="667" y="288893"/>
                    <a:pt x="0" y="283559"/>
                    <a:pt x="0" y="278225"/>
                  </a:cubicBezTo>
                  <a:lnTo>
                    <a:pt x="278225" y="0"/>
                  </a:lnTo>
                  <a:cubicBezTo>
                    <a:pt x="283559" y="0"/>
                    <a:pt x="288893" y="667"/>
                    <a:pt x="294132" y="123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4"/>
            <p:cNvSpPr/>
            <p:nvPr/>
          </p:nvSpPr>
          <p:spPr>
            <a:xfrm>
              <a:off x="5837205" y="3170110"/>
              <a:ext cx="337184" cy="337280"/>
            </a:xfrm>
            <a:custGeom>
              <a:avLst/>
              <a:gdLst/>
              <a:ahLst/>
              <a:cxnLst/>
              <a:rect l="l" t="t" r="r" b="b"/>
              <a:pathLst>
                <a:path w="337184" h="337280" extrusionOk="0">
                  <a:moveTo>
                    <a:pt x="337185" y="3905"/>
                  </a:moveTo>
                  <a:lnTo>
                    <a:pt x="3810" y="337280"/>
                  </a:lnTo>
                  <a:cubicBezTo>
                    <a:pt x="2381" y="332899"/>
                    <a:pt x="1143" y="328422"/>
                    <a:pt x="0" y="323850"/>
                  </a:cubicBezTo>
                  <a:lnTo>
                    <a:pt x="323850" y="0"/>
                  </a:lnTo>
                  <a:cubicBezTo>
                    <a:pt x="328327" y="1715"/>
                    <a:pt x="332804" y="2477"/>
                    <a:pt x="337185" y="39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4"/>
            <p:cNvSpPr/>
            <p:nvPr/>
          </p:nvSpPr>
          <p:spPr>
            <a:xfrm>
              <a:off x="5853207" y="3186207"/>
              <a:ext cx="364617" cy="364617"/>
            </a:xfrm>
            <a:custGeom>
              <a:avLst/>
              <a:gdLst/>
              <a:ahLst/>
              <a:cxnLst/>
              <a:rect l="l" t="t" r="r" b="b"/>
              <a:pathLst>
                <a:path w="364617" h="364617" extrusionOk="0">
                  <a:moveTo>
                    <a:pt x="364617" y="5620"/>
                  </a:moveTo>
                  <a:lnTo>
                    <a:pt x="5620" y="364617"/>
                  </a:lnTo>
                  <a:cubicBezTo>
                    <a:pt x="3620" y="360902"/>
                    <a:pt x="1715" y="357092"/>
                    <a:pt x="0" y="353187"/>
                  </a:cubicBezTo>
                  <a:lnTo>
                    <a:pt x="353187" y="0"/>
                  </a:lnTo>
                  <a:cubicBezTo>
                    <a:pt x="357092" y="1715"/>
                    <a:pt x="360902" y="3715"/>
                    <a:pt x="364617" y="562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4"/>
            <p:cNvSpPr/>
            <p:nvPr/>
          </p:nvSpPr>
          <p:spPr>
            <a:xfrm>
              <a:off x="5875305" y="3208305"/>
              <a:ext cx="380238" cy="380238"/>
            </a:xfrm>
            <a:custGeom>
              <a:avLst/>
              <a:gdLst/>
              <a:ahLst/>
              <a:cxnLst/>
              <a:rect l="l" t="t" r="r" b="b"/>
              <a:pathLst>
                <a:path w="380238" h="380238" extrusionOk="0">
                  <a:moveTo>
                    <a:pt x="380238" y="7239"/>
                  </a:moveTo>
                  <a:lnTo>
                    <a:pt x="7239" y="380238"/>
                  </a:lnTo>
                  <a:cubicBezTo>
                    <a:pt x="4763" y="377000"/>
                    <a:pt x="2381" y="373571"/>
                    <a:pt x="0" y="370713"/>
                  </a:cubicBezTo>
                  <a:lnTo>
                    <a:pt x="370237" y="0"/>
                  </a:lnTo>
                  <a:cubicBezTo>
                    <a:pt x="373571" y="2381"/>
                    <a:pt x="377000" y="4763"/>
                    <a:pt x="380238" y="72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5" name="Google Shape;155;p4"/>
            <p:cNvSpPr/>
            <p:nvPr/>
          </p:nvSpPr>
          <p:spPr>
            <a:xfrm>
              <a:off x="5902832" y="3235832"/>
              <a:ext cx="385191" cy="385191"/>
            </a:xfrm>
            <a:custGeom>
              <a:avLst/>
              <a:gdLst/>
              <a:ahLst/>
              <a:cxnLst/>
              <a:rect l="l" t="t" r="r" b="b"/>
              <a:pathLst>
                <a:path w="385191" h="385191" extrusionOk="0">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6" name="Google Shape;156;p4"/>
            <p:cNvSpPr/>
            <p:nvPr/>
          </p:nvSpPr>
          <p:spPr>
            <a:xfrm>
              <a:off x="5935789" y="3268313"/>
              <a:ext cx="379761" cy="380237"/>
            </a:xfrm>
            <a:custGeom>
              <a:avLst/>
              <a:gdLst/>
              <a:ahLst/>
              <a:cxnLst/>
              <a:rect l="l" t="t" r="r" b="b"/>
              <a:pathLst>
                <a:path w="379761" h="380237" extrusionOk="0">
                  <a:moveTo>
                    <a:pt x="372428" y="0"/>
                  </a:moveTo>
                  <a:cubicBezTo>
                    <a:pt x="374999" y="3239"/>
                    <a:pt x="377381" y="6572"/>
                    <a:pt x="379762" y="9525"/>
                  </a:cubicBezTo>
                  <a:lnTo>
                    <a:pt x="9525" y="380238"/>
                  </a:lnTo>
                  <a:cubicBezTo>
                    <a:pt x="6096" y="377857"/>
                    <a:pt x="2762" y="375476"/>
                    <a:pt x="0" y="372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7" name="Google Shape;157;p4"/>
            <p:cNvSpPr/>
            <p:nvPr/>
          </p:nvSpPr>
          <p:spPr>
            <a:xfrm>
              <a:off x="5972841" y="3305841"/>
              <a:ext cx="364807" cy="364807"/>
            </a:xfrm>
            <a:custGeom>
              <a:avLst/>
              <a:gdLst/>
              <a:ahLst/>
              <a:cxnLst/>
              <a:rect l="l" t="t" r="r" b="b"/>
              <a:pathLst>
                <a:path w="364807" h="364807" extrusionOk="0">
                  <a:moveTo>
                    <a:pt x="359188" y="0"/>
                  </a:moveTo>
                  <a:cubicBezTo>
                    <a:pt x="361188" y="3905"/>
                    <a:pt x="362998" y="7715"/>
                    <a:pt x="364808" y="11621"/>
                  </a:cubicBezTo>
                  <a:lnTo>
                    <a:pt x="11621" y="364808"/>
                  </a:lnTo>
                  <a:cubicBezTo>
                    <a:pt x="7715" y="362998"/>
                    <a:pt x="3905" y="361188"/>
                    <a:pt x="0" y="35918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8" name="Google Shape;158;p4"/>
            <p:cNvSpPr/>
            <p:nvPr/>
          </p:nvSpPr>
          <p:spPr>
            <a:xfrm>
              <a:off x="6016370" y="3349466"/>
              <a:ext cx="337280" cy="337280"/>
            </a:xfrm>
            <a:custGeom>
              <a:avLst/>
              <a:gdLst/>
              <a:ahLst/>
              <a:cxnLst/>
              <a:rect l="l" t="t" r="r" b="b"/>
              <a:pathLst>
                <a:path w="337280" h="337280" extrusionOk="0">
                  <a:moveTo>
                    <a:pt x="333470" y="0"/>
                  </a:moveTo>
                  <a:cubicBezTo>
                    <a:pt x="334899" y="4382"/>
                    <a:pt x="336137" y="8858"/>
                    <a:pt x="337280" y="13430"/>
                  </a:cubicBezTo>
                  <a:lnTo>
                    <a:pt x="13430" y="337280"/>
                  </a:lnTo>
                  <a:cubicBezTo>
                    <a:pt x="8858" y="336137"/>
                    <a:pt x="4382" y="334899"/>
                    <a:pt x="0" y="3334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9" name="Google Shape;159;p4"/>
            <p:cNvSpPr/>
            <p:nvPr/>
          </p:nvSpPr>
          <p:spPr>
            <a:xfrm>
              <a:off x="6067329" y="3400425"/>
              <a:ext cx="294227" cy="294132"/>
            </a:xfrm>
            <a:custGeom>
              <a:avLst/>
              <a:gdLst/>
              <a:ahLst/>
              <a:cxnLst/>
              <a:rect l="l" t="t" r="r" b="b"/>
              <a:pathLst>
                <a:path w="294227" h="294132" extrusionOk="0">
                  <a:moveTo>
                    <a:pt x="292989" y="0"/>
                  </a:moveTo>
                  <a:cubicBezTo>
                    <a:pt x="293561" y="5334"/>
                    <a:pt x="293942" y="10668"/>
                    <a:pt x="294227" y="15907"/>
                  </a:cubicBezTo>
                  <a:lnTo>
                    <a:pt x="15907" y="294132"/>
                  </a:lnTo>
                  <a:cubicBezTo>
                    <a:pt x="10668" y="294132"/>
                    <a:pt x="5334" y="293465"/>
                    <a:pt x="0" y="2928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0" name="Google Shape;160;p4"/>
            <p:cNvSpPr/>
            <p:nvPr/>
          </p:nvSpPr>
          <p:spPr>
            <a:xfrm>
              <a:off x="6129337" y="3462337"/>
              <a:ext cx="230314" cy="230314"/>
            </a:xfrm>
            <a:custGeom>
              <a:avLst/>
              <a:gdLst/>
              <a:ahLst/>
              <a:cxnLst/>
              <a:rect l="l" t="t" r="r" b="b"/>
              <a:pathLst>
                <a:path w="230314" h="230314" extrusionOk="0">
                  <a:moveTo>
                    <a:pt x="230315" y="0"/>
                  </a:moveTo>
                  <a:cubicBezTo>
                    <a:pt x="229457" y="6953"/>
                    <a:pt x="228314" y="13716"/>
                    <a:pt x="226886" y="20574"/>
                  </a:cubicBezTo>
                  <a:lnTo>
                    <a:pt x="20669" y="226790"/>
                  </a:lnTo>
                  <a:cubicBezTo>
                    <a:pt x="13811" y="228314"/>
                    <a:pt x="6953" y="229457"/>
                    <a:pt x="0" y="23031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1" name="Google Shape;161;p4"/>
            <p:cNvSpPr/>
            <p:nvPr/>
          </p:nvSpPr>
          <p:spPr>
            <a:xfrm>
              <a:off x="6218682" y="3551682"/>
              <a:ext cx="112871" cy="112871"/>
            </a:xfrm>
            <a:custGeom>
              <a:avLst/>
              <a:gdLst/>
              <a:ahLst/>
              <a:cxnLst/>
              <a:rect l="l" t="t" r="r" b="b"/>
              <a:pathLst>
                <a:path w="112871" h="112871" extrusionOk="0">
                  <a:moveTo>
                    <a:pt x="112871" y="0"/>
                  </a:moveTo>
                  <a:cubicBezTo>
                    <a:pt x="87618" y="48239"/>
                    <a:pt x="48239" y="87618"/>
                    <a:pt x="0" y="1128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grpSp>
        <p:nvGrpSpPr>
          <p:cNvPr id="162" name="Google Shape;162;p4"/>
          <p:cNvGrpSpPr/>
          <p:nvPr/>
        </p:nvGrpSpPr>
        <p:grpSpPr>
          <a:xfrm>
            <a:off x="5484139" y="479979"/>
            <a:ext cx="6301601" cy="5873929"/>
            <a:chOff x="0" y="2439"/>
            <a:chExt cx="6301601" cy="5873929"/>
          </a:xfrm>
        </p:grpSpPr>
        <p:sp>
          <p:nvSpPr>
            <p:cNvPr id="163" name="Google Shape;163;p4"/>
            <p:cNvSpPr/>
            <p:nvPr/>
          </p:nvSpPr>
          <p:spPr>
            <a:xfrm>
              <a:off x="0" y="2439"/>
              <a:ext cx="6301601" cy="123661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374076" y="280678"/>
              <a:ext cx="680139" cy="680139"/>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4"/>
            <p:cNvSpPr/>
            <p:nvPr/>
          </p:nvSpPr>
          <p:spPr>
            <a:xfrm>
              <a:off x="1428292" y="2439"/>
              <a:ext cx="4873308" cy="123661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txBox="1"/>
            <p:nvPr/>
          </p:nvSpPr>
          <p:spPr>
            <a:xfrm>
              <a:off x="1428292" y="2439"/>
              <a:ext cx="4873308" cy="1236616"/>
            </a:xfrm>
            <a:prstGeom prst="rect">
              <a:avLst/>
            </a:prstGeom>
            <a:noFill/>
            <a:ln>
              <a:noFill/>
            </a:ln>
          </p:spPr>
          <p:txBody>
            <a:bodyPr spcFirstLastPara="1" wrap="square" lIns="130875" tIns="130875" rIns="130875" bIns="13087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Understanding business goals</a:t>
              </a:r>
              <a:endParaRPr sz="2200">
                <a:solidFill>
                  <a:schemeClr val="dk1"/>
                </a:solidFill>
                <a:latin typeface="Arial"/>
                <a:ea typeface="Arial"/>
                <a:cs typeface="Arial"/>
                <a:sym typeface="Arial"/>
              </a:endParaRPr>
            </a:p>
          </p:txBody>
        </p:sp>
        <p:sp>
          <p:nvSpPr>
            <p:cNvPr id="167" name="Google Shape;167;p4"/>
            <p:cNvSpPr/>
            <p:nvPr/>
          </p:nvSpPr>
          <p:spPr>
            <a:xfrm>
              <a:off x="0" y="1548210"/>
              <a:ext cx="6301601" cy="123661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374076" y="1826449"/>
              <a:ext cx="680139" cy="680139"/>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1428292" y="1548210"/>
              <a:ext cx="4873308" cy="123661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4"/>
            <p:cNvSpPr txBox="1"/>
            <p:nvPr/>
          </p:nvSpPr>
          <p:spPr>
            <a:xfrm>
              <a:off x="1428292" y="1548210"/>
              <a:ext cx="4873308" cy="1236616"/>
            </a:xfrm>
            <a:prstGeom prst="rect">
              <a:avLst/>
            </a:prstGeom>
            <a:noFill/>
            <a:ln>
              <a:noFill/>
            </a:ln>
          </p:spPr>
          <p:txBody>
            <a:bodyPr spcFirstLastPara="1" wrap="square" lIns="130875" tIns="130875" rIns="130875" bIns="13087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Using analysis to uncover insights</a:t>
              </a:r>
              <a:endParaRPr sz="2200">
                <a:solidFill>
                  <a:schemeClr val="dk1"/>
                </a:solidFill>
                <a:latin typeface="Arial"/>
                <a:ea typeface="Arial"/>
                <a:cs typeface="Arial"/>
                <a:sym typeface="Arial"/>
              </a:endParaRPr>
            </a:p>
          </p:txBody>
        </p:sp>
        <p:sp>
          <p:nvSpPr>
            <p:cNvPr id="171" name="Google Shape;171;p4"/>
            <p:cNvSpPr/>
            <p:nvPr/>
          </p:nvSpPr>
          <p:spPr>
            <a:xfrm>
              <a:off x="0" y="3093981"/>
              <a:ext cx="6301601" cy="123661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374076" y="3372220"/>
              <a:ext cx="680139" cy="680139"/>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1428292" y="3093981"/>
              <a:ext cx="4873308" cy="123661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txBox="1"/>
            <p:nvPr/>
          </p:nvSpPr>
          <p:spPr>
            <a:xfrm>
              <a:off x="1428292" y="3093981"/>
              <a:ext cx="4873308" cy="1236616"/>
            </a:xfrm>
            <a:prstGeom prst="rect">
              <a:avLst/>
            </a:prstGeom>
            <a:noFill/>
            <a:ln>
              <a:noFill/>
            </a:ln>
          </p:spPr>
          <p:txBody>
            <a:bodyPr spcFirstLastPara="1" wrap="square" lIns="130875" tIns="130875" rIns="130875" bIns="13087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Recommending solutions that help the business achieve its objectives.</a:t>
              </a:r>
              <a:endParaRPr sz="2200">
                <a:solidFill>
                  <a:schemeClr val="dk1"/>
                </a:solidFill>
                <a:latin typeface="Arial"/>
                <a:ea typeface="Arial"/>
                <a:cs typeface="Arial"/>
                <a:sym typeface="Arial"/>
              </a:endParaRPr>
            </a:p>
          </p:txBody>
        </p:sp>
        <p:sp>
          <p:nvSpPr>
            <p:cNvPr id="175" name="Google Shape;175;p4"/>
            <p:cNvSpPr/>
            <p:nvPr/>
          </p:nvSpPr>
          <p:spPr>
            <a:xfrm>
              <a:off x="0" y="4639752"/>
              <a:ext cx="6301601" cy="123661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374076" y="4917991"/>
              <a:ext cx="680139" cy="680139"/>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4"/>
            <p:cNvSpPr/>
            <p:nvPr/>
          </p:nvSpPr>
          <p:spPr>
            <a:xfrm>
              <a:off x="1428292" y="4639752"/>
              <a:ext cx="4873308" cy="123661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txBox="1"/>
            <p:nvPr/>
          </p:nvSpPr>
          <p:spPr>
            <a:xfrm>
              <a:off x="1428292" y="4639752"/>
              <a:ext cx="4873308" cy="1236616"/>
            </a:xfrm>
            <a:prstGeom prst="rect">
              <a:avLst/>
            </a:prstGeom>
            <a:noFill/>
            <a:ln>
              <a:noFill/>
            </a:ln>
          </p:spPr>
          <p:txBody>
            <a:bodyPr spcFirstLastPara="1" wrap="square" lIns="130875" tIns="130875" rIns="130875" bIns="13087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It ensures that decision-making is grounded in data and aligned with the strategic direction of the business.</a:t>
              </a:r>
              <a:endParaRPr sz="2200">
                <a:solidFill>
                  <a:schemeClr val="dk1"/>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2"/>
        <p:cNvGrpSpPr/>
        <p:nvPr/>
      </p:nvGrpSpPr>
      <p:grpSpPr>
        <a:xfrm>
          <a:off x="0" y="0"/>
          <a:ext cx="0" cy="0"/>
          <a:chOff x="0" y="0"/>
          <a:chExt cx="0" cy="0"/>
        </a:xfrm>
      </p:grpSpPr>
      <p:sp>
        <p:nvSpPr>
          <p:cNvPr id="183" name="Google Shape;183;p5"/>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4" name="Google Shape;184;p5"/>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200"/>
              <a:buFont typeface="Play"/>
              <a:buNone/>
            </a:pPr>
            <a:r>
              <a:rPr lang="en-US" sz="5200">
                <a:latin typeface="Play"/>
                <a:ea typeface="Play"/>
                <a:cs typeface="Play"/>
                <a:sym typeface="Play"/>
              </a:rPr>
              <a:t>The Story</a:t>
            </a:r>
            <a:endParaRPr/>
          </a:p>
        </p:txBody>
      </p:sp>
      <p:grpSp>
        <p:nvGrpSpPr>
          <p:cNvPr id="185" name="Google Shape;185;p5"/>
          <p:cNvGrpSpPr/>
          <p:nvPr/>
        </p:nvGrpSpPr>
        <p:grpSpPr>
          <a:xfrm>
            <a:off x="901395" y="2417844"/>
            <a:ext cx="10421040" cy="3335318"/>
            <a:chOff x="63195" y="589044"/>
            <a:chExt cx="10421040" cy="3335318"/>
          </a:xfrm>
        </p:grpSpPr>
        <p:sp>
          <p:nvSpPr>
            <p:cNvPr id="186" name="Google Shape;186;p5"/>
            <p:cNvSpPr/>
            <p:nvPr/>
          </p:nvSpPr>
          <p:spPr>
            <a:xfrm>
              <a:off x="633095" y="637978"/>
              <a:ext cx="932563" cy="93256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63195" y="1899774"/>
              <a:ext cx="2072362" cy="181479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txBox="1"/>
            <p:nvPr/>
          </p:nvSpPr>
          <p:spPr>
            <a:xfrm>
              <a:off x="63195" y="1899774"/>
              <a:ext cx="2072362" cy="181479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Background:</a:t>
              </a:r>
              <a:br>
                <a:rPr lang="en-US" sz="1400" b="0" i="0">
                  <a:solidFill>
                    <a:schemeClr val="dk1"/>
                  </a:solidFill>
                  <a:latin typeface="Arial"/>
                  <a:ea typeface="Arial"/>
                  <a:cs typeface="Arial"/>
                  <a:sym typeface="Arial"/>
                </a:rPr>
              </a:br>
              <a:r>
                <a:rPr lang="en-US" sz="1400" b="0" i="0">
                  <a:solidFill>
                    <a:schemeClr val="dk1"/>
                  </a:solidFill>
                  <a:latin typeface="Arial"/>
                  <a:ea typeface="Arial"/>
                  <a:cs typeface="Arial"/>
                  <a:sym typeface="Arial"/>
                </a:rPr>
                <a:t>Narayan emphasizes the importance of data in identifying problems and solutions.</a:t>
              </a:r>
              <a:endParaRPr sz="1400">
                <a:solidFill>
                  <a:schemeClr val="dk1"/>
                </a:solidFill>
                <a:latin typeface="Arial"/>
                <a:ea typeface="Arial"/>
                <a:cs typeface="Arial"/>
                <a:sym typeface="Arial"/>
              </a:endParaRPr>
            </a:p>
          </p:txBody>
        </p:sp>
        <p:sp>
          <p:nvSpPr>
            <p:cNvPr id="189" name="Google Shape;189;p5"/>
            <p:cNvSpPr/>
            <p:nvPr/>
          </p:nvSpPr>
          <p:spPr>
            <a:xfrm>
              <a:off x="3111464" y="642966"/>
              <a:ext cx="932563" cy="93256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2498221" y="1914736"/>
              <a:ext cx="2159049" cy="17948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txBox="1"/>
            <p:nvPr/>
          </p:nvSpPr>
          <p:spPr>
            <a:xfrm>
              <a:off x="2498221" y="1914736"/>
              <a:ext cx="2159049" cy="179484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Data Requirements:</a:t>
              </a:r>
              <a:br>
                <a:rPr lang="en-US" sz="1400" b="0" i="0">
                  <a:solidFill>
                    <a:schemeClr val="dk1"/>
                  </a:solidFill>
                  <a:latin typeface="Arial"/>
                  <a:ea typeface="Arial"/>
                  <a:cs typeface="Arial"/>
                  <a:sym typeface="Arial"/>
                </a:rPr>
              </a:br>
              <a:r>
                <a:rPr lang="en-US" sz="1400" b="0" i="0">
                  <a:solidFill>
                    <a:schemeClr val="dk1"/>
                  </a:solidFill>
                  <a:latin typeface="Arial"/>
                  <a:ea typeface="Arial"/>
                  <a:cs typeface="Arial"/>
                  <a:sym typeface="Arial"/>
                </a:rPr>
                <a:t> Customer, Sales, Employee, Product, Financial, Geographical, Competitor, Supply Chain, and Social Media Data.</a:t>
              </a:r>
              <a:endParaRPr sz="1400" b="0">
                <a:solidFill>
                  <a:schemeClr val="dk1"/>
                </a:solidFill>
                <a:latin typeface="Arial"/>
                <a:ea typeface="Arial"/>
                <a:cs typeface="Arial"/>
                <a:sym typeface="Arial"/>
              </a:endParaRPr>
            </a:p>
          </p:txBody>
        </p:sp>
        <p:sp>
          <p:nvSpPr>
            <p:cNvPr id="192" name="Google Shape;192;p5"/>
            <p:cNvSpPr/>
            <p:nvPr/>
          </p:nvSpPr>
          <p:spPr>
            <a:xfrm>
              <a:off x="5889549" y="589044"/>
              <a:ext cx="932563" cy="93256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5"/>
            <p:cNvSpPr/>
            <p:nvPr/>
          </p:nvSpPr>
          <p:spPr>
            <a:xfrm>
              <a:off x="5036761" y="1913833"/>
              <a:ext cx="2671793" cy="201052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txBox="1"/>
            <p:nvPr/>
          </p:nvSpPr>
          <p:spPr>
            <a:xfrm>
              <a:off x="5036761" y="1913833"/>
              <a:ext cx="2671793" cy="201052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Challenges in Data Availability:</a:t>
              </a:r>
              <a:br>
                <a:rPr lang="en-US" sz="1400" b="0" i="0">
                  <a:solidFill>
                    <a:schemeClr val="dk1"/>
                  </a:solidFill>
                  <a:latin typeface="Arial"/>
                  <a:ea typeface="Arial"/>
                  <a:cs typeface="Arial"/>
                  <a:sym typeface="Arial"/>
                </a:rPr>
              </a:br>
              <a:r>
                <a:rPr lang="en-US" sz="1400" b="0" i="0">
                  <a:solidFill>
                    <a:schemeClr val="dk1"/>
                  </a:solidFill>
                  <a:latin typeface="Arial"/>
                  <a:ea typeface="Arial"/>
                  <a:cs typeface="Arial"/>
                  <a:sym typeface="Arial"/>
                </a:rPr>
                <a:t>Anuj realizes he only has </a:t>
              </a:r>
              <a:r>
                <a:rPr lang="en-US" sz="1400" b="1" i="0">
                  <a:solidFill>
                    <a:schemeClr val="dk1"/>
                  </a:solidFill>
                  <a:latin typeface="Arial"/>
                  <a:ea typeface="Arial"/>
                  <a:cs typeface="Arial"/>
                  <a:sym typeface="Arial"/>
                </a:rPr>
                <a:t>Transaction, Product, and Financial Data</a:t>
              </a:r>
              <a:r>
                <a:rPr lang="en-US" sz="1400" b="0" i="0">
                  <a:solidFill>
                    <a:schemeClr val="dk1"/>
                  </a:solidFill>
                  <a:latin typeface="Arial"/>
                  <a:ea typeface="Arial"/>
                  <a:cs typeface="Arial"/>
                  <a:sym typeface="Arial"/>
                </a:rPr>
                <a:t>. Supply Chain data exists but is unstructured, and social media presence is minimal with limited customer feedback.</a:t>
              </a:r>
              <a:endParaRPr sz="1400">
                <a:solidFill>
                  <a:schemeClr val="dk1"/>
                </a:solidFill>
                <a:latin typeface="Arial"/>
                <a:ea typeface="Arial"/>
                <a:cs typeface="Arial"/>
                <a:sym typeface="Arial"/>
              </a:endParaRPr>
            </a:p>
          </p:txBody>
        </p:sp>
        <p:sp>
          <p:nvSpPr>
            <p:cNvPr id="195" name="Google Shape;195;p5"/>
            <p:cNvSpPr/>
            <p:nvPr/>
          </p:nvSpPr>
          <p:spPr>
            <a:xfrm>
              <a:off x="8787116" y="695541"/>
              <a:ext cx="932563" cy="93256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8086222" y="1933386"/>
              <a:ext cx="2398013" cy="158454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5"/>
            <p:cNvSpPr txBox="1"/>
            <p:nvPr/>
          </p:nvSpPr>
          <p:spPr>
            <a:xfrm>
              <a:off x="8086222" y="1933386"/>
              <a:ext cx="2398013" cy="1584541"/>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Next Steps:</a:t>
              </a:r>
              <a:br>
                <a:rPr lang="en-US" sz="1400" b="0" i="0">
                  <a:solidFill>
                    <a:schemeClr val="dk1"/>
                  </a:solidFill>
                  <a:latin typeface="Arial"/>
                  <a:ea typeface="Arial"/>
                  <a:cs typeface="Arial"/>
                  <a:sym typeface="Arial"/>
                </a:rPr>
              </a:br>
              <a:r>
                <a:rPr lang="en-US" sz="1400" b="0" i="0">
                  <a:solidFill>
                    <a:schemeClr val="dk1"/>
                  </a:solidFill>
                  <a:latin typeface="Arial"/>
                  <a:ea typeface="Arial"/>
                  <a:cs typeface="Arial"/>
                  <a:sym typeface="Arial"/>
                </a:rPr>
                <a:t>	Narayan, undeterred, requests the available data in any format and prepares to conduct an initial analysis, with the possibility of requesting additional data for deeper insights.</a:t>
              </a:r>
              <a:endParaRPr sz="1400">
                <a:solidFill>
                  <a:schemeClr val="dk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1"/>
        <p:cNvGrpSpPr/>
        <p:nvPr/>
      </p:nvGrpSpPr>
      <p:grpSpPr>
        <a:xfrm>
          <a:off x="0" y="0"/>
          <a:ext cx="0" cy="0"/>
          <a:chOff x="0" y="0"/>
          <a:chExt cx="0" cy="0"/>
        </a:xfrm>
      </p:grpSpPr>
      <p:sp>
        <p:nvSpPr>
          <p:cNvPr id="202" name="Google Shape;202;p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3" name="Google Shape;203;p6"/>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4" name="Google Shape;204;p6"/>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5" name="Google Shape;205;p6"/>
          <p:cNvSpPr/>
          <p:nvPr/>
        </p:nvSpPr>
        <p:spPr>
          <a:xfrm rot="5400000" flipH="1">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6"/>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6"/>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8" name="Google Shape;208;p6"/>
          <p:cNvSpPr txBox="1">
            <a:spLocks noGrp="1"/>
          </p:cNvSpPr>
          <p:nvPr>
            <p:ph type="title"/>
          </p:nvPr>
        </p:nvSpPr>
        <p:spPr>
          <a:xfrm>
            <a:off x="586478" y="1683756"/>
            <a:ext cx="3115265" cy="2396359"/>
          </a:xfrm>
          <a:prstGeom prst="rect">
            <a:avLst/>
          </a:prstGeom>
          <a:noFill/>
          <a:ln>
            <a:noFill/>
          </a:ln>
        </p:spPr>
        <p:txBody>
          <a:bodyPr spcFirstLastPara="1" wrap="square" lIns="91425" tIns="45700" rIns="91425" bIns="45700" anchor="b" anchorCtr="0">
            <a:normAutofit/>
          </a:bodyPr>
          <a:lstStyle/>
          <a:p>
            <a:pPr marL="0" marR="0" lvl="0" indent="0" algn="r" rtl="0">
              <a:lnSpc>
                <a:spcPct val="90000"/>
              </a:lnSpc>
              <a:spcBef>
                <a:spcPts val="0"/>
              </a:spcBef>
              <a:spcAft>
                <a:spcPts val="0"/>
              </a:spcAft>
              <a:buClr>
                <a:srgbClr val="FFFFFF"/>
              </a:buClr>
              <a:buSzPts val="4400"/>
              <a:buFont typeface="Play"/>
              <a:buNone/>
            </a:pPr>
            <a:r>
              <a:rPr lang="en-US" b="1" i="0" u="none" strike="noStrike">
                <a:solidFill>
                  <a:srgbClr val="FFFFFF"/>
                </a:solidFill>
                <a:latin typeface="Play"/>
                <a:ea typeface="Play"/>
                <a:cs typeface="Play"/>
                <a:sym typeface="Play"/>
              </a:rPr>
              <a:t>Role of a Business Analyst</a:t>
            </a:r>
            <a:endParaRPr/>
          </a:p>
        </p:txBody>
      </p:sp>
      <p:grpSp>
        <p:nvGrpSpPr>
          <p:cNvPr id="209" name="Google Shape;209;p6"/>
          <p:cNvGrpSpPr/>
          <p:nvPr/>
        </p:nvGrpSpPr>
        <p:grpSpPr>
          <a:xfrm>
            <a:off x="4905052" y="1139300"/>
            <a:ext cx="6666833" cy="4681158"/>
            <a:chOff x="0" y="388860"/>
            <a:chExt cx="6666833" cy="4681158"/>
          </a:xfrm>
        </p:grpSpPr>
        <p:sp>
          <p:nvSpPr>
            <p:cNvPr id="210" name="Google Shape;210;p6"/>
            <p:cNvSpPr/>
            <p:nvPr/>
          </p:nvSpPr>
          <p:spPr>
            <a:xfrm>
              <a:off x="0" y="832808"/>
              <a:ext cx="6666833" cy="2300704"/>
            </a:xfrm>
            <a:prstGeom prst="rect">
              <a:avLst/>
            </a:prstGeom>
            <a:solidFill>
              <a:schemeClr val="lt1">
                <a:alpha val="89803"/>
              </a:schemeClr>
            </a:solidFill>
            <a:ln w="12700" cap="flat" cmpd="sng">
              <a:solidFill>
                <a:srgbClr val="E9713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6"/>
            <p:cNvSpPr txBox="1"/>
            <p:nvPr/>
          </p:nvSpPr>
          <p:spPr>
            <a:xfrm>
              <a:off x="0" y="832808"/>
              <a:ext cx="6666833" cy="2300704"/>
            </a:xfrm>
            <a:prstGeom prst="rect">
              <a:avLst/>
            </a:prstGeom>
            <a:noFill/>
            <a:ln>
              <a:noFill/>
            </a:ln>
          </p:spPr>
          <p:txBody>
            <a:bodyPr spcFirstLastPara="1" wrap="square" lIns="517400" tIns="229100" rIns="517400" bIns="99550"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a professional who helps organizations understand their business needs, identify problems</a:t>
              </a:r>
              <a:endParaRPr sz="1400" b="0" i="0" u="none" strike="noStrike" cap="none">
                <a:solidFill>
                  <a:schemeClr val="dk1"/>
                </a:solidFill>
                <a:latin typeface="Arial"/>
                <a:ea typeface="Arial"/>
                <a:cs typeface="Arial"/>
                <a:sym typeface="Arial"/>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find solutions to improve processes, products, services, and software through data analysis.</a:t>
              </a:r>
              <a:endParaRPr sz="1400" b="0" i="0" u="none" strike="noStrike" cap="none">
                <a:solidFill>
                  <a:schemeClr val="dk1"/>
                </a:solidFill>
                <a:latin typeface="Arial"/>
                <a:ea typeface="Arial"/>
                <a:cs typeface="Arial"/>
                <a:sym typeface="Arial"/>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Who plays a role in aligning the designed and delivered solutions with the needs of stakeholders</a:t>
              </a:r>
              <a:endParaRPr sz="1400" b="0" i="0" u="none" strike="noStrike" cap="none">
                <a:solidFill>
                  <a:schemeClr val="dk1"/>
                </a:solidFill>
                <a:latin typeface="Arial"/>
                <a:ea typeface="Arial"/>
                <a:cs typeface="Arial"/>
                <a:sym typeface="Arial"/>
              </a:endParaRPr>
            </a:p>
          </p:txBody>
        </p:sp>
        <p:sp>
          <p:nvSpPr>
            <p:cNvPr id="212" name="Google Shape;212;p6"/>
            <p:cNvSpPr/>
            <p:nvPr/>
          </p:nvSpPr>
          <p:spPr>
            <a:xfrm>
              <a:off x="276323" y="388860"/>
              <a:ext cx="4666783" cy="662003"/>
            </a:xfrm>
            <a:prstGeom prst="roundRect">
              <a:avLst>
                <a:gd name="adj" fmla="val 16667"/>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6"/>
            <p:cNvSpPr txBox="1"/>
            <p:nvPr/>
          </p:nvSpPr>
          <p:spPr>
            <a:xfrm>
              <a:off x="308639" y="421176"/>
              <a:ext cx="4602151" cy="597371"/>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b="1" i="0">
                  <a:solidFill>
                    <a:schemeClr val="lt1"/>
                  </a:solidFill>
                  <a:latin typeface="Arial"/>
                  <a:ea typeface="Arial"/>
                  <a:cs typeface="Arial"/>
                  <a:sym typeface="Arial"/>
                </a:rPr>
                <a:t>Key Responsibilities</a:t>
              </a:r>
              <a:r>
                <a:rPr lang="en-US" sz="1800" b="0" i="0">
                  <a:solidFill>
                    <a:schemeClr val="lt1"/>
                  </a:solidFill>
                  <a:latin typeface="Arial"/>
                  <a:ea typeface="Arial"/>
                  <a:cs typeface="Arial"/>
                  <a:sym typeface="Arial"/>
                </a:rPr>
                <a:t>:</a:t>
              </a:r>
              <a:endParaRPr sz="1800">
                <a:solidFill>
                  <a:schemeClr val="lt1"/>
                </a:solidFill>
                <a:latin typeface="Arial"/>
                <a:ea typeface="Arial"/>
                <a:cs typeface="Arial"/>
                <a:sym typeface="Arial"/>
              </a:endParaRPr>
            </a:p>
          </p:txBody>
        </p:sp>
        <p:sp>
          <p:nvSpPr>
            <p:cNvPr id="214" name="Google Shape;214;p6"/>
            <p:cNvSpPr/>
            <p:nvPr/>
          </p:nvSpPr>
          <p:spPr>
            <a:xfrm>
              <a:off x="0" y="3497670"/>
              <a:ext cx="6666833" cy="1572348"/>
            </a:xfrm>
            <a:prstGeom prst="rect">
              <a:avLst/>
            </a:prstGeom>
            <a:solidFill>
              <a:schemeClr val="lt1">
                <a:alpha val="89803"/>
              </a:schemeClr>
            </a:solidFill>
            <a:ln w="12700" cap="flat" cmpd="sng">
              <a:solidFill>
                <a:srgbClr val="176B2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txBox="1"/>
            <p:nvPr/>
          </p:nvSpPr>
          <p:spPr>
            <a:xfrm>
              <a:off x="0" y="3497670"/>
              <a:ext cx="6666833" cy="1572348"/>
            </a:xfrm>
            <a:prstGeom prst="rect">
              <a:avLst/>
            </a:prstGeom>
            <a:noFill/>
            <a:ln>
              <a:noFill/>
            </a:ln>
          </p:spPr>
          <p:txBody>
            <a:bodyPr spcFirstLastPara="1" wrap="square" lIns="517400" tIns="229100" rIns="517400" bIns="99550" anchor="t" anchorCtr="0">
              <a:noAutofit/>
            </a:bodyPr>
            <a:lstStyle/>
            <a:p>
              <a:pPr marL="114300" marR="0" lvl="1" indent="-114300" algn="l" rtl="0">
                <a:lnSpc>
                  <a:spcPct val="90000"/>
                </a:lnSpc>
                <a:spcBef>
                  <a:spcPts val="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A Business Analyst ensures successful project delivery and value realization. </a:t>
              </a:r>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They bridge the gap between IT and the business to help enhance efficiency</a:t>
              </a:r>
              <a:endParaRPr sz="1400" b="0" i="0" u="none" strike="noStrike" cap="none">
                <a:solidFill>
                  <a:schemeClr val="dk1"/>
                </a:solidFill>
                <a:latin typeface="Arial"/>
                <a:ea typeface="Arial"/>
                <a:cs typeface="Arial"/>
                <a:sym typeface="Arial"/>
              </a:endParaRPr>
            </a:p>
            <a:p>
              <a:pPr marL="114300" marR="0" lvl="1" indent="-114300" algn="l" rtl="0">
                <a:lnSpc>
                  <a:spcPct val="90000"/>
                </a:lnSpc>
                <a:spcBef>
                  <a:spcPts val="210"/>
                </a:spcBef>
                <a:spcAft>
                  <a:spcPts val="0"/>
                </a:spcAft>
                <a:buClr>
                  <a:schemeClr val="dk1"/>
                </a:buClr>
                <a:buSzPts val="1400"/>
                <a:buFont typeface="Arial"/>
                <a:buChar char="•"/>
              </a:pPr>
              <a:r>
                <a:rPr lang="en-US" sz="1400" b="0" i="0" u="none" strike="noStrike" cap="none">
                  <a:solidFill>
                    <a:schemeClr val="dk1"/>
                  </a:solidFill>
                  <a:latin typeface="Arial"/>
                  <a:ea typeface="Arial"/>
                  <a:cs typeface="Arial"/>
                  <a:sym typeface="Arial"/>
                </a:rPr>
                <a:t>is a key player in organizations, acting as a bridge between business objectives and technological solutions.</a:t>
              </a:r>
              <a:endParaRPr sz="1400" b="0" i="0" u="none" strike="noStrike" cap="none">
                <a:solidFill>
                  <a:schemeClr val="dk1"/>
                </a:solidFill>
                <a:latin typeface="Arial"/>
                <a:ea typeface="Arial"/>
                <a:cs typeface="Arial"/>
                <a:sym typeface="Arial"/>
              </a:endParaRPr>
            </a:p>
          </p:txBody>
        </p:sp>
        <p:sp>
          <p:nvSpPr>
            <p:cNvPr id="216" name="Google Shape;216;p6"/>
            <p:cNvSpPr/>
            <p:nvPr/>
          </p:nvSpPr>
          <p:spPr>
            <a:xfrm>
              <a:off x="291007" y="2918143"/>
              <a:ext cx="4666783" cy="742109"/>
            </a:xfrm>
            <a:prstGeom prst="roundRect">
              <a:avLst>
                <a:gd name="adj" fmla="val 16667"/>
              </a:avLst>
            </a:prstGeom>
            <a:gradFill>
              <a:gsLst>
                <a:gs pos="0">
                  <a:srgbClr val="497D4C"/>
                </a:gs>
                <a:gs pos="50000">
                  <a:srgbClr val="116F1D"/>
                </a:gs>
                <a:gs pos="100000">
                  <a:srgbClr val="0B641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6"/>
            <p:cNvSpPr txBox="1"/>
            <p:nvPr/>
          </p:nvSpPr>
          <p:spPr>
            <a:xfrm>
              <a:off x="327234" y="2954370"/>
              <a:ext cx="4594329" cy="669655"/>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b="1" i="0">
                  <a:solidFill>
                    <a:schemeClr val="lt1"/>
                  </a:solidFill>
                  <a:latin typeface="Arial"/>
                  <a:ea typeface="Arial"/>
                  <a:cs typeface="Arial"/>
                  <a:sym typeface="Arial"/>
                </a:rPr>
                <a:t>Outcome</a:t>
              </a:r>
              <a:r>
                <a:rPr lang="en-US" sz="1800" b="0" i="0">
                  <a:solidFill>
                    <a:schemeClr val="lt1"/>
                  </a:solidFill>
                  <a:latin typeface="Arial"/>
                  <a:ea typeface="Arial"/>
                  <a:cs typeface="Arial"/>
                  <a:sym typeface="Arial"/>
                </a:rPr>
                <a:t>:</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BABOK Guide</a:t>
            </a:r>
            <a:r>
              <a:rPr lang="en-US" sz="4400" i="1" cap="small">
                <a:solidFill>
                  <a:srgbClr val="5A5A5A"/>
                </a:solidFill>
                <a:latin typeface="Arial"/>
                <a:ea typeface="Arial"/>
                <a:cs typeface="Arial"/>
                <a:sym typeface="Arial"/>
              </a:rPr>
              <a:t>®</a:t>
            </a:r>
            <a:endParaRPr/>
          </a:p>
        </p:txBody>
      </p:sp>
      <p:grpSp>
        <p:nvGrpSpPr>
          <p:cNvPr id="223" name="Google Shape;223;p7"/>
          <p:cNvGrpSpPr/>
          <p:nvPr/>
        </p:nvGrpSpPr>
        <p:grpSpPr>
          <a:xfrm>
            <a:off x="839041" y="3366489"/>
            <a:ext cx="10513916" cy="1529314"/>
            <a:chOff x="841" y="386222"/>
            <a:chExt cx="10513916" cy="1529314"/>
          </a:xfrm>
        </p:grpSpPr>
        <p:sp>
          <p:nvSpPr>
            <p:cNvPr id="224" name="Google Shape;224;p7"/>
            <p:cNvSpPr/>
            <p:nvPr/>
          </p:nvSpPr>
          <p:spPr>
            <a:xfrm>
              <a:off x="421398" y="386222"/>
              <a:ext cx="688183" cy="688183"/>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841"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7"/>
            <p:cNvSpPr txBox="1"/>
            <p:nvPr/>
          </p:nvSpPr>
          <p:spPr>
            <a:xfrm>
              <a:off x="841"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Business Analysis Planning and Monitoring</a:t>
              </a:r>
              <a:endParaRPr sz="1300">
                <a:solidFill>
                  <a:schemeClr val="dk1"/>
                </a:solidFill>
                <a:latin typeface="Arial"/>
                <a:ea typeface="Arial"/>
                <a:cs typeface="Arial"/>
                <a:sym typeface="Arial"/>
              </a:endParaRPr>
            </a:p>
          </p:txBody>
        </p:sp>
        <p:sp>
          <p:nvSpPr>
            <p:cNvPr id="227" name="Google Shape;227;p7"/>
            <p:cNvSpPr/>
            <p:nvPr/>
          </p:nvSpPr>
          <p:spPr>
            <a:xfrm>
              <a:off x="2218322" y="386222"/>
              <a:ext cx="688183" cy="688183"/>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1797765"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7"/>
            <p:cNvSpPr txBox="1"/>
            <p:nvPr/>
          </p:nvSpPr>
          <p:spPr>
            <a:xfrm>
              <a:off x="1797765"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Elicitation and Collaboration</a:t>
              </a:r>
              <a:endParaRPr sz="1300">
                <a:solidFill>
                  <a:schemeClr val="dk1"/>
                </a:solidFill>
                <a:latin typeface="Arial"/>
                <a:ea typeface="Arial"/>
                <a:cs typeface="Arial"/>
                <a:sym typeface="Arial"/>
              </a:endParaRPr>
            </a:p>
          </p:txBody>
        </p:sp>
        <p:sp>
          <p:nvSpPr>
            <p:cNvPr id="230" name="Google Shape;230;p7"/>
            <p:cNvSpPr/>
            <p:nvPr/>
          </p:nvSpPr>
          <p:spPr>
            <a:xfrm>
              <a:off x="4015246" y="386222"/>
              <a:ext cx="688183" cy="688183"/>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3594689"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txBox="1"/>
            <p:nvPr/>
          </p:nvSpPr>
          <p:spPr>
            <a:xfrm>
              <a:off x="3594689"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Requirements Life Cycle Management</a:t>
              </a:r>
              <a:endParaRPr sz="1300">
                <a:solidFill>
                  <a:schemeClr val="dk1"/>
                </a:solidFill>
                <a:latin typeface="Arial"/>
                <a:ea typeface="Arial"/>
                <a:cs typeface="Arial"/>
                <a:sym typeface="Arial"/>
              </a:endParaRPr>
            </a:p>
          </p:txBody>
        </p:sp>
        <p:sp>
          <p:nvSpPr>
            <p:cNvPr id="233" name="Google Shape;233;p7"/>
            <p:cNvSpPr/>
            <p:nvPr/>
          </p:nvSpPr>
          <p:spPr>
            <a:xfrm>
              <a:off x="5812170" y="386222"/>
              <a:ext cx="688183" cy="688183"/>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7"/>
            <p:cNvSpPr/>
            <p:nvPr/>
          </p:nvSpPr>
          <p:spPr>
            <a:xfrm>
              <a:off x="5391613"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7"/>
            <p:cNvSpPr txBox="1"/>
            <p:nvPr/>
          </p:nvSpPr>
          <p:spPr>
            <a:xfrm>
              <a:off x="5391613"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Strategy Analysis</a:t>
              </a:r>
              <a:endParaRPr sz="1300">
                <a:solidFill>
                  <a:schemeClr val="dk1"/>
                </a:solidFill>
                <a:latin typeface="Arial"/>
                <a:ea typeface="Arial"/>
                <a:cs typeface="Arial"/>
                <a:sym typeface="Arial"/>
              </a:endParaRPr>
            </a:p>
          </p:txBody>
        </p:sp>
        <p:sp>
          <p:nvSpPr>
            <p:cNvPr id="236" name="Google Shape;236;p7"/>
            <p:cNvSpPr/>
            <p:nvPr/>
          </p:nvSpPr>
          <p:spPr>
            <a:xfrm>
              <a:off x="7609093" y="386222"/>
              <a:ext cx="688183" cy="688183"/>
            </a:xfrm>
            <a:prstGeom prst="rect">
              <a:avLst/>
            </a:prstGeom>
            <a:blipFill rotWithShape="1">
              <a:blip r:embed="rId7">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7188537"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7"/>
            <p:cNvSpPr txBox="1"/>
            <p:nvPr/>
          </p:nvSpPr>
          <p:spPr>
            <a:xfrm>
              <a:off x="7188537"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Requirements Analysis and Design Definition (RADD)</a:t>
              </a:r>
              <a:endParaRPr sz="1300">
                <a:solidFill>
                  <a:schemeClr val="dk1"/>
                </a:solidFill>
                <a:latin typeface="Arial"/>
                <a:ea typeface="Arial"/>
                <a:cs typeface="Arial"/>
                <a:sym typeface="Arial"/>
              </a:endParaRPr>
            </a:p>
          </p:txBody>
        </p:sp>
        <p:sp>
          <p:nvSpPr>
            <p:cNvPr id="239" name="Google Shape;239;p7"/>
            <p:cNvSpPr/>
            <p:nvPr/>
          </p:nvSpPr>
          <p:spPr>
            <a:xfrm>
              <a:off x="9406017" y="386222"/>
              <a:ext cx="688183" cy="688183"/>
            </a:xfrm>
            <a:prstGeom prst="rect">
              <a:avLst/>
            </a:prstGeom>
            <a:blipFill rotWithShape="1">
              <a:blip r:embed="rId8">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7"/>
            <p:cNvSpPr/>
            <p:nvPr/>
          </p:nvSpPr>
          <p:spPr>
            <a:xfrm>
              <a:off x="8985461" y="1303818"/>
              <a:ext cx="1529296" cy="61171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7"/>
            <p:cNvSpPr txBox="1"/>
            <p:nvPr/>
          </p:nvSpPr>
          <p:spPr>
            <a:xfrm>
              <a:off x="8985461" y="1303818"/>
              <a:ext cx="1529296" cy="61171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1300"/>
                <a:buFont typeface="Arial"/>
                <a:buNone/>
              </a:pPr>
              <a:r>
                <a:rPr lang="en-US" sz="1300" b="1" i="0">
                  <a:solidFill>
                    <a:schemeClr val="dk1"/>
                  </a:solidFill>
                  <a:latin typeface="Arial"/>
                  <a:ea typeface="Arial"/>
                  <a:cs typeface="Arial"/>
                  <a:sym typeface="Arial"/>
                </a:rPr>
                <a:t>Solution Evaluation</a:t>
              </a:r>
              <a:endParaRPr sz="1300">
                <a:solidFill>
                  <a:schemeClr val="dk1"/>
                </a:solidFill>
                <a:latin typeface="Arial"/>
                <a:ea typeface="Arial"/>
                <a:cs typeface="Arial"/>
                <a:sym typeface="Arial"/>
              </a:endParaRPr>
            </a:p>
          </p:txBody>
        </p:sp>
      </p:grpSp>
      <p:sp>
        <p:nvSpPr>
          <p:cNvPr id="242" name="Google Shape;242;p7"/>
          <p:cNvSpPr txBox="1"/>
          <p:nvPr/>
        </p:nvSpPr>
        <p:spPr>
          <a:xfrm>
            <a:off x="3048000" y="1575973"/>
            <a:ext cx="6096000" cy="1267655"/>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en-US" sz="1800" i="1" cap="small">
                <a:solidFill>
                  <a:srgbClr val="5A5A5A"/>
                </a:solidFill>
                <a:latin typeface="Arial"/>
                <a:ea typeface="Arial"/>
                <a:cs typeface="Arial"/>
                <a:sym typeface="Arial"/>
              </a:rPr>
              <a:t>BABOK Guide®, which is considered industry standard for Business Analysis, developed by International Institute of Business Analysis (IIBA) says there are six knowledge areas where Business Analysts must focus on:</a:t>
            </a:r>
            <a:endParaRPr sz="1800" i="1">
              <a:solidFill>
                <a:srgbClr val="0F476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8"/>
          <p:cNvSpPr/>
          <p:nvPr/>
        </p:nvSpPr>
        <p:spPr>
          <a:xfrm>
            <a:off x="1556174" y="1126067"/>
            <a:ext cx="8879840" cy="4775200"/>
          </a:xfrm>
          <a:prstGeom prst="roundRect">
            <a:avLst>
              <a:gd name="adj" fmla="val 16667"/>
            </a:avLst>
          </a:prstGeom>
          <a:blipFill rotWithShape="1">
            <a:blip r:embed="rId3">
              <a:alphaModFix/>
            </a:blip>
            <a:stretch>
              <a:fillRect/>
            </a:stretch>
          </a:blip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248" name="Google Shape;248;p8"/>
          <p:cNvSpPr txBox="1"/>
          <p:nvPr/>
        </p:nvSpPr>
        <p:spPr>
          <a:xfrm>
            <a:off x="1388533" y="356626"/>
            <a:ext cx="609600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a:solidFill>
                  <a:schemeClr val="dk1"/>
                </a:solidFill>
                <a:latin typeface="Arial"/>
                <a:ea typeface="Arial"/>
                <a:cs typeface="Arial"/>
                <a:sym typeface="Arial"/>
              </a:rPr>
              <a:t>BABOK Guide</a:t>
            </a:r>
            <a:r>
              <a:rPr lang="en-US" sz="4400" i="1" cap="small">
                <a:solidFill>
                  <a:srgbClr val="5A5A5A"/>
                </a:solidFill>
                <a:latin typeface="Arial"/>
                <a:ea typeface="Arial"/>
                <a:cs typeface="Arial"/>
                <a:sym typeface="Arial"/>
              </a:rPr>
              <a:t>®</a:t>
            </a:r>
            <a:endParaRPr sz="44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2"/>
        <p:cNvGrpSpPr/>
        <p:nvPr/>
      </p:nvGrpSpPr>
      <p:grpSpPr>
        <a:xfrm>
          <a:off x="0" y="0"/>
          <a:ext cx="0" cy="0"/>
          <a:chOff x="0" y="0"/>
          <a:chExt cx="0" cy="0"/>
        </a:xfrm>
      </p:grpSpPr>
      <p:sp>
        <p:nvSpPr>
          <p:cNvPr id="253" name="Google Shape;253;p9"/>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54" name="Google Shape;254;p9"/>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5200"/>
              <a:buFont typeface="Play"/>
              <a:buNone/>
            </a:pPr>
            <a:r>
              <a:rPr lang="en-US" sz="5200"/>
              <a:t>The Story (Contd…)</a:t>
            </a:r>
            <a:endParaRPr sz="5200"/>
          </a:p>
        </p:txBody>
      </p:sp>
      <p:grpSp>
        <p:nvGrpSpPr>
          <p:cNvPr id="255" name="Google Shape;255;p9"/>
          <p:cNvGrpSpPr/>
          <p:nvPr/>
        </p:nvGrpSpPr>
        <p:grpSpPr>
          <a:xfrm>
            <a:off x="844041" y="1803569"/>
            <a:ext cx="10503949" cy="4122826"/>
            <a:chOff x="5841" y="-25231"/>
            <a:chExt cx="10503949" cy="4122826"/>
          </a:xfrm>
        </p:grpSpPr>
        <p:sp>
          <p:nvSpPr>
            <p:cNvPr id="256" name="Google Shape;256;p9"/>
            <p:cNvSpPr/>
            <p:nvPr/>
          </p:nvSpPr>
          <p:spPr>
            <a:xfrm>
              <a:off x="1027950" y="368196"/>
              <a:ext cx="1091996" cy="109199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9"/>
            <p:cNvSpPr/>
            <p:nvPr/>
          </p:nvSpPr>
          <p:spPr>
            <a:xfrm>
              <a:off x="5841" y="1639963"/>
              <a:ext cx="3119991" cy="21733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9"/>
            <p:cNvSpPr txBox="1"/>
            <p:nvPr/>
          </p:nvSpPr>
          <p:spPr>
            <a:xfrm>
              <a:off x="5841" y="1639963"/>
              <a:ext cx="3119991" cy="2173346"/>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a:solidFill>
                    <a:schemeClr val="dk1"/>
                  </a:solidFill>
                  <a:latin typeface="Arial"/>
                  <a:ea typeface="Arial"/>
                  <a:cs typeface="Arial"/>
                  <a:sym typeface="Arial"/>
                </a:rPr>
                <a:t>Background:</a:t>
              </a:r>
              <a:endParaRPr/>
            </a:p>
            <a:p>
              <a:pPr marL="0" marR="0" lvl="0" indent="0" algn="ctr" rtl="0">
                <a:lnSpc>
                  <a:spcPct val="90000"/>
                </a:lnSpc>
                <a:spcBef>
                  <a:spcPts val="490"/>
                </a:spcBef>
                <a:spcAft>
                  <a:spcPts val="0"/>
                </a:spcAft>
                <a:buClr>
                  <a:schemeClr val="dk1"/>
                </a:buClr>
                <a:buSzPts val="1400"/>
                <a:buFont typeface="Arial"/>
                <a:buNone/>
              </a:pPr>
              <a:br>
                <a:rPr lang="en-US" sz="1400" b="1">
                  <a:solidFill>
                    <a:schemeClr val="dk1"/>
                  </a:solidFill>
                  <a:latin typeface="Arial"/>
                  <a:ea typeface="Arial"/>
                  <a:cs typeface="Arial"/>
                  <a:sym typeface="Arial"/>
                </a:rPr>
              </a:br>
              <a:r>
                <a:rPr lang="en-US" sz="1400" b="1">
                  <a:solidFill>
                    <a:schemeClr val="dk1"/>
                  </a:solidFill>
                  <a:latin typeface="Arial"/>
                  <a:ea typeface="Arial"/>
                  <a:cs typeface="Arial"/>
                  <a:sym typeface="Arial"/>
                </a:rPr>
                <a:t>Narayan, a Business Analyst, begins analyzing the data shared by Anuj to identify key business challenges and growth opportunities.</a:t>
              </a:r>
              <a:endParaRPr/>
            </a:p>
          </p:txBody>
        </p:sp>
        <p:sp>
          <p:nvSpPr>
            <p:cNvPr id="259" name="Google Shape;259;p9"/>
            <p:cNvSpPr/>
            <p:nvPr/>
          </p:nvSpPr>
          <p:spPr>
            <a:xfrm>
              <a:off x="13952" y="3532727"/>
              <a:ext cx="3119991" cy="4516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p:nvPr/>
          </p:nvSpPr>
          <p:spPr>
            <a:xfrm>
              <a:off x="4711801" y="-25231"/>
              <a:ext cx="1091996" cy="109199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9"/>
            <p:cNvSpPr/>
            <p:nvPr/>
          </p:nvSpPr>
          <p:spPr>
            <a:xfrm>
              <a:off x="3686322" y="1646629"/>
              <a:ext cx="3119991" cy="184464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9"/>
            <p:cNvSpPr txBox="1"/>
            <p:nvPr/>
          </p:nvSpPr>
          <p:spPr>
            <a:xfrm>
              <a:off x="3686322" y="1646629"/>
              <a:ext cx="3119991" cy="184464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a:solidFill>
                    <a:schemeClr val="dk1"/>
                  </a:solidFill>
                  <a:latin typeface="Arial"/>
                  <a:ea typeface="Arial"/>
                  <a:cs typeface="Arial"/>
                  <a:sym typeface="Arial"/>
                </a:rPr>
                <a:t>Challenges in Data Analysis:</a:t>
              </a:r>
              <a:endParaRPr sz="1400">
                <a:solidFill>
                  <a:schemeClr val="dk1"/>
                </a:solidFill>
                <a:latin typeface="Arial"/>
                <a:ea typeface="Arial"/>
                <a:cs typeface="Arial"/>
                <a:sym typeface="Arial"/>
              </a:endParaRPr>
            </a:p>
          </p:txBody>
        </p:sp>
        <p:sp>
          <p:nvSpPr>
            <p:cNvPr id="263" name="Google Shape;263;p9"/>
            <p:cNvSpPr/>
            <p:nvPr/>
          </p:nvSpPr>
          <p:spPr>
            <a:xfrm>
              <a:off x="3668429" y="2072260"/>
              <a:ext cx="3155714" cy="202533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9"/>
            <p:cNvSpPr txBox="1"/>
            <p:nvPr/>
          </p:nvSpPr>
          <p:spPr>
            <a:xfrm>
              <a:off x="3668429" y="2072260"/>
              <a:ext cx="3155714" cy="2025335"/>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Many critical datasets like </a:t>
              </a:r>
              <a:r>
                <a:rPr lang="en-US" sz="1400" b="1">
                  <a:solidFill>
                    <a:schemeClr val="dk1"/>
                  </a:solidFill>
                  <a:latin typeface="Arial"/>
                  <a:ea typeface="Arial"/>
                  <a:cs typeface="Arial"/>
                  <a:sym typeface="Arial"/>
                </a:rPr>
                <a:t>Customer, Employee, Geographical, and Competitor Data</a:t>
              </a:r>
              <a:r>
                <a:rPr lang="en-US" sz="1400">
                  <a:solidFill>
                    <a:schemeClr val="dk1"/>
                  </a:solidFill>
                  <a:latin typeface="Arial"/>
                  <a:ea typeface="Arial"/>
                  <a:cs typeface="Arial"/>
                  <a:sym typeface="Arial"/>
                </a:rPr>
                <a:t> are missing.</a:t>
              </a:r>
              <a:endParaRPr/>
            </a:p>
            <a:p>
              <a:pPr marL="0" marR="0" lvl="0" indent="0" algn="ctr" rtl="0">
                <a:lnSpc>
                  <a:spcPct val="90000"/>
                </a:lnSpc>
                <a:spcBef>
                  <a:spcPts val="490"/>
                </a:spcBef>
                <a:spcAft>
                  <a:spcPts val="0"/>
                </a:spcAft>
                <a:buClr>
                  <a:schemeClr val="dk1"/>
                </a:buClr>
                <a:buSzPts val="1400"/>
                <a:buFont typeface="Arial"/>
                <a:buNone/>
              </a:pPr>
              <a:r>
                <a:rPr lang="en-US" sz="1400">
                  <a:solidFill>
                    <a:schemeClr val="dk1"/>
                  </a:solidFill>
                  <a:latin typeface="Arial"/>
                  <a:ea typeface="Arial"/>
                  <a:cs typeface="Arial"/>
                  <a:sym typeface="Arial"/>
                </a:rPr>
                <a:t>Supply Chain data is </a:t>
              </a:r>
              <a:r>
                <a:rPr lang="en-US" sz="1400" b="1">
                  <a:solidFill>
                    <a:schemeClr val="dk1"/>
                  </a:solidFill>
                  <a:latin typeface="Arial"/>
                  <a:ea typeface="Arial"/>
                  <a:cs typeface="Arial"/>
                  <a:sym typeface="Arial"/>
                </a:rPr>
                <a:t>unstructured</a:t>
              </a:r>
              <a:r>
                <a:rPr lang="en-US" sz="1400">
                  <a:solidFill>
                    <a:schemeClr val="dk1"/>
                  </a:solidFill>
                  <a:latin typeface="Arial"/>
                  <a:ea typeface="Arial"/>
                  <a:cs typeface="Arial"/>
                  <a:sym typeface="Arial"/>
                </a:rPr>
                <a:t>, existing only as paper bills.</a:t>
              </a:r>
              <a:endParaRPr/>
            </a:p>
            <a:p>
              <a:pPr marL="0" marR="0" lvl="0" indent="0" algn="ctr" rtl="0">
                <a:lnSpc>
                  <a:spcPct val="90000"/>
                </a:lnSpc>
                <a:spcBef>
                  <a:spcPts val="490"/>
                </a:spcBef>
                <a:spcAft>
                  <a:spcPts val="0"/>
                </a:spcAft>
                <a:buClr>
                  <a:schemeClr val="dk1"/>
                </a:buClr>
                <a:buSzPts val="1400"/>
                <a:buFont typeface="Arial"/>
                <a:buNone/>
              </a:pPr>
              <a:r>
                <a:rPr lang="en-US" sz="1400">
                  <a:solidFill>
                    <a:schemeClr val="dk1"/>
                  </a:solidFill>
                  <a:latin typeface="Arial"/>
                  <a:ea typeface="Arial"/>
                  <a:cs typeface="Arial"/>
                  <a:sym typeface="Arial"/>
                </a:rPr>
                <a:t>The available data is </a:t>
              </a:r>
              <a:r>
                <a:rPr lang="en-US" sz="1400" b="1">
                  <a:solidFill>
                    <a:schemeClr val="dk1"/>
                  </a:solidFill>
                  <a:latin typeface="Arial"/>
                  <a:ea typeface="Arial"/>
                  <a:cs typeface="Arial"/>
                  <a:sym typeface="Arial"/>
                </a:rPr>
                <a:t>not in a standard format</a:t>
              </a:r>
              <a:r>
                <a:rPr lang="en-US" sz="1400">
                  <a:solidFill>
                    <a:schemeClr val="dk1"/>
                  </a:solidFill>
                  <a:latin typeface="Arial"/>
                  <a:ea typeface="Arial"/>
                  <a:cs typeface="Arial"/>
                  <a:sym typeface="Arial"/>
                </a:rPr>
                <a:t>, making it difficult to derive immediate insights.</a:t>
              </a:r>
              <a:endParaRPr/>
            </a:p>
          </p:txBody>
        </p:sp>
        <p:sp>
          <p:nvSpPr>
            <p:cNvPr id="265" name="Google Shape;265;p9"/>
            <p:cNvSpPr/>
            <p:nvPr/>
          </p:nvSpPr>
          <p:spPr>
            <a:xfrm>
              <a:off x="8395653" y="368196"/>
              <a:ext cx="1091996" cy="109199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9"/>
            <p:cNvSpPr/>
            <p:nvPr/>
          </p:nvSpPr>
          <p:spPr>
            <a:xfrm>
              <a:off x="7389799" y="1692231"/>
              <a:ext cx="3119991" cy="184464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9"/>
            <p:cNvSpPr txBox="1"/>
            <p:nvPr/>
          </p:nvSpPr>
          <p:spPr>
            <a:xfrm>
              <a:off x="7389799" y="1692231"/>
              <a:ext cx="3119991" cy="1844648"/>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a:solidFill>
                    <a:schemeClr val="dk1"/>
                  </a:solidFill>
                  <a:latin typeface="Arial"/>
                  <a:ea typeface="Arial"/>
                  <a:cs typeface="Arial"/>
                  <a:sym typeface="Arial"/>
                </a:rPr>
                <a:t>Next Steps:</a:t>
              </a:r>
              <a:endParaRPr/>
            </a:p>
            <a:p>
              <a:pPr marL="0" marR="0" lvl="0" indent="0" algn="ctr" rtl="0">
                <a:lnSpc>
                  <a:spcPct val="90000"/>
                </a:lnSpc>
                <a:spcBef>
                  <a:spcPts val="490"/>
                </a:spcBef>
                <a:spcAft>
                  <a:spcPts val="0"/>
                </a:spcAft>
                <a:buClr>
                  <a:schemeClr val="dk1"/>
                </a:buClr>
                <a:buSzPts val="1400"/>
                <a:buFont typeface="Arial"/>
                <a:buNone/>
              </a:pPr>
              <a:br>
                <a:rPr lang="en-US" sz="1400" b="1">
                  <a:solidFill>
                    <a:schemeClr val="dk1"/>
                  </a:solidFill>
                  <a:latin typeface="Arial"/>
                  <a:ea typeface="Arial"/>
                  <a:cs typeface="Arial"/>
                  <a:sym typeface="Arial"/>
                </a:rPr>
              </a:br>
              <a:r>
                <a:rPr lang="en-US" sz="1400" b="1">
                  <a:solidFill>
                    <a:schemeClr val="dk1"/>
                  </a:solidFill>
                  <a:latin typeface="Arial"/>
                  <a:ea typeface="Arial"/>
                  <a:cs typeface="Arial"/>
                  <a:sym typeface="Arial"/>
                </a:rPr>
                <a:t>Narayan recognizes the need for data cleaning, structuring, and possible data collection strategies to fill gaps. He plans to extract insights from available data while recommending ways to gather missing information for deeper analysis.</a:t>
              </a:r>
              <a:endParaRPr/>
            </a:p>
          </p:txBody>
        </p:sp>
        <p:sp>
          <p:nvSpPr>
            <p:cNvPr id="268" name="Google Shape;268;p9"/>
            <p:cNvSpPr/>
            <p:nvPr/>
          </p:nvSpPr>
          <p:spPr>
            <a:xfrm>
              <a:off x="7381655" y="3532727"/>
              <a:ext cx="3119991" cy="4516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2"/>
        <p:cNvGrpSpPr/>
        <p:nvPr/>
      </p:nvGrpSpPr>
      <p:grpSpPr>
        <a:xfrm>
          <a:off x="0" y="0"/>
          <a:ext cx="0" cy="0"/>
          <a:chOff x="0" y="0"/>
          <a:chExt cx="0" cy="0"/>
        </a:xfrm>
      </p:grpSpPr>
      <p:sp>
        <p:nvSpPr>
          <p:cNvPr id="273" name="Google Shape;273;p10"/>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74" name="Google Shape;274;p10"/>
          <p:cNvSpPr txBox="1">
            <a:spLocks noGrp="1"/>
          </p:cNvSpPr>
          <p:nvPr>
            <p:ph type="title"/>
          </p:nvPr>
        </p:nvSpPr>
        <p:spPr>
          <a:xfrm>
            <a:off x="838200" y="556995"/>
            <a:ext cx="10515600" cy="113369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Core Competencies of a Business Analyst</a:t>
            </a:r>
            <a:endParaRPr/>
          </a:p>
        </p:txBody>
      </p:sp>
      <p:grpSp>
        <p:nvGrpSpPr>
          <p:cNvPr id="275" name="Google Shape;275;p10"/>
          <p:cNvGrpSpPr/>
          <p:nvPr/>
        </p:nvGrpSpPr>
        <p:grpSpPr>
          <a:xfrm>
            <a:off x="966000" y="2942453"/>
            <a:ext cx="10260000" cy="2117681"/>
            <a:chOff x="127800" y="1116828"/>
            <a:chExt cx="10260000" cy="2117681"/>
          </a:xfrm>
        </p:grpSpPr>
        <p:sp>
          <p:nvSpPr>
            <p:cNvPr id="276" name="Google Shape;276;p10"/>
            <p:cNvSpPr/>
            <p:nvPr/>
          </p:nvSpPr>
          <p:spPr>
            <a:xfrm>
              <a:off x="622800" y="1116828"/>
              <a:ext cx="810000" cy="810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0"/>
            <p:cNvSpPr/>
            <p:nvPr/>
          </p:nvSpPr>
          <p:spPr>
            <a:xfrm>
              <a:off x="127800" y="2244509"/>
              <a:ext cx="1800000" cy="9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0"/>
            <p:cNvSpPr txBox="1"/>
            <p:nvPr/>
          </p:nvSpPr>
          <p:spPr>
            <a:xfrm>
              <a:off x="127800" y="2244509"/>
              <a:ext cx="1800000" cy="99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Technical Skills</a:t>
              </a:r>
              <a:r>
                <a:rPr lang="en-US" sz="1400" b="0" i="0">
                  <a:solidFill>
                    <a:schemeClr val="dk1"/>
                  </a:solidFill>
                  <a:latin typeface="Arial"/>
                  <a:ea typeface="Arial"/>
                  <a:cs typeface="Arial"/>
                  <a:sym typeface="Arial"/>
                </a:rPr>
                <a:t>: Business modelling, data analysis, and tools (</a:t>
              </a:r>
              <a:r>
                <a:rPr lang="en-US" sz="1400">
                  <a:solidFill>
                    <a:schemeClr val="dk1"/>
                  </a:solidFill>
                  <a:latin typeface="Arial"/>
                  <a:ea typeface="Arial"/>
                  <a:cs typeface="Arial"/>
                  <a:sym typeface="Arial"/>
                </a:rPr>
                <a:t>Microsoft Excel, SQL, BI tools</a:t>
              </a:r>
              <a:r>
                <a:rPr lang="en-US" sz="1400" b="0" i="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279" name="Google Shape;279;p10"/>
            <p:cNvSpPr/>
            <p:nvPr/>
          </p:nvSpPr>
          <p:spPr>
            <a:xfrm>
              <a:off x="2737800" y="1116828"/>
              <a:ext cx="810000" cy="8100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0"/>
            <p:cNvSpPr/>
            <p:nvPr/>
          </p:nvSpPr>
          <p:spPr>
            <a:xfrm>
              <a:off x="2242800" y="2244509"/>
              <a:ext cx="1800000" cy="9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0"/>
            <p:cNvSpPr txBox="1"/>
            <p:nvPr/>
          </p:nvSpPr>
          <p:spPr>
            <a:xfrm>
              <a:off x="2242800" y="2244509"/>
              <a:ext cx="1800000" cy="99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Analytical Thinking</a:t>
              </a:r>
              <a:r>
                <a:rPr lang="en-US" sz="1400" b="0" i="0">
                  <a:solidFill>
                    <a:schemeClr val="dk1"/>
                  </a:solidFill>
                  <a:latin typeface="Arial"/>
                  <a:ea typeface="Arial"/>
                  <a:cs typeface="Arial"/>
                  <a:sym typeface="Arial"/>
                </a:rPr>
                <a:t>: Problem-solving with data insights.</a:t>
              </a:r>
              <a:endParaRPr sz="1400">
                <a:solidFill>
                  <a:schemeClr val="dk1"/>
                </a:solidFill>
                <a:latin typeface="Arial"/>
                <a:ea typeface="Arial"/>
                <a:cs typeface="Arial"/>
                <a:sym typeface="Arial"/>
              </a:endParaRPr>
            </a:p>
          </p:txBody>
        </p:sp>
        <p:sp>
          <p:nvSpPr>
            <p:cNvPr id="282" name="Google Shape;282;p10"/>
            <p:cNvSpPr/>
            <p:nvPr/>
          </p:nvSpPr>
          <p:spPr>
            <a:xfrm>
              <a:off x="4852800" y="1116828"/>
              <a:ext cx="810000" cy="81000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0"/>
            <p:cNvSpPr/>
            <p:nvPr/>
          </p:nvSpPr>
          <p:spPr>
            <a:xfrm>
              <a:off x="4357800" y="2244509"/>
              <a:ext cx="1800000" cy="9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0"/>
            <p:cNvSpPr txBox="1"/>
            <p:nvPr/>
          </p:nvSpPr>
          <p:spPr>
            <a:xfrm>
              <a:off x="4357800" y="2244509"/>
              <a:ext cx="1800000" cy="99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Communication Skills</a:t>
              </a:r>
              <a:r>
                <a:rPr lang="en-US" sz="1400" b="0" i="0">
                  <a:solidFill>
                    <a:schemeClr val="dk1"/>
                  </a:solidFill>
                  <a:latin typeface="Arial"/>
                  <a:ea typeface="Arial"/>
                  <a:cs typeface="Arial"/>
                  <a:sym typeface="Arial"/>
                </a:rPr>
                <a:t>: Clear, concise, and effective communication.</a:t>
              </a:r>
              <a:endParaRPr sz="1400">
                <a:solidFill>
                  <a:schemeClr val="dk1"/>
                </a:solidFill>
                <a:latin typeface="Arial"/>
                <a:ea typeface="Arial"/>
                <a:cs typeface="Arial"/>
                <a:sym typeface="Arial"/>
              </a:endParaRPr>
            </a:p>
          </p:txBody>
        </p:sp>
        <p:sp>
          <p:nvSpPr>
            <p:cNvPr id="285" name="Google Shape;285;p10"/>
            <p:cNvSpPr/>
            <p:nvPr/>
          </p:nvSpPr>
          <p:spPr>
            <a:xfrm>
              <a:off x="6967800" y="1116828"/>
              <a:ext cx="810000" cy="81000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0"/>
            <p:cNvSpPr/>
            <p:nvPr/>
          </p:nvSpPr>
          <p:spPr>
            <a:xfrm>
              <a:off x="6472800" y="2244509"/>
              <a:ext cx="1800000" cy="9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0"/>
            <p:cNvSpPr txBox="1"/>
            <p:nvPr/>
          </p:nvSpPr>
          <p:spPr>
            <a:xfrm>
              <a:off x="6472800" y="2244509"/>
              <a:ext cx="1800000" cy="99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Stakeholder Management</a:t>
              </a:r>
              <a:r>
                <a:rPr lang="en-US" sz="1400" b="0" i="0">
                  <a:solidFill>
                    <a:schemeClr val="dk1"/>
                  </a:solidFill>
                  <a:latin typeface="Arial"/>
                  <a:ea typeface="Arial"/>
                  <a:cs typeface="Arial"/>
                  <a:sym typeface="Arial"/>
                </a:rPr>
                <a:t>: Managing diverse expectations and priorities.</a:t>
              </a:r>
              <a:endParaRPr sz="1400">
                <a:solidFill>
                  <a:schemeClr val="dk1"/>
                </a:solidFill>
                <a:latin typeface="Arial"/>
                <a:ea typeface="Arial"/>
                <a:cs typeface="Arial"/>
                <a:sym typeface="Arial"/>
              </a:endParaRPr>
            </a:p>
          </p:txBody>
        </p:sp>
        <p:sp>
          <p:nvSpPr>
            <p:cNvPr id="288" name="Google Shape;288;p10"/>
            <p:cNvSpPr/>
            <p:nvPr/>
          </p:nvSpPr>
          <p:spPr>
            <a:xfrm>
              <a:off x="9082800" y="1116828"/>
              <a:ext cx="810000" cy="81000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0"/>
            <p:cNvSpPr/>
            <p:nvPr/>
          </p:nvSpPr>
          <p:spPr>
            <a:xfrm>
              <a:off x="8587800" y="2244509"/>
              <a:ext cx="1800000" cy="99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0"/>
            <p:cNvSpPr txBox="1"/>
            <p:nvPr/>
          </p:nvSpPr>
          <p:spPr>
            <a:xfrm>
              <a:off x="8587800" y="2244509"/>
              <a:ext cx="1800000" cy="99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a:solidFill>
                    <a:schemeClr val="dk1"/>
                  </a:solidFill>
                  <a:latin typeface="Arial"/>
                  <a:ea typeface="Arial"/>
                  <a:cs typeface="Arial"/>
                  <a:sym typeface="Arial"/>
                </a:rPr>
                <a:t>Domain Knowledge: </a:t>
              </a:r>
              <a:r>
                <a:rPr lang="en-US" sz="1400">
                  <a:solidFill>
                    <a:schemeClr val="dk1"/>
                  </a:solidFill>
                  <a:latin typeface="Arial"/>
                  <a:ea typeface="Arial"/>
                  <a:cs typeface="Arial"/>
                  <a:sym typeface="Arial"/>
                </a:rPr>
                <a:t>understanding of Business Operations, Processes and Strategies</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Key Responsibilities</a:t>
            </a:r>
            <a:endParaRPr/>
          </a:p>
        </p:txBody>
      </p:sp>
      <p:grpSp>
        <p:nvGrpSpPr>
          <p:cNvPr id="296" name="Google Shape;296;p11"/>
          <p:cNvGrpSpPr/>
          <p:nvPr/>
        </p:nvGrpSpPr>
        <p:grpSpPr>
          <a:xfrm>
            <a:off x="838200" y="1829233"/>
            <a:ext cx="10515600" cy="4440955"/>
            <a:chOff x="0" y="3609"/>
            <a:chExt cx="10515600" cy="4440955"/>
          </a:xfrm>
        </p:grpSpPr>
        <p:sp>
          <p:nvSpPr>
            <p:cNvPr id="297" name="Google Shape;297;p11"/>
            <p:cNvSpPr/>
            <p:nvPr/>
          </p:nvSpPr>
          <p:spPr>
            <a:xfrm>
              <a:off x="0" y="3609"/>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1"/>
            <p:cNvSpPr/>
            <p:nvPr/>
          </p:nvSpPr>
          <p:spPr>
            <a:xfrm>
              <a:off x="185295" y="141432"/>
              <a:ext cx="336900" cy="3369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1"/>
            <p:cNvSpPr/>
            <p:nvPr/>
          </p:nvSpPr>
          <p:spPr>
            <a:xfrm>
              <a:off x="707490" y="3609"/>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1"/>
            <p:cNvSpPr txBox="1"/>
            <p:nvPr/>
          </p:nvSpPr>
          <p:spPr>
            <a:xfrm>
              <a:off x="707490" y="3609"/>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Requirements Gathering</a:t>
              </a:r>
              <a:endParaRPr/>
            </a:p>
          </p:txBody>
        </p:sp>
        <p:sp>
          <p:nvSpPr>
            <p:cNvPr id="301" name="Google Shape;301;p11"/>
            <p:cNvSpPr/>
            <p:nvPr/>
          </p:nvSpPr>
          <p:spPr>
            <a:xfrm>
              <a:off x="5439510" y="3609"/>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1"/>
            <p:cNvSpPr txBox="1"/>
            <p:nvPr/>
          </p:nvSpPr>
          <p:spPr>
            <a:xfrm>
              <a:off x="5439510" y="3609"/>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to understand their needs and document these requirements clearly.</a:t>
              </a:r>
              <a:endParaRPr sz="1400">
                <a:solidFill>
                  <a:schemeClr val="dk1"/>
                </a:solidFill>
                <a:latin typeface="Arial"/>
                <a:ea typeface="Arial"/>
                <a:cs typeface="Arial"/>
                <a:sym typeface="Arial"/>
              </a:endParaRPr>
            </a:p>
          </p:txBody>
        </p:sp>
        <p:sp>
          <p:nvSpPr>
            <p:cNvPr id="303" name="Google Shape;303;p11"/>
            <p:cNvSpPr/>
            <p:nvPr/>
          </p:nvSpPr>
          <p:spPr>
            <a:xfrm>
              <a:off x="0" y="769291"/>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1"/>
            <p:cNvSpPr/>
            <p:nvPr/>
          </p:nvSpPr>
          <p:spPr>
            <a:xfrm>
              <a:off x="185295" y="907114"/>
              <a:ext cx="336900" cy="3369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707490" y="769291"/>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1"/>
            <p:cNvSpPr txBox="1"/>
            <p:nvPr/>
          </p:nvSpPr>
          <p:spPr>
            <a:xfrm>
              <a:off x="707490" y="769291"/>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Data Analysis</a:t>
              </a:r>
              <a:endParaRPr/>
            </a:p>
          </p:txBody>
        </p:sp>
        <p:sp>
          <p:nvSpPr>
            <p:cNvPr id="307" name="Google Shape;307;p11"/>
            <p:cNvSpPr/>
            <p:nvPr/>
          </p:nvSpPr>
          <p:spPr>
            <a:xfrm>
              <a:off x="5439510" y="769291"/>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1"/>
            <p:cNvSpPr txBox="1"/>
            <p:nvPr/>
          </p:nvSpPr>
          <p:spPr>
            <a:xfrm>
              <a:off x="5439510" y="769291"/>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to uncover trends, patterns, and insights that can help make informed business decisions.</a:t>
              </a:r>
              <a:endParaRPr sz="1400">
                <a:solidFill>
                  <a:schemeClr val="dk1"/>
                </a:solidFill>
                <a:latin typeface="Arial"/>
                <a:ea typeface="Arial"/>
                <a:cs typeface="Arial"/>
                <a:sym typeface="Arial"/>
              </a:endParaRPr>
            </a:p>
          </p:txBody>
        </p:sp>
        <p:sp>
          <p:nvSpPr>
            <p:cNvPr id="309" name="Google Shape;309;p11"/>
            <p:cNvSpPr/>
            <p:nvPr/>
          </p:nvSpPr>
          <p:spPr>
            <a:xfrm>
              <a:off x="0" y="1534973"/>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1"/>
            <p:cNvSpPr/>
            <p:nvPr/>
          </p:nvSpPr>
          <p:spPr>
            <a:xfrm>
              <a:off x="185295" y="1672796"/>
              <a:ext cx="336900" cy="336900"/>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a:off x="707490" y="1534973"/>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1"/>
            <p:cNvSpPr txBox="1"/>
            <p:nvPr/>
          </p:nvSpPr>
          <p:spPr>
            <a:xfrm>
              <a:off x="707490" y="1534973"/>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Process Improvement</a:t>
              </a:r>
              <a:endParaRPr sz="1900">
                <a:solidFill>
                  <a:schemeClr val="dk1"/>
                </a:solidFill>
                <a:latin typeface="Arial"/>
                <a:ea typeface="Arial"/>
                <a:cs typeface="Arial"/>
                <a:sym typeface="Arial"/>
              </a:endParaRPr>
            </a:p>
          </p:txBody>
        </p:sp>
        <p:sp>
          <p:nvSpPr>
            <p:cNvPr id="313" name="Google Shape;313;p11"/>
            <p:cNvSpPr/>
            <p:nvPr/>
          </p:nvSpPr>
          <p:spPr>
            <a:xfrm>
              <a:off x="5439510" y="1534973"/>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1"/>
            <p:cNvSpPr txBox="1"/>
            <p:nvPr/>
          </p:nvSpPr>
          <p:spPr>
            <a:xfrm>
              <a:off x="5439510" y="1534973"/>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to increase efficiency and effectiveness.</a:t>
              </a:r>
              <a:endParaRPr sz="1400">
                <a:solidFill>
                  <a:schemeClr val="dk1"/>
                </a:solidFill>
                <a:latin typeface="Arial"/>
                <a:ea typeface="Arial"/>
                <a:cs typeface="Arial"/>
                <a:sym typeface="Arial"/>
              </a:endParaRPr>
            </a:p>
          </p:txBody>
        </p:sp>
        <p:sp>
          <p:nvSpPr>
            <p:cNvPr id="315" name="Google Shape;315;p11"/>
            <p:cNvSpPr/>
            <p:nvPr/>
          </p:nvSpPr>
          <p:spPr>
            <a:xfrm>
              <a:off x="0" y="2300655"/>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1"/>
            <p:cNvSpPr/>
            <p:nvPr/>
          </p:nvSpPr>
          <p:spPr>
            <a:xfrm>
              <a:off x="185295" y="2438478"/>
              <a:ext cx="336900" cy="336900"/>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707490" y="2300655"/>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1"/>
            <p:cNvSpPr txBox="1"/>
            <p:nvPr/>
          </p:nvSpPr>
          <p:spPr>
            <a:xfrm>
              <a:off x="707490" y="2300655"/>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Solution Design</a:t>
              </a:r>
              <a:endParaRPr sz="1900">
                <a:solidFill>
                  <a:schemeClr val="dk1"/>
                </a:solidFill>
                <a:latin typeface="Arial"/>
                <a:ea typeface="Arial"/>
                <a:cs typeface="Arial"/>
                <a:sym typeface="Arial"/>
              </a:endParaRPr>
            </a:p>
          </p:txBody>
        </p:sp>
        <p:sp>
          <p:nvSpPr>
            <p:cNvPr id="319" name="Google Shape;319;p11"/>
            <p:cNvSpPr/>
            <p:nvPr/>
          </p:nvSpPr>
          <p:spPr>
            <a:xfrm>
              <a:off x="5439510" y="2300655"/>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1"/>
            <p:cNvSpPr txBox="1"/>
            <p:nvPr/>
          </p:nvSpPr>
          <p:spPr>
            <a:xfrm>
              <a:off x="5439510" y="2300655"/>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which could include new software applications, process changes, or other innovations, to meet business requirements.</a:t>
              </a:r>
              <a:endParaRPr sz="1400">
                <a:solidFill>
                  <a:schemeClr val="dk1"/>
                </a:solidFill>
                <a:latin typeface="Arial"/>
                <a:ea typeface="Arial"/>
                <a:cs typeface="Arial"/>
                <a:sym typeface="Arial"/>
              </a:endParaRPr>
            </a:p>
          </p:txBody>
        </p:sp>
        <p:sp>
          <p:nvSpPr>
            <p:cNvPr id="321" name="Google Shape;321;p11"/>
            <p:cNvSpPr/>
            <p:nvPr/>
          </p:nvSpPr>
          <p:spPr>
            <a:xfrm>
              <a:off x="0" y="3066337"/>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1"/>
            <p:cNvSpPr/>
            <p:nvPr/>
          </p:nvSpPr>
          <p:spPr>
            <a:xfrm>
              <a:off x="185295" y="3204160"/>
              <a:ext cx="336900" cy="336900"/>
            </a:xfrm>
            <a:prstGeom prst="rect">
              <a:avLst/>
            </a:prstGeom>
            <a:blipFill rotWithShape="1">
              <a:blip r:embed="rId7">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707490" y="3066337"/>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1"/>
            <p:cNvSpPr txBox="1"/>
            <p:nvPr/>
          </p:nvSpPr>
          <p:spPr>
            <a:xfrm>
              <a:off x="707490" y="3066337"/>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Testing and Validation</a:t>
              </a:r>
              <a:endParaRPr sz="1900">
                <a:solidFill>
                  <a:schemeClr val="dk1"/>
                </a:solidFill>
                <a:latin typeface="Arial"/>
                <a:ea typeface="Arial"/>
                <a:cs typeface="Arial"/>
                <a:sym typeface="Arial"/>
              </a:endParaRPr>
            </a:p>
          </p:txBody>
        </p:sp>
        <p:sp>
          <p:nvSpPr>
            <p:cNvPr id="325" name="Google Shape;325;p11"/>
            <p:cNvSpPr/>
            <p:nvPr/>
          </p:nvSpPr>
          <p:spPr>
            <a:xfrm>
              <a:off x="5439510" y="3066337"/>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1"/>
            <p:cNvSpPr txBox="1"/>
            <p:nvPr/>
          </p:nvSpPr>
          <p:spPr>
            <a:xfrm>
              <a:off x="5439510" y="3066337"/>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proposed solutions are thoroughly tested and validated to meet the business needs effectively.</a:t>
              </a:r>
              <a:endParaRPr sz="1400">
                <a:solidFill>
                  <a:schemeClr val="dk1"/>
                </a:solidFill>
                <a:latin typeface="Arial"/>
                <a:ea typeface="Arial"/>
                <a:cs typeface="Arial"/>
                <a:sym typeface="Arial"/>
              </a:endParaRPr>
            </a:p>
          </p:txBody>
        </p:sp>
        <p:sp>
          <p:nvSpPr>
            <p:cNvPr id="327" name="Google Shape;327;p11"/>
            <p:cNvSpPr/>
            <p:nvPr/>
          </p:nvSpPr>
          <p:spPr>
            <a:xfrm>
              <a:off x="0" y="3832019"/>
              <a:ext cx="10515600" cy="612545"/>
            </a:xfrm>
            <a:prstGeom prst="roundRect">
              <a:avLst>
                <a:gd name="adj" fmla="val 10000"/>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1"/>
            <p:cNvSpPr/>
            <p:nvPr/>
          </p:nvSpPr>
          <p:spPr>
            <a:xfrm>
              <a:off x="185295" y="3969842"/>
              <a:ext cx="336900" cy="336900"/>
            </a:xfrm>
            <a:prstGeom prst="rect">
              <a:avLst/>
            </a:prstGeom>
            <a:blipFill rotWithShape="1">
              <a:blip r:embed="rId8">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1"/>
            <p:cNvSpPr/>
            <p:nvPr/>
          </p:nvSpPr>
          <p:spPr>
            <a:xfrm>
              <a:off x="707490" y="3832019"/>
              <a:ext cx="4732020"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1"/>
            <p:cNvSpPr txBox="1"/>
            <p:nvPr/>
          </p:nvSpPr>
          <p:spPr>
            <a:xfrm>
              <a:off x="707490" y="3832019"/>
              <a:ext cx="4732020"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Communication and Collaboration</a:t>
              </a:r>
              <a:endParaRPr sz="1900">
                <a:solidFill>
                  <a:schemeClr val="dk1"/>
                </a:solidFill>
                <a:latin typeface="Arial"/>
                <a:ea typeface="Arial"/>
                <a:cs typeface="Arial"/>
                <a:sym typeface="Arial"/>
              </a:endParaRPr>
            </a:p>
          </p:txBody>
        </p:sp>
        <p:sp>
          <p:nvSpPr>
            <p:cNvPr id="331" name="Google Shape;331;p11"/>
            <p:cNvSpPr/>
            <p:nvPr/>
          </p:nvSpPr>
          <p:spPr>
            <a:xfrm>
              <a:off x="5439510" y="3832019"/>
              <a:ext cx="5075398" cy="6125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1"/>
            <p:cNvSpPr txBox="1"/>
            <p:nvPr/>
          </p:nvSpPr>
          <p:spPr>
            <a:xfrm>
              <a:off x="5439510" y="3832019"/>
              <a:ext cx="5075398" cy="612545"/>
            </a:xfrm>
            <a:prstGeom prst="rect">
              <a:avLst/>
            </a:prstGeom>
            <a:noFill/>
            <a:ln>
              <a:noFill/>
            </a:ln>
          </p:spPr>
          <p:txBody>
            <a:bodyPr spcFirstLastPara="1" wrap="square" lIns="64825" tIns="64825" rIns="64825" bIns="64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Work closely with different teams (IT, management, other stakeholders) to ensure alignment and smooth implementation of solutions.</a:t>
              </a:r>
              <a:endParaRPr sz="1400">
                <a:solidFill>
                  <a:schemeClr val="dk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b="1">
                <a:latin typeface="Arial"/>
                <a:ea typeface="Arial"/>
                <a:cs typeface="Arial"/>
                <a:sym typeface="Arial"/>
              </a:rPr>
              <a:t>Impact on Business</a:t>
            </a:r>
            <a:br>
              <a:rPr lang="en-US" sz="1800" b="1">
                <a:solidFill>
                  <a:srgbClr val="0F4761"/>
                </a:solidFill>
                <a:latin typeface="Arial"/>
                <a:ea typeface="Arial"/>
                <a:cs typeface="Arial"/>
                <a:sym typeface="Arial"/>
              </a:rPr>
            </a:br>
            <a:endParaRPr/>
          </a:p>
        </p:txBody>
      </p:sp>
      <p:grpSp>
        <p:nvGrpSpPr>
          <p:cNvPr id="338" name="Google Shape;338;p12"/>
          <p:cNvGrpSpPr/>
          <p:nvPr/>
        </p:nvGrpSpPr>
        <p:grpSpPr>
          <a:xfrm>
            <a:off x="846292" y="3022242"/>
            <a:ext cx="10499414" cy="1958102"/>
            <a:chOff x="8092" y="1196617"/>
            <a:chExt cx="10499414" cy="1958102"/>
          </a:xfrm>
        </p:grpSpPr>
        <p:sp>
          <p:nvSpPr>
            <p:cNvPr id="339" name="Google Shape;339;p12"/>
            <p:cNvSpPr/>
            <p:nvPr/>
          </p:nvSpPr>
          <p:spPr>
            <a:xfrm>
              <a:off x="8092" y="1196617"/>
              <a:ext cx="812109" cy="812109"/>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2"/>
            <p:cNvSpPr/>
            <p:nvPr/>
          </p:nvSpPr>
          <p:spPr>
            <a:xfrm>
              <a:off x="8092" y="2092925"/>
              <a:ext cx="2320312" cy="3480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2"/>
            <p:cNvSpPr txBox="1"/>
            <p:nvPr/>
          </p:nvSpPr>
          <p:spPr>
            <a:xfrm>
              <a:off x="8092" y="2092925"/>
              <a:ext cx="2320312" cy="3480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a:solidFill>
                    <a:schemeClr val="dk1"/>
                  </a:solidFill>
                  <a:latin typeface="Arial"/>
                  <a:ea typeface="Arial"/>
                  <a:cs typeface="Arial"/>
                  <a:sym typeface="Arial"/>
                </a:rPr>
                <a:t>Efficiency</a:t>
              </a:r>
              <a:endParaRPr sz="1600">
                <a:solidFill>
                  <a:schemeClr val="dk1"/>
                </a:solidFill>
                <a:latin typeface="Arial"/>
                <a:ea typeface="Arial"/>
                <a:cs typeface="Arial"/>
                <a:sym typeface="Arial"/>
              </a:endParaRPr>
            </a:p>
          </p:txBody>
        </p:sp>
        <p:sp>
          <p:nvSpPr>
            <p:cNvPr id="342" name="Google Shape;342;p12"/>
            <p:cNvSpPr/>
            <p:nvPr/>
          </p:nvSpPr>
          <p:spPr>
            <a:xfrm>
              <a:off x="8092" y="2480134"/>
              <a:ext cx="2320312" cy="674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2"/>
            <p:cNvSpPr txBox="1"/>
            <p:nvPr/>
          </p:nvSpPr>
          <p:spPr>
            <a:xfrm>
              <a:off x="8092" y="2480134"/>
              <a:ext cx="2320312" cy="6745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Optimizing processes and systems.</a:t>
              </a:r>
              <a:endParaRPr sz="1400">
                <a:solidFill>
                  <a:schemeClr val="dk1"/>
                </a:solidFill>
                <a:latin typeface="Arial"/>
                <a:ea typeface="Arial"/>
                <a:cs typeface="Arial"/>
                <a:sym typeface="Arial"/>
              </a:endParaRPr>
            </a:p>
          </p:txBody>
        </p:sp>
        <p:sp>
          <p:nvSpPr>
            <p:cNvPr id="344" name="Google Shape;344;p12"/>
            <p:cNvSpPr/>
            <p:nvPr/>
          </p:nvSpPr>
          <p:spPr>
            <a:xfrm>
              <a:off x="2734460" y="1196617"/>
              <a:ext cx="812109" cy="812109"/>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2"/>
            <p:cNvSpPr/>
            <p:nvPr/>
          </p:nvSpPr>
          <p:spPr>
            <a:xfrm>
              <a:off x="2734460" y="2092925"/>
              <a:ext cx="2320312" cy="3480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2"/>
            <p:cNvSpPr txBox="1"/>
            <p:nvPr/>
          </p:nvSpPr>
          <p:spPr>
            <a:xfrm>
              <a:off x="2734460" y="2092925"/>
              <a:ext cx="2320312" cy="3480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a:solidFill>
                    <a:schemeClr val="dk1"/>
                  </a:solidFill>
                  <a:latin typeface="Arial"/>
                  <a:ea typeface="Arial"/>
                  <a:cs typeface="Arial"/>
                  <a:sym typeface="Arial"/>
                </a:rPr>
                <a:t>Informed Decisions</a:t>
              </a:r>
              <a:endParaRPr sz="1600">
                <a:solidFill>
                  <a:schemeClr val="dk1"/>
                </a:solidFill>
                <a:latin typeface="Arial"/>
                <a:ea typeface="Arial"/>
                <a:cs typeface="Arial"/>
                <a:sym typeface="Arial"/>
              </a:endParaRPr>
            </a:p>
          </p:txBody>
        </p:sp>
        <p:sp>
          <p:nvSpPr>
            <p:cNvPr id="347" name="Google Shape;347;p12"/>
            <p:cNvSpPr/>
            <p:nvPr/>
          </p:nvSpPr>
          <p:spPr>
            <a:xfrm>
              <a:off x="2734460" y="2480134"/>
              <a:ext cx="2320312" cy="674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2"/>
            <p:cNvSpPr txBox="1"/>
            <p:nvPr/>
          </p:nvSpPr>
          <p:spPr>
            <a:xfrm>
              <a:off x="2734460" y="2480134"/>
              <a:ext cx="2320312" cy="6745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Providing valuable insights from data analysis.</a:t>
              </a:r>
              <a:endParaRPr sz="1400">
                <a:solidFill>
                  <a:schemeClr val="dk1"/>
                </a:solidFill>
                <a:latin typeface="Arial"/>
                <a:ea typeface="Arial"/>
                <a:cs typeface="Arial"/>
                <a:sym typeface="Arial"/>
              </a:endParaRPr>
            </a:p>
          </p:txBody>
        </p:sp>
        <p:sp>
          <p:nvSpPr>
            <p:cNvPr id="349" name="Google Shape;349;p12"/>
            <p:cNvSpPr/>
            <p:nvPr/>
          </p:nvSpPr>
          <p:spPr>
            <a:xfrm>
              <a:off x="5460827" y="1196617"/>
              <a:ext cx="812109" cy="812109"/>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2"/>
            <p:cNvSpPr/>
            <p:nvPr/>
          </p:nvSpPr>
          <p:spPr>
            <a:xfrm>
              <a:off x="5460827" y="2092925"/>
              <a:ext cx="2320312" cy="3480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2"/>
            <p:cNvSpPr txBox="1"/>
            <p:nvPr/>
          </p:nvSpPr>
          <p:spPr>
            <a:xfrm>
              <a:off x="5460827" y="2092925"/>
              <a:ext cx="2320312" cy="3480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a:solidFill>
                    <a:schemeClr val="dk1"/>
                  </a:solidFill>
                  <a:latin typeface="Arial"/>
                  <a:ea typeface="Arial"/>
                  <a:cs typeface="Arial"/>
                  <a:sym typeface="Arial"/>
                </a:rPr>
                <a:t>Cost Reduction</a:t>
              </a:r>
              <a:endParaRPr sz="1600">
                <a:solidFill>
                  <a:schemeClr val="dk1"/>
                </a:solidFill>
                <a:latin typeface="Arial"/>
                <a:ea typeface="Arial"/>
                <a:cs typeface="Arial"/>
                <a:sym typeface="Arial"/>
              </a:endParaRPr>
            </a:p>
          </p:txBody>
        </p:sp>
        <p:sp>
          <p:nvSpPr>
            <p:cNvPr id="352" name="Google Shape;352;p12"/>
            <p:cNvSpPr/>
            <p:nvPr/>
          </p:nvSpPr>
          <p:spPr>
            <a:xfrm>
              <a:off x="5460827" y="2480134"/>
              <a:ext cx="2320312" cy="674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2"/>
            <p:cNvSpPr txBox="1"/>
            <p:nvPr/>
          </p:nvSpPr>
          <p:spPr>
            <a:xfrm>
              <a:off x="5460827" y="2480134"/>
              <a:ext cx="2320312" cy="6745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Identifying and eliminating inefficiencies.</a:t>
              </a:r>
              <a:endParaRPr sz="1400">
                <a:solidFill>
                  <a:schemeClr val="dk1"/>
                </a:solidFill>
                <a:latin typeface="Arial"/>
                <a:ea typeface="Arial"/>
                <a:cs typeface="Arial"/>
                <a:sym typeface="Arial"/>
              </a:endParaRPr>
            </a:p>
          </p:txBody>
        </p:sp>
        <p:sp>
          <p:nvSpPr>
            <p:cNvPr id="354" name="Google Shape;354;p12"/>
            <p:cNvSpPr/>
            <p:nvPr/>
          </p:nvSpPr>
          <p:spPr>
            <a:xfrm>
              <a:off x="8187194" y="1196617"/>
              <a:ext cx="812109" cy="812109"/>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2"/>
            <p:cNvSpPr/>
            <p:nvPr/>
          </p:nvSpPr>
          <p:spPr>
            <a:xfrm>
              <a:off x="8187194" y="2092925"/>
              <a:ext cx="2320312" cy="34804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2"/>
            <p:cNvSpPr txBox="1"/>
            <p:nvPr/>
          </p:nvSpPr>
          <p:spPr>
            <a:xfrm>
              <a:off x="8187194" y="2092925"/>
              <a:ext cx="2320312" cy="3480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b="1">
                  <a:solidFill>
                    <a:schemeClr val="dk1"/>
                  </a:solidFill>
                  <a:latin typeface="Arial"/>
                  <a:ea typeface="Arial"/>
                  <a:cs typeface="Arial"/>
                  <a:sym typeface="Arial"/>
                </a:rPr>
                <a:t>Stakeholder Satisfaction</a:t>
              </a:r>
              <a:endParaRPr sz="1600">
                <a:solidFill>
                  <a:schemeClr val="dk1"/>
                </a:solidFill>
                <a:latin typeface="Arial"/>
                <a:ea typeface="Arial"/>
                <a:cs typeface="Arial"/>
                <a:sym typeface="Arial"/>
              </a:endParaRPr>
            </a:p>
          </p:txBody>
        </p:sp>
        <p:sp>
          <p:nvSpPr>
            <p:cNvPr id="357" name="Google Shape;357;p12"/>
            <p:cNvSpPr/>
            <p:nvPr/>
          </p:nvSpPr>
          <p:spPr>
            <a:xfrm>
              <a:off x="8187194" y="2480134"/>
              <a:ext cx="2320312" cy="674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2"/>
            <p:cNvSpPr txBox="1"/>
            <p:nvPr/>
          </p:nvSpPr>
          <p:spPr>
            <a:xfrm>
              <a:off x="8187194" y="2480134"/>
              <a:ext cx="2320312" cy="67458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Ensuring that business solutions meet the needs of all stakeholders.</a:t>
              </a:r>
              <a:endParaRPr sz="1400">
                <a:solidFill>
                  <a:schemeClr val="dk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2"/>
        <p:cNvGrpSpPr/>
        <p:nvPr/>
      </p:nvGrpSpPr>
      <p:grpSpPr>
        <a:xfrm>
          <a:off x="0" y="0"/>
          <a:ext cx="0" cy="0"/>
          <a:chOff x="0" y="0"/>
          <a:chExt cx="0" cy="0"/>
        </a:xfrm>
      </p:grpSpPr>
      <p:sp>
        <p:nvSpPr>
          <p:cNvPr id="363" name="Google Shape;363;p13"/>
          <p:cNvSpPr txBox="1">
            <a:spLocks noGrp="1"/>
          </p:cNvSpPr>
          <p:nvPr>
            <p:ph type="title"/>
          </p:nvPr>
        </p:nvSpPr>
        <p:spPr>
          <a:xfrm>
            <a:off x="761840" y="1138266"/>
            <a:ext cx="8509160" cy="985174"/>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Business Analysis Process Overview</a:t>
            </a:r>
            <a:endParaRPr/>
          </a:p>
        </p:txBody>
      </p:sp>
      <p:cxnSp>
        <p:nvCxnSpPr>
          <p:cNvPr id="364" name="Google Shape;364;p13"/>
          <p:cNvCxnSpPr/>
          <p:nvPr/>
        </p:nvCxnSpPr>
        <p:spPr>
          <a:xfrm>
            <a:off x="861462" y="871146"/>
            <a:ext cx="736939" cy="0"/>
          </a:xfrm>
          <a:prstGeom prst="straightConnector1">
            <a:avLst/>
          </a:prstGeom>
          <a:noFill/>
          <a:ln w="57150" cap="flat" cmpd="sng">
            <a:solidFill>
              <a:schemeClr val="accent4"/>
            </a:solidFill>
            <a:prstDash val="solid"/>
            <a:miter lim="800000"/>
            <a:headEnd type="none" w="sm" len="sm"/>
            <a:tailEnd type="none" w="sm" len="sm"/>
          </a:ln>
        </p:spPr>
      </p:cxnSp>
      <p:grpSp>
        <p:nvGrpSpPr>
          <p:cNvPr id="365" name="Google Shape;365;p13"/>
          <p:cNvGrpSpPr/>
          <p:nvPr/>
        </p:nvGrpSpPr>
        <p:grpSpPr>
          <a:xfrm>
            <a:off x="764781" y="2687630"/>
            <a:ext cx="11231237" cy="3382658"/>
            <a:chOff x="2941" y="564190"/>
            <a:chExt cx="11231237" cy="3382658"/>
          </a:xfrm>
        </p:grpSpPr>
        <p:sp>
          <p:nvSpPr>
            <p:cNvPr id="366" name="Google Shape;366;p13"/>
            <p:cNvSpPr/>
            <p:nvPr/>
          </p:nvSpPr>
          <p:spPr>
            <a:xfrm>
              <a:off x="2941"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3"/>
            <p:cNvSpPr txBox="1"/>
            <p:nvPr/>
          </p:nvSpPr>
          <p:spPr>
            <a:xfrm>
              <a:off x="19453"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i="0">
                  <a:solidFill>
                    <a:schemeClr val="lt1"/>
                  </a:solidFill>
                  <a:latin typeface="Arial"/>
                  <a:ea typeface="Arial"/>
                  <a:cs typeface="Arial"/>
                  <a:sym typeface="Arial"/>
                </a:rPr>
                <a:t>Initiation</a:t>
              </a:r>
              <a:endParaRPr sz="1100">
                <a:solidFill>
                  <a:schemeClr val="lt1"/>
                </a:solidFill>
                <a:latin typeface="Arial"/>
                <a:ea typeface="Arial"/>
                <a:cs typeface="Arial"/>
                <a:sym typeface="Arial"/>
              </a:endParaRPr>
            </a:p>
          </p:txBody>
        </p:sp>
        <p:sp>
          <p:nvSpPr>
            <p:cNvPr id="368" name="Google Shape;368;p13"/>
            <p:cNvSpPr/>
            <p:nvPr/>
          </p:nvSpPr>
          <p:spPr>
            <a:xfrm>
              <a:off x="115696"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69" name="Google Shape;369;p13"/>
            <p:cNvSpPr/>
            <p:nvPr/>
          </p:nvSpPr>
          <p:spPr>
            <a:xfrm>
              <a:off x="228451"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3"/>
            <p:cNvSpPr txBox="1"/>
            <p:nvPr/>
          </p:nvSpPr>
          <p:spPr>
            <a:xfrm>
              <a:off x="244963"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rgbClr val="000000"/>
                </a:buClr>
                <a:buSzPts val="1200"/>
                <a:buFont typeface="Arial"/>
                <a:buNone/>
              </a:pPr>
              <a:r>
                <a:rPr lang="en-US" sz="1200" b="1">
                  <a:solidFill>
                    <a:srgbClr val="000000"/>
                  </a:solidFill>
                  <a:latin typeface="Arial"/>
                  <a:ea typeface="Arial"/>
                  <a:cs typeface="Arial"/>
                  <a:sym typeface="Arial"/>
                </a:rPr>
                <a:t>Identify Problem</a:t>
              </a:r>
              <a:endParaRPr/>
            </a:p>
          </p:txBody>
        </p:sp>
        <p:sp>
          <p:nvSpPr>
            <p:cNvPr id="371" name="Google Shape;371;p13"/>
            <p:cNvSpPr/>
            <p:nvPr/>
          </p:nvSpPr>
          <p:spPr>
            <a:xfrm>
              <a:off x="115696"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72" name="Google Shape;372;p13"/>
            <p:cNvSpPr/>
            <p:nvPr/>
          </p:nvSpPr>
          <p:spPr>
            <a:xfrm>
              <a:off x="228451"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3"/>
            <p:cNvSpPr txBox="1"/>
            <p:nvPr/>
          </p:nvSpPr>
          <p:spPr>
            <a:xfrm>
              <a:off x="244963"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Define Objectives</a:t>
              </a:r>
              <a:endParaRPr sz="1200">
                <a:solidFill>
                  <a:schemeClr val="dk1"/>
                </a:solidFill>
                <a:latin typeface="Arial"/>
                <a:ea typeface="Arial"/>
                <a:cs typeface="Arial"/>
                <a:sym typeface="Arial"/>
              </a:endParaRPr>
            </a:p>
          </p:txBody>
        </p:sp>
        <p:sp>
          <p:nvSpPr>
            <p:cNvPr id="374" name="Google Shape;374;p13"/>
            <p:cNvSpPr/>
            <p:nvPr/>
          </p:nvSpPr>
          <p:spPr>
            <a:xfrm>
              <a:off x="115696"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75" name="Google Shape;375;p13"/>
            <p:cNvSpPr/>
            <p:nvPr/>
          </p:nvSpPr>
          <p:spPr>
            <a:xfrm>
              <a:off x="228451" y="2678352"/>
              <a:ext cx="1113571"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3"/>
            <p:cNvSpPr txBox="1"/>
            <p:nvPr/>
          </p:nvSpPr>
          <p:spPr>
            <a:xfrm>
              <a:off x="244963" y="2694864"/>
              <a:ext cx="1080547"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Stakeholder Analysis</a:t>
              </a:r>
              <a:endParaRPr sz="1200">
                <a:solidFill>
                  <a:schemeClr val="dk1"/>
                </a:solidFill>
                <a:latin typeface="Arial"/>
                <a:ea typeface="Arial"/>
                <a:cs typeface="Arial"/>
                <a:sym typeface="Arial"/>
              </a:endParaRPr>
            </a:p>
          </p:txBody>
        </p:sp>
        <p:sp>
          <p:nvSpPr>
            <p:cNvPr id="377" name="Google Shape;377;p13"/>
            <p:cNvSpPr/>
            <p:nvPr/>
          </p:nvSpPr>
          <p:spPr>
            <a:xfrm>
              <a:off x="1412382"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txBox="1"/>
            <p:nvPr/>
          </p:nvSpPr>
          <p:spPr>
            <a:xfrm>
              <a:off x="1428894"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a:solidFill>
                    <a:schemeClr val="lt1"/>
                  </a:solidFill>
                  <a:latin typeface="Arial"/>
                  <a:ea typeface="Arial"/>
                  <a:cs typeface="Arial"/>
                  <a:sym typeface="Arial"/>
                </a:rPr>
                <a:t>Requirements Gathering</a:t>
              </a:r>
              <a:endParaRPr sz="1100">
                <a:solidFill>
                  <a:schemeClr val="lt1"/>
                </a:solidFill>
                <a:latin typeface="Arial"/>
                <a:ea typeface="Arial"/>
                <a:cs typeface="Arial"/>
                <a:sym typeface="Arial"/>
              </a:endParaRPr>
            </a:p>
          </p:txBody>
        </p:sp>
        <p:sp>
          <p:nvSpPr>
            <p:cNvPr id="379" name="Google Shape;379;p13"/>
            <p:cNvSpPr/>
            <p:nvPr/>
          </p:nvSpPr>
          <p:spPr>
            <a:xfrm>
              <a:off x="1525137"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80" name="Google Shape;380;p13"/>
            <p:cNvSpPr/>
            <p:nvPr/>
          </p:nvSpPr>
          <p:spPr>
            <a:xfrm>
              <a:off x="1637892"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txBox="1"/>
            <p:nvPr/>
          </p:nvSpPr>
          <p:spPr>
            <a:xfrm>
              <a:off x="1654404"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Elicitation</a:t>
              </a:r>
              <a:endParaRPr sz="1200">
                <a:solidFill>
                  <a:schemeClr val="dk1"/>
                </a:solidFill>
                <a:latin typeface="Arial"/>
                <a:ea typeface="Arial"/>
                <a:cs typeface="Arial"/>
                <a:sym typeface="Arial"/>
              </a:endParaRPr>
            </a:p>
          </p:txBody>
        </p:sp>
        <p:sp>
          <p:nvSpPr>
            <p:cNvPr id="382" name="Google Shape;382;p13"/>
            <p:cNvSpPr/>
            <p:nvPr/>
          </p:nvSpPr>
          <p:spPr>
            <a:xfrm>
              <a:off x="1525137"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83" name="Google Shape;383;p13"/>
            <p:cNvSpPr/>
            <p:nvPr/>
          </p:nvSpPr>
          <p:spPr>
            <a:xfrm>
              <a:off x="1637892" y="1973631"/>
              <a:ext cx="126080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3"/>
            <p:cNvSpPr txBox="1"/>
            <p:nvPr/>
          </p:nvSpPr>
          <p:spPr>
            <a:xfrm>
              <a:off x="1654404" y="1990143"/>
              <a:ext cx="122777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Documentation</a:t>
              </a:r>
              <a:endParaRPr sz="1200">
                <a:solidFill>
                  <a:schemeClr val="dk1"/>
                </a:solidFill>
                <a:latin typeface="Arial"/>
                <a:ea typeface="Arial"/>
                <a:cs typeface="Arial"/>
                <a:sym typeface="Arial"/>
              </a:endParaRPr>
            </a:p>
          </p:txBody>
        </p:sp>
        <p:sp>
          <p:nvSpPr>
            <p:cNvPr id="385" name="Google Shape;385;p13"/>
            <p:cNvSpPr/>
            <p:nvPr/>
          </p:nvSpPr>
          <p:spPr>
            <a:xfrm>
              <a:off x="1525137"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86" name="Google Shape;386;p13"/>
            <p:cNvSpPr/>
            <p:nvPr/>
          </p:nvSpPr>
          <p:spPr>
            <a:xfrm>
              <a:off x="1637892" y="2678352"/>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3"/>
            <p:cNvSpPr txBox="1"/>
            <p:nvPr/>
          </p:nvSpPr>
          <p:spPr>
            <a:xfrm>
              <a:off x="1654404" y="2694864"/>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Validation</a:t>
              </a:r>
              <a:endParaRPr sz="1200">
                <a:solidFill>
                  <a:schemeClr val="dk1"/>
                </a:solidFill>
                <a:latin typeface="Arial"/>
                <a:ea typeface="Arial"/>
                <a:cs typeface="Arial"/>
                <a:sym typeface="Arial"/>
              </a:endParaRPr>
            </a:p>
          </p:txBody>
        </p:sp>
        <p:sp>
          <p:nvSpPr>
            <p:cNvPr id="388" name="Google Shape;388;p13"/>
            <p:cNvSpPr/>
            <p:nvPr/>
          </p:nvSpPr>
          <p:spPr>
            <a:xfrm>
              <a:off x="2955072"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3"/>
            <p:cNvSpPr txBox="1"/>
            <p:nvPr/>
          </p:nvSpPr>
          <p:spPr>
            <a:xfrm>
              <a:off x="2971584"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i="0">
                  <a:solidFill>
                    <a:schemeClr val="lt1"/>
                  </a:solidFill>
                  <a:latin typeface="Arial"/>
                  <a:ea typeface="Arial"/>
                  <a:cs typeface="Arial"/>
                  <a:sym typeface="Arial"/>
                </a:rPr>
                <a:t>Analysis</a:t>
              </a:r>
              <a:endParaRPr sz="1100">
                <a:solidFill>
                  <a:schemeClr val="lt1"/>
                </a:solidFill>
                <a:latin typeface="Arial"/>
                <a:ea typeface="Arial"/>
                <a:cs typeface="Arial"/>
                <a:sym typeface="Arial"/>
              </a:endParaRPr>
            </a:p>
          </p:txBody>
        </p:sp>
        <p:sp>
          <p:nvSpPr>
            <p:cNvPr id="390" name="Google Shape;390;p13"/>
            <p:cNvSpPr/>
            <p:nvPr/>
          </p:nvSpPr>
          <p:spPr>
            <a:xfrm>
              <a:off x="3067828"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91" name="Google Shape;391;p13"/>
            <p:cNvSpPr/>
            <p:nvPr/>
          </p:nvSpPr>
          <p:spPr>
            <a:xfrm>
              <a:off x="3180583"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3"/>
            <p:cNvSpPr txBox="1"/>
            <p:nvPr/>
          </p:nvSpPr>
          <p:spPr>
            <a:xfrm>
              <a:off x="3197095"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Current State Analysis</a:t>
              </a:r>
              <a:endParaRPr sz="1200">
                <a:solidFill>
                  <a:schemeClr val="dk1"/>
                </a:solidFill>
                <a:latin typeface="Arial"/>
                <a:ea typeface="Arial"/>
                <a:cs typeface="Arial"/>
                <a:sym typeface="Arial"/>
              </a:endParaRPr>
            </a:p>
          </p:txBody>
        </p:sp>
        <p:sp>
          <p:nvSpPr>
            <p:cNvPr id="393" name="Google Shape;393;p13"/>
            <p:cNvSpPr/>
            <p:nvPr/>
          </p:nvSpPr>
          <p:spPr>
            <a:xfrm>
              <a:off x="3067828"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94" name="Google Shape;394;p13"/>
            <p:cNvSpPr/>
            <p:nvPr/>
          </p:nvSpPr>
          <p:spPr>
            <a:xfrm>
              <a:off x="3180583"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3"/>
            <p:cNvSpPr txBox="1"/>
            <p:nvPr/>
          </p:nvSpPr>
          <p:spPr>
            <a:xfrm>
              <a:off x="3197095"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Gap Analysis</a:t>
              </a:r>
              <a:endParaRPr sz="1200">
                <a:solidFill>
                  <a:schemeClr val="dk1"/>
                </a:solidFill>
                <a:latin typeface="Arial"/>
                <a:ea typeface="Arial"/>
                <a:cs typeface="Arial"/>
                <a:sym typeface="Arial"/>
              </a:endParaRPr>
            </a:p>
          </p:txBody>
        </p:sp>
        <p:sp>
          <p:nvSpPr>
            <p:cNvPr id="396" name="Google Shape;396;p13"/>
            <p:cNvSpPr/>
            <p:nvPr/>
          </p:nvSpPr>
          <p:spPr>
            <a:xfrm>
              <a:off x="4364513"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3"/>
            <p:cNvSpPr txBox="1"/>
            <p:nvPr/>
          </p:nvSpPr>
          <p:spPr>
            <a:xfrm>
              <a:off x="4381025"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a:solidFill>
                    <a:schemeClr val="lt1"/>
                  </a:solidFill>
                  <a:latin typeface="Arial"/>
                  <a:ea typeface="Arial"/>
                  <a:cs typeface="Arial"/>
                  <a:sym typeface="Arial"/>
                </a:rPr>
                <a:t>Solution Design</a:t>
              </a:r>
              <a:endParaRPr sz="1100">
                <a:solidFill>
                  <a:schemeClr val="lt1"/>
                </a:solidFill>
                <a:latin typeface="Arial"/>
                <a:ea typeface="Arial"/>
                <a:cs typeface="Arial"/>
                <a:sym typeface="Arial"/>
              </a:endParaRPr>
            </a:p>
          </p:txBody>
        </p:sp>
        <p:sp>
          <p:nvSpPr>
            <p:cNvPr id="398" name="Google Shape;398;p13"/>
            <p:cNvSpPr/>
            <p:nvPr/>
          </p:nvSpPr>
          <p:spPr>
            <a:xfrm>
              <a:off x="4477269"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399" name="Google Shape;399;p13"/>
            <p:cNvSpPr/>
            <p:nvPr/>
          </p:nvSpPr>
          <p:spPr>
            <a:xfrm>
              <a:off x="4590024"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3"/>
            <p:cNvSpPr txBox="1"/>
            <p:nvPr/>
          </p:nvSpPr>
          <p:spPr>
            <a:xfrm>
              <a:off x="4606536"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Develop Solution</a:t>
              </a:r>
              <a:endParaRPr sz="1200">
                <a:solidFill>
                  <a:schemeClr val="dk1"/>
                </a:solidFill>
                <a:latin typeface="Arial"/>
                <a:ea typeface="Arial"/>
                <a:cs typeface="Arial"/>
                <a:sym typeface="Arial"/>
              </a:endParaRPr>
            </a:p>
          </p:txBody>
        </p:sp>
        <p:sp>
          <p:nvSpPr>
            <p:cNvPr id="401" name="Google Shape;401;p13"/>
            <p:cNvSpPr/>
            <p:nvPr/>
          </p:nvSpPr>
          <p:spPr>
            <a:xfrm>
              <a:off x="4477269"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02" name="Google Shape;402;p13"/>
            <p:cNvSpPr/>
            <p:nvPr/>
          </p:nvSpPr>
          <p:spPr>
            <a:xfrm>
              <a:off x="4590024"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13"/>
            <p:cNvSpPr txBox="1"/>
            <p:nvPr/>
          </p:nvSpPr>
          <p:spPr>
            <a:xfrm>
              <a:off x="4606536"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Evaluation</a:t>
              </a:r>
              <a:endParaRPr sz="1200">
                <a:solidFill>
                  <a:schemeClr val="dk1"/>
                </a:solidFill>
                <a:latin typeface="Arial"/>
                <a:ea typeface="Arial"/>
                <a:cs typeface="Arial"/>
                <a:sym typeface="Arial"/>
              </a:endParaRPr>
            </a:p>
          </p:txBody>
        </p:sp>
        <p:sp>
          <p:nvSpPr>
            <p:cNvPr id="404" name="Google Shape;404;p13"/>
            <p:cNvSpPr/>
            <p:nvPr/>
          </p:nvSpPr>
          <p:spPr>
            <a:xfrm>
              <a:off x="5773954"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3"/>
            <p:cNvSpPr txBox="1"/>
            <p:nvPr/>
          </p:nvSpPr>
          <p:spPr>
            <a:xfrm>
              <a:off x="5790466"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i="0">
                  <a:solidFill>
                    <a:schemeClr val="lt1"/>
                  </a:solidFill>
                  <a:latin typeface="Arial"/>
                  <a:ea typeface="Arial"/>
                  <a:cs typeface="Arial"/>
                  <a:sym typeface="Arial"/>
                </a:rPr>
                <a:t>Implementation</a:t>
              </a:r>
              <a:endParaRPr sz="1100">
                <a:solidFill>
                  <a:schemeClr val="lt1"/>
                </a:solidFill>
                <a:latin typeface="Arial"/>
                <a:ea typeface="Arial"/>
                <a:cs typeface="Arial"/>
                <a:sym typeface="Arial"/>
              </a:endParaRPr>
            </a:p>
          </p:txBody>
        </p:sp>
        <p:sp>
          <p:nvSpPr>
            <p:cNvPr id="406" name="Google Shape;406;p13"/>
            <p:cNvSpPr/>
            <p:nvPr/>
          </p:nvSpPr>
          <p:spPr>
            <a:xfrm>
              <a:off x="5886710"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07" name="Google Shape;407;p13"/>
            <p:cNvSpPr/>
            <p:nvPr/>
          </p:nvSpPr>
          <p:spPr>
            <a:xfrm>
              <a:off x="5999465"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3"/>
            <p:cNvSpPr txBox="1"/>
            <p:nvPr/>
          </p:nvSpPr>
          <p:spPr>
            <a:xfrm>
              <a:off x="6015977"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Develop</a:t>
              </a:r>
              <a:endParaRPr sz="1200">
                <a:solidFill>
                  <a:schemeClr val="dk1"/>
                </a:solidFill>
                <a:latin typeface="Arial"/>
                <a:ea typeface="Arial"/>
                <a:cs typeface="Arial"/>
                <a:sym typeface="Arial"/>
              </a:endParaRPr>
            </a:p>
          </p:txBody>
        </p:sp>
        <p:sp>
          <p:nvSpPr>
            <p:cNvPr id="409" name="Google Shape;409;p13"/>
            <p:cNvSpPr/>
            <p:nvPr/>
          </p:nvSpPr>
          <p:spPr>
            <a:xfrm>
              <a:off x="5886710"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10" name="Google Shape;410;p13"/>
            <p:cNvSpPr/>
            <p:nvPr/>
          </p:nvSpPr>
          <p:spPr>
            <a:xfrm>
              <a:off x="5999465"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3"/>
            <p:cNvSpPr txBox="1"/>
            <p:nvPr/>
          </p:nvSpPr>
          <p:spPr>
            <a:xfrm>
              <a:off x="6015977"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Testing</a:t>
              </a:r>
              <a:endParaRPr sz="1200">
                <a:solidFill>
                  <a:schemeClr val="dk1"/>
                </a:solidFill>
                <a:latin typeface="Arial"/>
                <a:ea typeface="Arial"/>
                <a:cs typeface="Arial"/>
                <a:sym typeface="Arial"/>
              </a:endParaRPr>
            </a:p>
          </p:txBody>
        </p:sp>
        <p:sp>
          <p:nvSpPr>
            <p:cNvPr id="412" name="Google Shape;412;p13"/>
            <p:cNvSpPr/>
            <p:nvPr/>
          </p:nvSpPr>
          <p:spPr>
            <a:xfrm>
              <a:off x="5886710"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13" name="Google Shape;413;p13"/>
            <p:cNvSpPr/>
            <p:nvPr/>
          </p:nvSpPr>
          <p:spPr>
            <a:xfrm>
              <a:off x="5999465" y="2678352"/>
              <a:ext cx="1039278"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3"/>
            <p:cNvSpPr txBox="1"/>
            <p:nvPr/>
          </p:nvSpPr>
          <p:spPr>
            <a:xfrm>
              <a:off x="6015977" y="2694864"/>
              <a:ext cx="1006254"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Deployment</a:t>
              </a:r>
              <a:endParaRPr sz="1200">
                <a:solidFill>
                  <a:schemeClr val="dk1"/>
                </a:solidFill>
                <a:latin typeface="Arial"/>
                <a:ea typeface="Arial"/>
                <a:cs typeface="Arial"/>
                <a:sym typeface="Arial"/>
              </a:endParaRPr>
            </a:p>
          </p:txBody>
        </p:sp>
        <p:sp>
          <p:nvSpPr>
            <p:cNvPr id="415" name="Google Shape;415;p13"/>
            <p:cNvSpPr/>
            <p:nvPr/>
          </p:nvSpPr>
          <p:spPr>
            <a:xfrm>
              <a:off x="7183395"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3"/>
            <p:cNvSpPr txBox="1"/>
            <p:nvPr/>
          </p:nvSpPr>
          <p:spPr>
            <a:xfrm>
              <a:off x="7199907"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a:solidFill>
                    <a:schemeClr val="lt1"/>
                  </a:solidFill>
                  <a:latin typeface="Arial"/>
                  <a:ea typeface="Arial"/>
                  <a:cs typeface="Arial"/>
                  <a:sym typeface="Arial"/>
                </a:rPr>
                <a:t>Evaluation</a:t>
              </a:r>
              <a:endParaRPr sz="1100">
                <a:solidFill>
                  <a:schemeClr val="lt1"/>
                </a:solidFill>
                <a:latin typeface="Arial"/>
                <a:ea typeface="Arial"/>
                <a:cs typeface="Arial"/>
                <a:sym typeface="Arial"/>
              </a:endParaRPr>
            </a:p>
          </p:txBody>
        </p:sp>
        <p:sp>
          <p:nvSpPr>
            <p:cNvPr id="417" name="Google Shape;417;p13"/>
            <p:cNvSpPr/>
            <p:nvPr/>
          </p:nvSpPr>
          <p:spPr>
            <a:xfrm>
              <a:off x="7296151"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18" name="Google Shape;418;p13"/>
            <p:cNvSpPr/>
            <p:nvPr/>
          </p:nvSpPr>
          <p:spPr>
            <a:xfrm>
              <a:off x="7408906"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13"/>
            <p:cNvSpPr txBox="1"/>
            <p:nvPr/>
          </p:nvSpPr>
          <p:spPr>
            <a:xfrm>
              <a:off x="7425418"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Monitoring</a:t>
              </a:r>
              <a:endParaRPr sz="1200">
                <a:solidFill>
                  <a:schemeClr val="dk1"/>
                </a:solidFill>
                <a:latin typeface="Arial"/>
                <a:ea typeface="Arial"/>
                <a:cs typeface="Arial"/>
                <a:sym typeface="Arial"/>
              </a:endParaRPr>
            </a:p>
          </p:txBody>
        </p:sp>
        <p:sp>
          <p:nvSpPr>
            <p:cNvPr id="420" name="Google Shape;420;p13"/>
            <p:cNvSpPr/>
            <p:nvPr/>
          </p:nvSpPr>
          <p:spPr>
            <a:xfrm>
              <a:off x="7296151"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21" name="Google Shape;421;p13"/>
            <p:cNvSpPr/>
            <p:nvPr/>
          </p:nvSpPr>
          <p:spPr>
            <a:xfrm>
              <a:off x="7408906"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3"/>
            <p:cNvSpPr txBox="1"/>
            <p:nvPr/>
          </p:nvSpPr>
          <p:spPr>
            <a:xfrm>
              <a:off x="7425418"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Feedback</a:t>
              </a:r>
              <a:endParaRPr sz="1200">
                <a:solidFill>
                  <a:schemeClr val="dk1"/>
                </a:solidFill>
                <a:latin typeface="Arial"/>
                <a:ea typeface="Arial"/>
                <a:cs typeface="Arial"/>
                <a:sym typeface="Arial"/>
              </a:endParaRPr>
            </a:p>
          </p:txBody>
        </p:sp>
        <p:sp>
          <p:nvSpPr>
            <p:cNvPr id="423" name="Google Shape;423;p13"/>
            <p:cNvSpPr/>
            <p:nvPr/>
          </p:nvSpPr>
          <p:spPr>
            <a:xfrm>
              <a:off x="7296151"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24" name="Google Shape;424;p13"/>
            <p:cNvSpPr/>
            <p:nvPr/>
          </p:nvSpPr>
          <p:spPr>
            <a:xfrm>
              <a:off x="7408906" y="2678352"/>
              <a:ext cx="1138395"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13"/>
            <p:cNvSpPr txBox="1"/>
            <p:nvPr/>
          </p:nvSpPr>
          <p:spPr>
            <a:xfrm>
              <a:off x="7425418" y="2694864"/>
              <a:ext cx="1105371"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Continuous Improvement</a:t>
              </a:r>
              <a:endParaRPr sz="1200">
                <a:solidFill>
                  <a:schemeClr val="dk1"/>
                </a:solidFill>
                <a:latin typeface="Arial"/>
                <a:ea typeface="Arial"/>
                <a:cs typeface="Arial"/>
                <a:sym typeface="Arial"/>
              </a:endParaRPr>
            </a:p>
          </p:txBody>
        </p:sp>
        <p:sp>
          <p:nvSpPr>
            <p:cNvPr id="426" name="Google Shape;426;p13"/>
            <p:cNvSpPr/>
            <p:nvPr/>
          </p:nvSpPr>
          <p:spPr>
            <a:xfrm>
              <a:off x="8603679"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13"/>
            <p:cNvSpPr txBox="1"/>
            <p:nvPr/>
          </p:nvSpPr>
          <p:spPr>
            <a:xfrm>
              <a:off x="8620191"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i="0">
                  <a:solidFill>
                    <a:schemeClr val="lt1"/>
                  </a:solidFill>
                  <a:latin typeface="Arial"/>
                  <a:ea typeface="Arial"/>
                  <a:cs typeface="Arial"/>
                  <a:sym typeface="Arial"/>
                </a:rPr>
                <a:t>Closure</a:t>
              </a:r>
              <a:endParaRPr sz="1100">
                <a:solidFill>
                  <a:schemeClr val="lt1"/>
                </a:solidFill>
                <a:latin typeface="Arial"/>
                <a:ea typeface="Arial"/>
                <a:cs typeface="Arial"/>
                <a:sym typeface="Arial"/>
              </a:endParaRPr>
            </a:p>
          </p:txBody>
        </p:sp>
        <p:sp>
          <p:nvSpPr>
            <p:cNvPr id="428" name="Google Shape;428;p13"/>
            <p:cNvSpPr/>
            <p:nvPr/>
          </p:nvSpPr>
          <p:spPr>
            <a:xfrm>
              <a:off x="8716434"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29" name="Google Shape;429;p13"/>
            <p:cNvSpPr/>
            <p:nvPr/>
          </p:nvSpPr>
          <p:spPr>
            <a:xfrm>
              <a:off x="8829189" y="1268911"/>
              <a:ext cx="1221058"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3"/>
            <p:cNvSpPr txBox="1"/>
            <p:nvPr/>
          </p:nvSpPr>
          <p:spPr>
            <a:xfrm>
              <a:off x="8845701" y="1285423"/>
              <a:ext cx="1188034"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Documentation</a:t>
              </a:r>
              <a:endParaRPr sz="1200">
                <a:solidFill>
                  <a:schemeClr val="dk1"/>
                </a:solidFill>
                <a:latin typeface="Arial"/>
                <a:ea typeface="Arial"/>
                <a:cs typeface="Arial"/>
                <a:sym typeface="Arial"/>
              </a:endParaRPr>
            </a:p>
          </p:txBody>
        </p:sp>
        <p:sp>
          <p:nvSpPr>
            <p:cNvPr id="431" name="Google Shape;431;p13"/>
            <p:cNvSpPr/>
            <p:nvPr/>
          </p:nvSpPr>
          <p:spPr>
            <a:xfrm>
              <a:off x="8716434"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32" name="Google Shape;432;p13"/>
            <p:cNvSpPr/>
            <p:nvPr/>
          </p:nvSpPr>
          <p:spPr>
            <a:xfrm>
              <a:off x="8829189"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3"/>
            <p:cNvSpPr txBox="1"/>
            <p:nvPr/>
          </p:nvSpPr>
          <p:spPr>
            <a:xfrm>
              <a:off x="8845701"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Transition</a:t>
              </a:r>
              <a:endParaRPr sz="1400">
                <a:solidFill>
                  <a:schemeClr val="dk1"/>
                </a:solidFill>
                <a:latin typeface="Arial"/>
                <a:ea typeface="Arial"/>
                <a:cs typeface="Arial"/>
                <a:sym typeface="Arial"/>
              </a:endParaRPr>
            </a:p>
          </p:txBody>
        </p:sp>
        <p:sp>
          <p:nvSpPr>
            <p:cNvPr id="434" name="Google Shape;434;p13"/>
            <p:cNvSpPr/>
            <p:nvPr/>
          </p:nvSpPr>
          <p:spPr>
            <a:xfrm>
              <a:off x="8716434"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35" name="Google Shape;435;p13"/>
            <p:cNvSpPr/>
            <p:nvPr/>
          </p:nvSpPr>
          <p:spPr>
            <a:xfrm>
              <a:off x="8829189" y="2678352"/>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3"/>
            <p:cNvSpPr txBox="1"/>
            <p:nvPr/>
          </p:nvSpPr>
          <p:spPr>
            <a:xfrm>
              <a:off x="8845701" y="2694864"/>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Project Closure</a:t>
              </a:r>
              <a:endParaRPr sz="1200">
                <a:solidFill>
                  <a:schemeClr val="dk1"/>
                </a:solidFill>
                <a:latin typeface="Arial"/>
                <a:ea typeface="Arial"/>
                <a:cs typeface="Arial"/>
                <a:sym typeface="Arial"/>
              </a:endParaRPr>
            </a:p>
          </p:txBody>
        </p:sp>
        <p:sp>
          <p:nvSpPr>
            <p:cNvPr id="437" name="Google Shape;437;p13"/>
            <p:cNvSpPr/>
            <p:nvPr/>
          </p:nvSpPr>
          <p:spPr>
            <a:xfrm>
              <a:off x="10106626" y="564190"/>
              <a:ext cx="1127552" cy="563776"/>
            </a:xfrm>
            <a:prstGeom prst="roundRect">
              <a:avLst>
                <a:gd name="adj" fmla="val 10000"/>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3"/>
            <p:cNvSpPr txBox="1"/>
            <p:nvPr/>
          </p:nvSpPr>
          <p:spPr>
            <a:xfrm>
              <a:off x="10123138" y="580702"/>
              <a:ext cx="1094528" cy="530752"/>
            </a:xfrm>
            <a:prstGeom prst="rect">
              <a:avLst/>
            </a:prstGeom>
            <a:noFill/>
            <a:ln>
              <a:noFill/>
            </a:ln>
          </p:spPr>
          <p:txBody>
            <a:bodyPr spcFirstLastPara="1" wrap="square" lIns="20950" tIns="13950" rIns="20950" bIns="13950" anchor="ctr" anchorCtr="0">
              <a:noAutofit/>
            </a:bodyPr>
            <a:lstStyle/>
            <a:p>
              <a:pPr marL="0" marR="0" lvl="0" indent="0" algn="ctr" rtl="0">
                <a:lnSpc>
                  <a:spcPct val="90000"/>
                </a:lnSpc>
                <a:spcBef>
                  <a:spcPts val="0"/>
                </a:spcBef>
                <a:spcAft>
                  <a:spcPts val="0"/>
                </a:spcAft>
                <a:buClr>
                  <a:schemeClr val="lt1"/>
                </a:buClr>
                <a:buSzPts val="1100"/>
                <a:buFont typeface="Arial"/>
                <a:buNone/>
              </a:pPr>
              <a:r>
                <a:rPr lang="en-US" sz="1100" b="1">
                  <a:solidFill>
                    <a:schemeClr val="lt1"/>
                  </a:solidFill>
                  <a:latin typeface="Arial"/>
                  <a:ea typeface="Arial"/>
                  <a:cs typeface="Arial"/>
                  <a:sym typeface="Arial"/>
                </a:rPr>
                <a:t>Tools and Techniques</a:t>
              </a:r>
              <a:endParaRPr sz="1100">
                <a:solidFill>
                  <a:schemeClr val="lt1"/>
                </a:solidFill>
                <a:latin typeface="Arial"/>
                <a:ea typeface="Arial"/>
                <a:cs typeface="Arial"/>
                <a:sym typeface="Arial"/>
              </a:endParaRPr>
            </a:p>
          </p:txBody>
        </p:sp>
        <p:sp>
          <p:nvSpPr>
            <p:cNvPr id="439" name="Google Shape;439;p13"/>
            <p:cNvSpPr/>
            <p:nvPr/>
          </p:nvSpPr>
          <p:spPr>
            <a:xfrm>
              <a:off x="10219381" y="1127967"/>
              <a:ext cx="112755" cy="42283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40" name="Google Shape;440;p13"/>
            <p:cNvSpPr/>
            <p:nvPr/>
          </p:nvSpPr>
          <p:spPr>
            <a:xfrm>
              <a:off x="10332136" y="126891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3"/>
            <p:cNvSpPr txBox="1"/>
            <p:nvPr/>
          </p:nvSpPr>
          <p:spPr>
            <a:xfrm>
              <a:off x="10348648" y="128542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SWOT Analysis</a:t>
              </a:r>
              <a:endParaRPr sz="1200">
                <a:solidFill>
                  <a:schemeClr val="dk1"/>
                </a:solidFill>
                <a:latin typeface="Arial"/>
                <a:ea typeface="Arial"/>
                <a:cs typeface="Arial"/>
                <a:sym typeface="Arial"/>
              </a:endParaRPr>
            </a:p>
          </p:txBody>
        </p:sp>
        <p:sp>
          <p:nvSpPr>
            <p:cNvPr id="442" name="Google Shape;442;p13"/>
            <p:cNvSpPr/>
            <p:nvPr/>
          </p:nvSpPr>
          <p:spPr>
            <a:xfrm>
              <a:off x="10219381" y="1127967"/>
              <a:ext cx="112755" cy="1127552"/>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43" name="Google Shape;443;p13"/>
            <p:cNvSpPr/>
            <p:nvPr/>
          </p:nvSpPr>
          <p:spPr>
            <a:xfrm>
              <a:off x="10332136" y="1973631"/>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13"/>
            <p:cNvSpPr txBox="1"/>
            <p:nvPr/>
          </p:nvSpPr>
          <p:spPr>
            <a:xfrm>
              <a:off x="10348648" y="1990143"/>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Process Mapping</a:t>
              </a:r>
              <a:endParaRPr sz="1200">
                <a:solidFill>
                  <a:schemeClr val="dk1"/>
                </a:solidFill>
                <a:latin typeface="Arial"/>
                <a:ea typeface="Arial"/>
                <a:cs typeface="Arial"/>
                <a:sym typeface="Arial"/>
              </a:endParaRPr>
            </a:p>
          </p:txBody>
        </p:sp>
        <p:sp>
          <p:nvSpPr>
            <p:cNvPr id="445" name="Google Shape;445;p13"/>
            <p:cNvSpPr/>
            <p:nvPr/>
          </p:nvSpPr>
          <p:spPr>
            <a:xfrm>
              <a:off x="10219381" y="1127967"/>
              <a:ext cx="112755" cy="183227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46" name="Google Shape;446;p13"/>
            <p:cNvSpPr/>
            <p:nvPr/>
          </p:nvSpPr>
          <p:spPr>
            <a:xfrm>
              <a:off x="10332136" y="2678352"/>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13"/>
            <p:cNvSpPr txBox="1"/>
            <p:nvPr/>
          </p:nvSpPr>
          <p:spPr>
            <a:xfrm>
              <a:off x="10348648" y="2694864"/>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i="0">
                  <a:solidFill>
                    <a:schemeClr val="dk1"/>
                  </a:solidFill>
                  <a:latin typeface="Arial"/>
                  <a:ea typeface="Arial"/>
                  <a:cs typeface="Arial"/>
                  <a:sym typeface="Arial"/>
                </a:rPr>
                <a:t>Use case Diagrams</a:t>
              </a:r>
              <a:endParaRPr sz="1200">
                <a:solidFill>
                  <a:schemeClr val="dk1"/>
                </a:solidFill>
                <a:latin typeface="Arial"/>
                <a:ea typeface="Arial"/>
                <a:cs typeface="Arial"/>
                <a:sym typeface="Arial"/>
              </a:endParaRPr>
            </a:p>
          </p:txBody>
        </p:sp>
        <p:sp>
          <p:nvSpPr>
            <p:cNvPr id="448" name="Google Shape;448;p13"/>
            <p:cNvSpPr/>
            <p:nvPr/>
          </p:nvSpPr>
          <p:spPr>
            <a:xfrm>
              <a:off x="10219381" y="1127967"/>
              <a:ext cx="112755" cy="2536993"/>
            </a:xfrm>
            <a:custGeom>
              <a:avLst/>
              <a:gdLst/>
              <a:ahLst/>
              <a:cxnLst/>
              <a:rect l="l" t="t" r="r" b="b"/>
              <a:pathLst>
                <a:path w="120000" h="120000" extrusionOk="0">
                  <a:moveTo>
                    <a:pt x="0" y="0"/>
                  </a:moveTo>
                  <a:lnTo>
                    <a:pt x="0" y="120000"/>
                  </a:lnTo>
                  <a:lnTo>
                    <a:pt x="120000" y="120000"/>
                  </a:lnTo>
                </a:path>
              </a:pathLst>
            </a:custGeom>
            <a:noFill/>
            <a:ln w="19050" cap="flat" cmpd="sng">
              <a:solidFill>
                <a:srgbClr val="0D4C67"/>
              </a:solidFill>
              <a:prstDash val="solid"/>
              <a:miter lim="800000"/>
              <a:headEnd type="none" w="sm" len="sm"/>
              <a:tailEnd type="none" w="sm" len="sm"/>
            </a:ln>
          </p:spPr>
        </p:sp>
        <p:sp>
          <p:nvSpPr>
            <p:cNvPr id="449" name="Google Shape;449;p13"/>
            <p:cNvSpPr/>
            <p:nvPr/>
          </p:nvSpPr>
          <p:spPr>
            <a:xfrm>
              <a:off x="10332136" y="3383072"/>
              <a:ext cx="902042" cy="563776"/>
            </a:xfrm>
            <a:prstGeom prst="roundRect">
              <a:avLst>
                <a:gd name="adj" fmla="val 10000"/>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13"/>
            <p:cNvSpPr txBox="1"/>
            <p:nvPr/>
          </p:nvSpPr>
          <p:spPr>
            <a:xfrm>
              <a:off x="10348648" y="3399584"/>
              <a:ext cx="869018" cy="530752"/>
            </a:xfrm>
            <a:prstGeom prst="rect">
              <a:avLst/>
            </a:prstGeom>
            <a:noFill/>
            <a:ln>
              <a:noFill/>
            </a:ln>
          </p:spPr>
          <p:txBody>
            <a:bodyPr spcFirstLastPara="1" wrap="square" lIns="22850" tIns="15225" rIns="22850" bIns="15225" anchor="ctr" anchorCtr="0">
              <a:noAutofit/>
            </a:bodyPr>
            <a:lstStyle/>
            <a:p>
              <a:pPr marL="0" marR="0" lvl="0" indent="0" algn="ctr" rtl="0">
                <a:lnSpc>
                  <a:spcPct val="90000"/>
                </a:lnSpc>
                <a:spcBef>
                  <a:spcPts val="0"/>
                </a:spcBef>
                <a:spcAft>
                  <a:spcPts val="0"/>
                </a:spcAft>
                <a:buClr>
                  <a:schemeClr val="dk1"/>
                </a:buClr>
                <a:buSzPts val="1200"/>
                <a:buFont typeface="Arial"/>
                <a:buNone/>
              </a:pPr>
              <a:r>
                <a:rPr lang="en-US" sz="1200" b="1">
                  <a:solidFill>
                    <a:schemeClr val="dk1"/>
                  </a:solidFill>
                  <a:latin typeface="Arial"/>
                  <a:ea typeface="Arial"/>
                  <a:cs typeface="Arial"/>
                  <a:sym typeface="Arial"/>
                </a:rPr>
                <a:t>Data Modelling</a:t>
              </a:r>
              <a:endParaRPr sz="1200">
                <a:solidFill>
                  <a:schemeClr val="dk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4"/>
        <p:cNvGrpSpPr/>
        <p:nvPr/>
      </p:nvGrpSpPr>
      <p:grpSpPr>
        <a:xfrm>
          <a:off x="0" y="0"/>
          <a:ext cx="0" cy="0"/>
          <a:chOff x="0" y="0"/>
          <a:chExt cx="0" cy="0"/>
        </a:xfrm>
      </p:grpSpPr>
      <p:sp>
        <p:nvSpPr>
          <p:cNvPr id="455" name="Google Shape;455;p14"/>
          <p:cNvSpPr/>
          <p:nvPr/>
        </p:nvSpPr>
        <p:spPr>
          <a:xfrm>
            <a:off x="0" y="28136"/>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6" name="Google Shape;456;p14"/>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7" name="Google Shape;457;p14"/>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8" name="Google Shape;458;p14"/>
          <p:cNvSpPr/>
          <p:nvPr/>
        </p:nvSpPr>
        <p:spPr>
          <a:xfrm rot="5400000" flipH="1">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59" name="Google Shape;459;p14"/>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0" name="Google Shape;460;p14"/>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1" name="Google Shape;461;p14"/>
          <p:cNvSpPr txBox="1">
            <a:spLocks noGrp="1"/>
          </p:cNvSpPr>
          <p:nvPr>
            <p:ph type="title"/>
          </p:nvPr>
        </p:nvSpPr>
        <p:spPr>
          <a:xfrm>
            <a:off x="196948" y="1683756"/>
            <a:ext cx="3504795" cy="2396359"/>
          </a:xfrm>
          <a:prstGeom prst="rect">
            <a:avLst/>
          </a:prstGeom>
          <a:noFill/>
          <a:ln>
            <a:noFill/>
          </a:ln>
        </p:spPr>
        <p:txBody>
          <a:bodyPr spcFirstLastPara="1" wrap="square" lIns="91425" tIns="45700" rIns="91425" bIns="45700" anchor="b" anchorCtr="0">
            <a:normAutofit/>
          </a:bodyPr>
          <a:lstStyle/>
          <a:p>
            <a:pPr marL="0" marR="0" lvl="0" indent="0" algn="r" rtl="0">
              <a:lnSpc>
                <a:spcPct val="90000"/>
              </a:lnSpc>
              <a:spcBef>
                <a:spcPts val="0"/>
              </a:spcBef>
              <a:spcAft>
                <a:spcPts val="0"/>
              </a:spcAft>
              <a:buClr>
                <a:srgbClr val="FFFFFF"/>
              </a:buClr>
              <a:buSzPts val="4400"/>
              <a:buFont typeface="Play"/>
              <a:buNone/>
            </a:pPr>
            <a:r>
              <a:rPr lang="en-US" i="0" u="none" strike="noStrike" dirty="0">
                <a:solidFill>
                  <a:srgbClr val="FFFFFF"/>
                </a:solidFill>
                <a:latin typeface="Play"/>
                <a:ea typeface="Play"/>
                <a:cs typeface="Play"/>
                <a:sym typeface="Play"/>
              </a:rPr>
              <a:t>Introduction to AI</a:t>
            </a:r>
            <a:endParaRPr dirty="0"/>
          </a:p>
        </p:txBody>
      </p:sp>
      <p:grpSp>
        <p:nvGrpSpPr>
          <p:cNvPr id="462" name="Google Shape;462;p14"/>
          <p:cNvGrpSpPr/>
          <p:nvPr/>
        </p:nvGrpSpPr>
        <p:grpSpPr>
          <a:xfrm>
            <a:off x="4905052" y="2391640"/>
            <a:ext cx="6666833" cy="2171520"/>
            <a:chOff x="0" y="1641200"/>
            <a:chExt cx="6666833" cy="2171520"/>
          </a:xfrm>
        </p:grpSpPr>
        <p:sp>
          <p:nvSpPr>
            <p:cNvPr id="463" name="Google Shape;463;p14"/>
            <p:cNvSpPr/>
            <p:nvPr/>
          </p:nvSpPr>
          <p:spPr>
            <a:xfrm>
              <a:off x="0" y="1877360"/>
              <a:ext cx="6666833" cy="403200"/>
            </a:xfrm>
            <a:prstGeom prst="rect">
              <a:avLst/>
            </a:prstGeom>
            <a:solidFill>
              <a:schemeClr val="lt1">
                <a:alpha val="89803"/>
              </a:schemeClr>
            </a:solidFill>
            <a:ln w="12700" cap="flat" cmpd="sng">
              <a:solidFill>
                <a:srgbClr val="A0289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4"/>
            <p:cNvSpPr/>
            <p:nvPr/>
          </p:nvSpPr>
          <p:spPr>
            <a:xfrm>
              <a:off x="333341" y="1641200"/>
              <a:ext cx="4666783" cy="472320"/>
            </a:xfrm>
            <a:prstGeom prst="roundRect">
              <a:avLst>
                <a:gd name="adj" fmla="val 16667"/>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14"/>
            <p:cNvSpPr txBox="1"/>
            <p:nvPr/>
          </p:nvSpPr>
          <p:spPr>
            <a:xfrm>
              <a:off x="356398" y="1664257"/>
              <a:ext cx="4620669" cy="426206"/>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0" i="0">
                  <a:solidFill>
                    <a:schemeClr val="lt1"/>
                  </a:solidFill>
                  <a:latin typeface="Arial"/>
                  <a:ea typeface="Arial"/>
                  <a:cs typeface="Arial"/>
                  <a:sym typeface="Arial"/>
                </a:rPr>
                <a:t>Machines that </a:t>
              </a:r>
              <a:endParaRPr sz="1600">
                <a:solidFill>
                  <a:schemeClr val="lt1"/>
                </a:solidFill>
                <a:latin typeface="Arial"/>
                <a:ea typeface="Arial"/>
                <a:cs typeface="Arial"/>
                <a:sym typeface="Arial"/>
              </a:endParaRPr>
            </a:p>
          </p:txBody>
        </p:sp>
        <p:sp>
          <p:nvSpPr>
            <p:cNvPr id="466" name="Google Shape;466;p14"/>
            <p:cNvSpPr/>
            <p:nvPr/>
          </p:nvSpPr>
          <p:spPr>
            <a:xfrm>
              <a:off x="0" y="2603120"/>
              <a:ext cx="6666833" cy="1209600"/>
            </a:xfrm>
            <a:prstGeom prst="rect">
              <a:avLst/>
            </a:prstGeom>
            <a:solidFill>
              <a:schemeClr val="lt1">
                <a:alpha val="89803"/>
              </a:schemeClr>
            </a:solidFill>
            <a:ln w="12700" cap="flat" cmpd="sng">
              <a:solidFill>
                <a:srgbClr val="4CA62C"/>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4"/>
            <p:cNvSpPr txBox="1"/>
            <p:nvPr/>
          </p:nvSpPr>
          <p:spPr>
            <a:xfrm>
              <a:off x="0" y="2603120"/>
              <a:ext cx="6666833" cy="1209600"/>
            </a:xfrm>
            <a:prstGeom prst="rect">
              <a:avLst/>
            </a:prstGeom>
            <a:noFill/>
            <a:ln>
              <a:noFill/>
            </a:ln>
          </p:spPr>
          <p:txBody>
            <a:bodyPr spcFirstLastPara="1" wrap="square" lIns="517400" tIns="333225" rIns="517400" bIns="113775"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Decision making </a:t>
              </a:r>
              <a:endParaRPr sz="1600" b="0" i="0" u="none" strike="noStrike" cap="none">
                <a:solidFill>
                  <a:schemeClr val="dk1"/>
                </a:solidFill>
                <a:latin typeface="Arial"/>
                <a:ea typeface="Arial"/>
                <a:cs typeface="Arial"/>
                <a:sym typeface="Arial"/>
              </a:endParaRPr>
            </a:p>
            <a:p>
              <a:pPr marL="171450" marR="0" lvl="1" indent="-171450" algn="l" rtl="0">
                <a:lnSpc>
                  <a:spcPct val="90000"/>
                </a:lnSpc>
                <a:spcBef>
                  <a:spcPts val="24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Speech recognition</a:t>
              </a:r>
              <a:endParaRPr sz="1600" b="0" i="0" u="none" strike="noStrike" cap="none">
                <a:solidFill>
                  <a:schemeClr val="dk1"/>
                </a:solidFill>
                <a:latin typeface="Arial"/>
                <a:ea typeface="Arial"/>
                <a:cs typeface="Arial"/>
                <a:sym typeface="Arial"/>
              </a:endParaRPr>
            </a:p>
            <a:p>
              <a:pPr marL="171450" marR="0" lvl="1" indent="-171450" algn="l" rtl="0">
                <a:lnSpc>
                  <a:spcPct val="90000"/>
                </a:lnSpc>
                <a:spcBef>
                  <a:spcPts val="24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Problem-solving</a:t>
              </a:r>
              <a:endParaRPr sz="1600" b="0" i="0" u="none" strike="noStrike" cap="none">
                <a:solidFill>
                  <a:schemeClr val="dk1"/>
                </a:solidFill>
                <a:latin typeface="Arial"/>
                <a:ea typeface="Arial"/>
                <a:cs typeface="Arial"/>
                <a:sym typeface="Arial"/>
              </a:endParaRPr>
            </a:p>
          </p:txBody>
        </p:sp>
        <p:sp>
          <p:nvSpPr>
            <p:cNvPr id="468" name="Google Shape;468;p14"/>
            <p:cNvSpPr/>
            <p:nvPr/>
          </p:nvSpPr>
          <p:spPr>
            <a:xfrm>
              <a:off x="333341" y="2366960"/>
              <a:ext cx="4666783" cy="472320"/>
            </a:xfrm>
            <a:prstGeom prst="roundRect">
              <a:avLst>
                <a:gd name="adj" fmla="val 16667"/>
              </a:avLst>
            </a:prstGeom>
            <a:gradFill>
              <a:gsLst>
                <a:gs pos="0">
                  <a:srgbClr val="63B150"/>
                </a:gs>
                <a:gs pos="50000">
                  <a:srgbClr val="48AC24"/>
                </a:gs>
                <a:gs pos="100000">
                  <a:srgbClr val="3D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14"/>
            <p:cNvSpPr txBox="1"/>
            <p:nvPr/>
          </p:nvSpPr>
          <p:spPr>
            <a:xfrm>
              <a:off x="356398" y="2390017"/>
              <a:ext cx="4620669" cy="426206"/>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0" i="0">
                  <a:solidFill>
                    <a:schemeClr val="lt1"/>
                  </a:solidFill>
                  <a:latin typeface="Arial"/>
                  <a:ea typeface="Arial"/>
                  <a:cs typeface="Arial"/>
                  <a:sym typeface="Arial"/>
                </a:rPr>
                <a:t>mimic human intelligence to perform tasks like </a:t>
              </a:r>
              <a:endParaRPr sz="1600">
                <a:solidFill>
                  <a:schemeClr val="lt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3"/>
        <p:cNvGrpSpPr/>
        <p:nvPr/>
      </p:nvGrpSpPr>
      <p:grpSpPr>
        <a:xfrm>
          <a:off x="0" y="0"/>
          <a:ext cx="0" cy="0"/>
          <a:chOff x="0" y="0"/>
          <a:chExt cx="0" cy="0"/>
        </a:xfrm>
      </p:grpSpPr>
      <p:sp>
        <p:nvSpPr>
          <p:cNvPr id="474" name="Google Shape;474;p1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5" name="Google Shape;475;p15"/>
          <p:cNvSpPr txBox="1">
            <a:spLocks noGrp="1"/>
          </p:cNvSpPr>
          <p:nvPr>
            <p:ph type="title"/>
          </p:nvPr>
        </p:nvSpPr>
        <p:spPr>
          <a:xfrm>
            <a:off x="612648" y="365125"/>
            <a:ext cx="5295015" cy="92925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400"/>
              <a:buFont typeface="Play"/>
              <a:buNone/>
            </a:pPr>
            <a:r>
              <a:rPr lang="en-US" sz="4400"/>
              <a:t>Founding Fathers of AI</a:t>
            </a:r>
            <a:endParaRPr/>
          </a:p>
        </p:txBody>
      </p:sp>
      <p:pic>
        <p:nvPicPr>
          <p:cNvPr id="476" name="Google Shape;476;p15" descr="A collage of men in suits"/>
          <p:cNvPicPr preferRelativeResize="0">
            <a:picLocks noGrp="1"/>
          </p:cNvPicPr>
          <p:nvPr>
            <p:ph type="body" idx="1"/>
          </p:nvPr>
        </p:nvPicPr>
        <p:blipFill rotWithShape="1">
          <a:blip r:embed="rId3">
            <a:alphaModFix/>
          </a:blip>
          <a:srcRect/>
          <a:stretch/>
        </p:blipFill>
        <p:spPr>
          <a:xfrm>
            <a:off x="6532916" y="530874"/>
            <a:ext cx="2540538" cy="1863061"/>
          </a:xfrm>
          <a:prstGeom prst="rect">
            <a:avLst/>
          </a:prstGeom>
          <a:noFill/>
          <a:ln>
            <a:noFill/>
          </a:ln>
        </p:spPr>
      </p:pic>
      <p:pic>
        <p:nvPicPr>
          <p:cNvPr id="477" name="Google Shape;477;p15" descr="A line of blue and white icons&#10;&#10;AI-generated content may be incorrect."/>
          <p:cNvPicPr preferRelativeResize="0"/>
          <p:nvPr/>
        </p:nvPicPr>
        <p:blipFill rotWithShape="1">
          <a:blip r:embed="rId4">
            <a:alphaModFix/>
          </a:blip>
          <a:srcRect/>
          <a:stretch/>
        </p:blipFill>
        <p:spPr>
          <a:xfrm>
            <a:off x="9287394" y="578740"/>
            <a:ext cx="2540538" cy="1767330"/>
          </a:xfrm>
          <a:prstGeom prst="rect">
            <a:avLst/>
          </a:prstGeom>
          <a:noFill/>
          <a:ln>
            <a:noFill/>
          </a:ln>
        </p:spPr>
      </p:pic>
      <p:sp>
        <p:nvSpPr>
          <p:cNvPr id="478" name="Google Shape;478;p15"/>
          <p:cNvSpPr/>
          <p:nvPr/>
        </p:nvSpPr>
        <p:spPr>
          <a:xfrm>
            <a:off x="838200" y="2650181"/>
            <a:ext cx="4343400" cy="18288"/>
          </a:xfrm>
          <a:custGeom>
            <a:avLst/>
            <a:gdLst/>
            <a:ahLst/>
            <a:cxnLst/>
            <a:rect l="l" t="t" r="r" b="b"/>
            <a:pathLst>
              <a:path w="4343400" h="18288" fill="none" extrusionOk="0">
                <a:moveTo>
                  <a:pt x="0" y="0"/>
                </a:moveTo>
                <a:cubicBezTo>
                  <a:pt x="233209" y="-19550"/>
                  <a:pt x="330816" y="19068"/>
                  <a:pt x="577052" y="0"/>
                </a:cubicBezTo>
                <a:cubicBezTo>
                  <a:pt x="823288" y="-19068"/>
                  <a:pt x="875077" y="10360"/>
                  <a:pt x="1067235" y="0"/>
                </a:cubicBezTo>
                <a:cubicBezTo>
                  <a:pt x="1259393" y="-10360"/>
                  <a:pt x="1410699" y="2939"/>
                  <a:pt x="1600853" y="0"/>
                </a:cubicBezTo>
                <a:cubicBezTo>
                  <a:pt x="1791007" y="-2939"/>
                  <a:pt x="2101644" y="-26225"/>
                  <a:pt x="2264773" y="0"/>
                </a:cubicBezTo>
                <a:cubicBezTo>
                  <a:pt x="2427902" y="26225"/>
                  <a:pt x="2690426" y="-27726"/>
                  <a:pt x="2841825" y="0"/>
                </a:cubicBezTo>
                <a:cubicBezTo>
                  <a:pt x="2993224" y="27726"/>
                  <a:pt x="3172320" y="-18569"/>
                  <a:pt x="3375442" y="0"/>
                </a:cubicBezTo>
                <a:cubicBezTo>
                  <a:pt x="3578564" y="18569"/>
                  <a:pt x="4003119" y="21909"/>
                  <a:pt x="4343400" y="0"/>
                </a:cubicBezTo>
                <a:cubicBezTo>
                  <a:pt x="4343798" y="7429"/>
                  <a:pt x="4343380" y="10822"/>
                  <a:pt x="4343400" y="18288"/>
                </a:cubicBezTo>
                <a:cubicBezTo>
                  <a:pt x="4109047" y="14709"/>
                  <a:pt x="3996986" y="7919"/>
                  <a:pt x="3722914" y="18288"/>
                </a:cubicBezTo>
                <a:cubicBezTo>
                  <a:pt x="3448842" y="28657"/>
                  <a:pt x="3340973" y="29252"/>
                  <a:pt x="3189297" y="18288"/>
                </a:cubicBezTo>
                <a:cubicBezTo>
                  <a:pt x="3037621" y="7324"/>
                  <a:pt x="2636891" y="-9539"/>
                  <a:pt x="2481943" y="18288"/>
                </a:cubicBezTo>
                <a:cubicBezTo>
                  <a:pt x="2326995" y="46115"/>
                  <a:pt x="2131632" y="740"/>
                  <a:pt x="1904891" y="18288"/>
                </a:cubicBezTo>
                <a:cubicBezTo>
                  <a:pt x="1678150" y="35836"/>
                  <a:pt x="1575362" y="-3381"/>
                  <a:pt x="1414707" y="18288"/>
                </a:cubicBezTo>
                <a:cubicBezTo>
                  <a:pt x="1254052" y="39957"/>
                  <a:pt x="1051093" y="-335"/>
                  <a:pt x="750788" y="18288"/>
                </a:cubicBezTo>
                <a:cubicBezTo>
                  <a:pt x="450483" y="36911"/>
                  <a:pt x="293781" y="22900"/>
                  <a:pt x="0" y="18288"/>
                </a:cubicBezTo>
                <a:cubicBezTo>
                  <a:pt x="-591" y="13205"/>
                  <a:pt x="-663" y="6329"/>
                  <a:pt x="0" y="0"/>
                </a:cubicBezTo>
                <a:close/>
              </a:path>
              <a:path w="4343400" h="18288" extrusionOk="0">
                <a:moveTo>
                  <a:pt x="0" y="0"/>
                </a:moveTo>
                <a:cubicBezTo>
                  <a:pt x="212719" y="-28531"/>
                  <a:pt x="340561" y="-1164"/>
                  <a:pt x="577052" y="0"/>
                </a:cubicBezTo>
                <a:cubicBezTo>
                  <a:pt x="813543" y="1164"/>
                  <a:pt x="866967" y="-9376"/>
                  <a:pt x="1067235" y="0"/>
                </a:cubicBezTo>
                <a:cubicBezTo>
                  <a:pt x="1267503" y="9376"/>
                  <a:pt x="1485778" y="-20470"/>
                  <a:pt x="1774589" y="0"/>
                </a:cubicBezTo>
                <a:cubicBezTo>
                  <a:pt x="2063400" y="20470"/>
                  <a:pt x="2090152" y="-14502"/>
                  <a:pt x="2351641" y="0"/>
                </a:cubicBezTo>
                <a:cubicBezTo>
                  <a:pt x="2613130" y="14502"/>
                  <a:pt x="2802864" y="19125"/>
                  <a:pt x="2928693" y="0"/>
                </a:cubicBezTo>
                <a:cubicBezTo>
                  <a:pt x="3054522" y="-19125"/>
                  <a:pt x="3482611" y="-2038"/>
                  <a:pt x="3636046" y="0"/>
                </a:cubicBezTo>
                <a:cubicBezTo>
                  <a:pt x="3789481" y="2038"/>
                  <a:pt x="4012363" y="973"/>
                  <a:pt x="4343400" y="0"/>
                </a:cubicBezTo>
                <a:cubicBezTo>
                  <a:pt x="4342514" y="5429"/>
                  <a:pt x="4344221" y="14046"/>
                  <a:pt x="4343400" y="18288"/>
                </a:cubicBezTo>
                <a:cubicBezTo>
                  <a:pt x="4078870" y="-6138"/>
                  <a:pt x="4015967" y="29658"/>
                  <a:pt x="3809782" y="18288"/>
                </a:cubicBezTo>
                <a:cubicBezTo>
                  <a:pt x="3603597" y="6918"/>
                  <a:pt x="3495552" y="24439"/>
                  <a:pt x="3189297" y="18288"/>
                </a:cubicBezTo>
                <a:cubicBezTo>
                  <a:pt x="2883042" y="12137"/>
                  <a:pt x="2850610" y="32583"/>
                  <a:pt x="2568811" y="18288"/>
                </a:cubicBezTo>
                <a:cubicBezTo>
                  <a:pt x="2287012" y="3993"/>
                  <a:pt x="2279820" y="23580"/>
                  <a:pt x="1991759" y="18288"/>
                </a:cubicBezTo>
                <a:cubicBezTo>
                  <a:pt x="1703698" y="12996"/>
                  <a:pt x="1616455" y="23157"/>
                  <a:pt x="1284405" y="18288"/>
                </a:cubicBezTo>
                <a:cubicBezTo>
                  <a:pt x="952355" y="13419"/>
                  <a:pt x="783530" y="16053"/>
                  <a:pt x="577052" y="18288"/>
                </a:cubicBezTo>
                <a:cubicBezTo>
                  <a:pt x="370574" y="20523"/>
                  <a:pt x="173929" y="5195"/>
                  <a:pt x="0" y="18288"/>
                </a:cubicBezTo>
                <a:cubicBezTo>
                  <a:pt x="668" y="13665"/>
                  <a:pt x="578" y="5675"/>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79" name="Google Shape;479;p15"/>
          <p:cNvSpPr txBox="1">
            <a:spLocks noGrp="1"/>
          </p:cNvSpPr>
          <p:nvPr>
            <p:ph type="body" idx="2"/>
          </p:nvPr>
        </p:nvSpPr>
        <p:spPr>
          <a:xfrm>
            <a:off x="612648" y="2908005"/>
            <a:ext cx="5295015" cy="326895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Font typeface="Arial"/>
              <a:buChar char="•"/>
            </a:pPr>
            <a:r>
              <a:rPr lang="en-US" b="1"/>
              <a:t>John McCarthy – Father of AI</a:t>
            </a:r>
            <a:endParaRPr/>
          </a:p>
          <a:p>
            <a:pPr marL="457200" lvl="1" indent="-228600" algn="l" rtl="0">
              <a:lnSpc>
                <a:spcPct val="90000"/>
              </a:lnSpc>
              <a:spcBef>
                <a:spcPts val="500"/>
              </a:spcBef>
              <a:spcAft>
                <a:spcPts val="0"/>
              </a:spcAft>
              <a:buClr>
                <a:schemeClr val="dk1"/>
              </a:buClr>
              <a:buSzPts val="1600"/>
              <a:buFont typeface="Arial"/>
              <a:buChar char="•"/>
            </a:pPr>
            <a:r>
              <a:rPr lang="en-US" sz="1600"/>
              <a:t>Coined the term "Artificial Intelligence"</a:t>
            </a:r>
            <a:endParaRPr/>
          </a:p>
          <a:p>
            <a:pPr marL="457200" lvl="1" indent="-228600" algn="l" rtl="0">
              <a:lnSpc>
                <a:spcPct val="90000"/>
              </a:lnSpc>
              <a:spcBef>
                <a:spcPts val="500"/>
              </a:spcBef>
              <a:spcAft>
                <a:spcPts val="0"/>
              </a:spcAft>
              <a:buClr>
                <a:schemeClr val="dk1"/>
              </a:buClr>
              <a:buSzPts val="1600"/>
              <a:buFont typeface="Arial"/>
              <a:buChar char="•"/>
            </a:pPr>
            <a:r>
              <a:rPr lang="en-US" sz="1600"/>
              <a:t>Key contributor to AI development</a:t>
            </a:r>
            <a:endParaRPr/>
          </a:p>
          <a:p>
            <a:pPr marL="0" lvl="0" indent="0" algn="l" rtl="0">
              <a:lnSpc>
                <a:spcPct val="90000"/>
              </a:lnSpc>
              <a:spcBef>
                <a:spcPts val="1000"/>
              </a:spcBef>
              <a:spcAft>
                <a:spcPts val="0"/>
              </a:spcAft>
              <a:buClr>
                <a:schemeClr val="dk1"/>
              </a:buClr>
              <a:buSzPts val="1600"/>
              <a:buFont typeface="Arial"/>
              <a:buChar char="•"/>
            </a:pPr>
            <a:r>
              <a:rPr lang="en-US" b="1"/>
              <a:t>Alan Turing – Theoretical Foundation of AI</a:t>
            </a:r>
            <a:endParaRPr/>
          </a:p>
          <a:p>
            <a:pPr marL="457200" lvl="1" indent="-228600" algn="l" rtl="0">
              <a:lnSpc>
                <a:spcPct val="90000"/>
              </a:lnSpc>
              <a:spcBef>
                <a:spcPts val="500"/>
              </a:spcBef>
              <a:spcAft>
                <a:spcPts val="0"/>
              </a:spcAft>
              <a:buClr>
                <a:schemeClr val="dk1"/>
              </a:buClr>
              <a:buSzPts val="1600"/>
              <a:buFont typeface="Arial"/>
              <a:buChar char="•"/>
            </a:pPr>
            <a:r>
              <a:rPr lang="en-US" sz="1600"/>
              <a:t>Featured in </a:t>
            </a:r>
            <a:r>
              <a:rPr lang="en-US" sz="1600" i="1"/>
              <a:t>The Imitation Game </a:t>
            </a:r>
            <a:r>
              <a:rPr lang="en-US" sz="1600"/>
              <a:t>movie</a:t>
            </a:r>
            <a:endParaRPr/>
          </a:p>
          <a:p>
            <a:pPr marL="457200" lvl="1" indent="-228600" algn="l" rtl="0">
              <a:lnSpc>
                <a:spcPct val="90000"/>
              </a:lnSpc>
              <a:spcBef>
                <a:spcPts val="500"/>
              </a:spcBef>
              <a:spcAft>
                <a:spcPts val="0"/>
              </a:spcAft>
              <a:buClr>
                <a:schemeClr val="dk1"/>
              </a:buClr>
              <a:buSzPts val="1600"/>
              <a:buFont typeface="Arial"/>
              <a:buChar char="•"/>
            </a:pPr>
            <a:r>
              <a:rPr lang="en-US" sz="1600"/>
              <a:t>Played a crucial role in breaking the ENIGMA code</a:t>
            </a:r>
            <a:endParaRPr/>
          </a:p>
          <a:p>
            <a:pPr marL="457200" lvl="1" indent="-228600" algn="l" rtl="0">
              <a:lnSpc>
                <a:spcPct val="90000"/>
              </a:lnSpc>
              <a:spcBef>
                <a:spcPts val="500"/>
              </a:spcBef>
              <a:spcAft>
                <a:spcPts val="0"/>
              </a:spcAft>
              <a:buClr>
                <a:schemeClr val="dk1"/>
              </a:buClr>
              <a:buSzPts val="1600"/>
              <a:buFont typeface="Arial"/>
              <a:buChar char="•"/>
            </a:pPr>
            <a:r>
              <a:rPr lang="en-US" sz="1600"/>
              <a:t>Shortened WWII by 2 years, saving millions of lives</a:t>
            </a:r>
            <a:endParaRPr/>
          </a:p>
          <a:p>
            <a:pPr marL="457200" lvl="1" indent="-228600" algn="l" rtl="0">
              <a:lnSpc>
                <a:spcPct val="90000"/>
              </a:lnSpc>
              <a:spcBef>
                <a:spcPts val="500"/>
              </a:spcBef>
              <a:spcAft>
                <a:spcPts val="0"/>
              </a:spcAft>
              <a:buClr>
                <a:schemeClr val="dk1"/>
              </a:buClr>
              <a:buSzPts val="1600"/>
              <a:buFont typeface="Arial"/>
              <a:buChar char="•"/>
            </a:pPr>
            <a:r>
              <a:rPr lang="en-US" sz="1600"/>
              <a:t>Introduced the </a:t>
            </a:r>
            <a:r>
              <a:rPr lang="en-US" sz="1600" b="1"/>
              <a:t>Turing Test</a:t>
            </a:r>
            <a:r>
              <a:rPr lang="en-US" sz="1600"/>
              <a:t> – a benchmark for AI intelligence</a:t>
            </a:r>
            <a:endParaRPr/>
          </a:p>
          <a:p>
            <a:pPr marL="457200" lvl="1" indent="-228600" algn="l" rtl="0">
              <a:lnSpc>
                <a:spcPct val="90000"/>
              </a:lnSpc>
              <a:spcBef>
                <a:spcPts val="500"/>
              </a:spcBef>
              <a:spcAft>
                <a:spcPts val="0"/>
              </a:spcAft>
              <a:buClr>
                <a:schemeClr val="dk1"/>
              </a:buClr>
              <a:buSzPts val="1600"/>
              <a:buFont typeface="Arial"/>
              <a:buChar char="•"/>
            </a:pPr>
            <a:r>
              <a:rPr lang="en-US" sz="1600"/>
              <a:t>Developed the </a:t>
            </a:r>
            <a:r>
              <a:rPr lang="en-US" sz="1600" b="1"/>
              <a:t>Turing Machine</a:t>
            </a:r>
            <a:r>
              <a:rPr lang="en-US" sz="1600"/>
              <a:t>, the basis of modern computing</a:t>
            </a:r>
            <a:endParaRPr/>
          </a:p>
          <a:p>
            <a:pPr marL="0" lvl="0" indent="107950" algn="l" rtl="0">
              <a:lnSpc>
                <a:spcPct val="90000"/>
              </a:lnSpc>
              <a:spcBef>
                <a:spcPts val="1000"/>
              </a:spcBef>
              <a:spcAft>
                <a:spcPts val="0"/>
              </a:spcAft>
              <a:buClr>
                <a:schemeClr val="dk1"/>
              </a:buClr>
              <a:buSzPts val="1700"/>
              <a:buFont typeface="Arial"/>
              <a:buNone/>
            </a:pPr>
            <a:endParaRPr sz="1700"/>
          </a:p>
        </p:txBody>
      </p:sp>
      <p:pic>
        <p:nvPicPr>
          <p:cNvPr id="480" name="Google Shape;480;p15" descr="A machine with gears on it&#10;&#10;AI-generated content may be incorrect."/>
          <p:cNvPicPr preferRelativeResize="0"/>
          <p:nvPr/>
        </p:nvPicPr>
        <p:blipFill rotWithShape="1">
          <a:blip r:embed="rId5">
            <a:alphaModFix/>
          </a:blip>
          <a:srcRect/>
          <a:stretch/>
        </p:blipFill>
        <p:spPr>
          <a:xfrm>
            <a:off x="6606302" y="2766251"/>
            <a:ext cx="5148243" cy="341071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pic>
        <p:nvPicPr>
          <p:cNvPr id="485" name="Google Shape;485;p16" descr="A timeline of timeline with colorful hexagons&#10;&#10;AI-generated content may be incorrect."/>
          <p:cNvPicPr preferRelativeResize="0"/>
          <p:nvPr/>
        </p:nvPicPr>
        <p:blipFill rotWithShape="1">
          <a:blip r:embed="rId3">
            <a:alphaModFix/>
          </a:blip>
          <a:srcRect b="7037"/>
          <a:stretch/>
        </p:blipFill>
        <p:spPr>
          <a:xfrm>
            <a:off x="0" y="-1"/>
            <a:ext cx="12192000" cy="677333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9"/>
        <p:cNvGrpSpPr/>
        <p:nvPr/>
      </p:nvGrpSpPr>
      <p:grpSpPr>
        <a:xfrm>
          <a:off x="0" y="0"/>
          <a:ext cx="0" cy="0"/>
          <a:chOff x="0" y="0"/>
          <a:chExt cx="0" cy="0"/>
        </a:xfrm>
      </p:grpSpPr>
      <p:sp>
        <p:nvSpPr>
          <p:cNvPr id="490" name="Google Shape;490;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1" name="Google Shape;491;p17"/>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17"/>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3" name="Google Shape;493;p17"/>
          <p:cNvSpPr/>
          <p:nvPr/>
        </p:nvSpPr>
        <p:spPr>
          <a:xfrm rot="5400000" flipH="1">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4" name="Google Shape;494;p17"/>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5" name="Google Shape;495;p17"/>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6" name="Google Shape;496;p17"/>
          <p:cNvSpPr txBox="1">
            <a:spLocks noGrp="1"/>
          </p:cNvSpPr>
          <p:nvPr>
            <p:ph type="title"/>
          </p:nvPr>
        </p:nvSpPr>
        <p:spPr>
          <a:xfrm>
            <a:off x="586478" y="1683756"/>
            <a:ext cx="3115265" cy="2396359"/>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400"/>
              <a:buFont typeface="Play"/>
              <a:buNone/>
            </a:pPr>
            <a:r>
              <a:rPr lang="en-US">
                <a:solidFill>
                  <a:srgbClr val="FFFFFF"/>
                </a:solidFill>
              </a:rPr>
              <a:t>AI in</a:t>
            </a:r>
            <a:endParaRPr>
              <a:solidFill>
                <a:srgbClr val="FFFFFF"/>
              </a:solidFill>
            </a:endParaRPr>
          </a:p>
        </p:txBody>
      </p:sp>
      <p:grpSp>
        <p:nvGrpSpPr>
          <p:cNvPr id="497" name="Google Shape;497;p17"/>
          <p:cNvGrpSpPr/>
          <p:nvPr/>
        </p:nvGrpSpPr>
        <p:grpSpPr>
          <a:xfrm>
            <a:off x="4905052" y="1394014"/>
            <a:ext cx="6666832" cy="4166771"/>
            <a:chOff x="0" y="643574"/>
            <a:chExt cx="6666832" cy="4166771"/>
          </a:xfrm>
        </p:grpSpPr>
        <p:sp>
          <p:nvSpPr>
            <p:cNvPr id="498" name="Google Shape;498;p17"/>
            <p:cNvSpPr/>
            <p:nvPr/>
          </p:nvSpPr>
          <p:spPr>
            <a:xfrm>
              <a:off x="0" y="643574"/>
              <a:ext cx="2083385" cy="1250031"/>
            </a:xfrm>
            <a:prstGeom prst="rect">
              <a:avLst/>
            </a:prstGeom>
            <a:gradFill>
              <a:gsLst>
                <a:gs pos="0">
                  <a:srgbClr val="AB4E9D"/>
                </a:gs>
                <a:gs pos="50000">
                  <a:srgbClr val="A62094"/>
                </a:gs>
                <a:gs pos="100000">
                  <a:srgbClr val="96188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7"/>
            <p:cNvSpPr txBox="1"/>
            <p:nvPr/>
          </p:nvSpPr>
          <p:spPr>
            <a:xfrm>
              <a:off x="0" y="64357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Healthcare</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Diagnostics</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Personalized Medicine</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Robotic Surgery</a:t>
              </a:r>
              <a:endParaRPr/>
            </a:p>
          </p:txBody>
        </p:sp>
        <p:sp>
          <p:nvSpPr>
            <p:cNvPr id="500" name="Google Shape;500;p17"/>
            <p:cNvSpPr/>
            <p:nvPr/>
          </p:nvSpPr>
          <p:spPr>
            <a:xfrm>
              <a:off x="2291723" y="643574"/>
              <a:ext cx="2083385" cy="1250031"/>
            </a:xfrm>
            <a:prstGeom prst="rect">
              <a:avLst/>
            </a:prstGeom>
            <a:gradFill>
              <a:gsLst>
                <a:gs pos="0">
                  <a:srgbClr val="884FAA"/>
                </a:gs>
                <a:gs pos="50000">
                  <a:srgbClr val="7C23A4"/>
                </a:gs>
                <a:gs pos="100000">
                  <a:srgbClr val="6E199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17"/>
            <p:cNvSpPr txBox="1"/>
            <p:nvPr/>
          </p:nvSpPr>
          <p:spPr>
            <a:xfrm>
              <a:off x="2291723" y="64357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Finance</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Fraud Detection</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Algorithmic Trading</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Risk Management</a:t>
              </a:r>
              <a:endParaRPr/>
            </a:p>
          </p:txBody>
        </p:sp>
        <p:sp>
          <p:nvSpPr>
            <p:cNvPr id="502" name="Google Shape;502;p17"/>
            <p:cNvSpPr/>
            <p:nvPr/>
          </p:nvSpPr>
          <p:spPr>
            <a:xfrm>
              <a:off x="4583447" y="643574"/>
              <a:ext cx="2083385" cy="1250031"/>
            </a:xfrm>
            <a:prstGeom prst="rect">
              <a:avLst/>
            </a:prstGeom>
            <a:gradFill>
              <a:gsLst>
                <a:gs pos="0">
                  <a:srgbClr val="624FAB"/>
                </a:gs>
                <a:gs pos="50000">
                  <a:srgbClr val="4723A5"/>
                </a:gs>
                <a:gs pos="100000">
                  <a:srgbClr val="3B1996"/>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17"/>
            <p:cNvSpPr txBox="1"/>
            <p:nvPr/>
          </p:nvSpPr>
          <p:spPr>
            <a:xfrm>
              <a:off x="4583447" y="64357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Transportation</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Traffic Management</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Route Planning</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Autonomous Vehicle</a:t>
              </a:r>
              <a:endParaRPr/>
            </a:p>
          </p:txBody>
        </p:sp>
        <p:sp>
          <p:nvSpPr>
            <p:cNvPr id="504" name="Google Shape;504;p17"/>
            <p:cNvSpPr/>
            <p:nvPr/>
          </p:nvSpPr>
          <p:spPr>
            <a:xfrm>
              <a:off x="0" y="2101944"/>
              <a:ext cx="2083385" cy="1250031"/>
            </a:xfrm>
            <a:prstGeom prst="rect">
              <a:avLst/>
            </a:prstGeom>
            <a:gradFill>
              <a:gsLst>
                <a:gs pos="0">
                  <a:srgbClr val="4F5AAC"/>
                </a:gs>
                <a:gs pos="50000">
                  <a:srgbClr val="233AA6"/>
                </a:gs>
                <a:gs pos="100000">
                  <a:srgbClr val="192F97"/>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7"/>
            <p:cNvSpPr txBox="1"/>
            <p:nvPr/>
          </p:nvSpPr>
          <p:spPr>
            <a:xfrm>
              <a:off x="0" y="210194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Retail</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Personalized Recommendations</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Inventory management</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Customer Service</a:t>
              </a:r>
              <a:endParaRPr/>
            </a:p>
          </p:txBody>
        </p:sp>
        <p:sp>
          <p:nvSpPr>
            <p:cNvPr id="506" name="Google Shape;506;p17"/>
            <p:cNvSpPr/>
            <p:nvPr/>
          </p:nvSpPr>
          <p:spPr>
            <a:xfrm>
              <a:off x="2291723" y="2101944"/>
              <a:ext cx="2083385" cy="1250031"/>
            </a:xfrm>
            <a:prstGeom prst="rect">
              <a:avLst/>
            </a:prstGeom>
            <a:gradFill>
              <a:gsLst>
                <a:gs pos="0">
                  <a:srgbClr val="4F7FAD"/>
                </a:gs>
                <a:gs pos="50000">
                  <a:srgbClr val="246EA7"/>
                </a:gs>
                <a:gs pos="100000">
                  <a:srgbClr val="1A629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17"/>
            <p:cNvSpPr txBox="1"/>
            <p:nvPr/>
          </p:nvSpPr>
          <p:spPr>
            <a:xfrm>
              <a:off x="2291723" y="210194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Entertainment</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Content Creation</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Personalized Streaming</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Video games</a:t>
              </a:r>
              <a:endParaRPr/>
            </a:p>
          </p:txBody>
        </p:sp>
        <p:sp>
          <p:nvSpPr>
            <p:cNvPr id="508" name="Google Shape;508;p17"/>
            <p:cNvSpPr/>
            <p:nvPr/>
          </p:nvSpPr>
          <p:spPr>
            <a:xfrm>
              <a:off x="4583447" y="2101944"/>
              <a:ext cx="2083385" cy="1250031"/>
            </a:xfrm>
            <a:prstGeom prst="rect">
              <a:avLst/>
            </a:prstGeom>
            <a:gradFill>
              <a:gsLst>
                <a:gs pos="0">
                  <a:srgbClr val="4FADAE"/>
                </a:gs>
                <a:gs pos="50000">
                  <a:srgbClr val="23A7A9"/>
                </a:gs>
                <a:gs pos="100000">
                  <a:srgbClr val="1A9899"/>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7"/>
            <p:cNvSpPr txBox="1"/>
            <p:nvPr/>
          </p:nvSpPr>
          <p:spPr>
            <a:xfrm>
              <a:off x="4583447" y="210194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Education</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Automated Grading</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Virtual Tutors</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Personalized Learning</a:t>
              </a:r>
              <a:endParaRPr/>
            </a:p>
          </p:txBody>
        </p:sp>
        <p:sp>
          <p:nvSpPr>
            <p:cNvPr id="510" name="Google Shape;510;p17"/>
            <p:cNvSpPr/>
            <p:nvPr/>
          </p:nvSpPr>
          <p:spPr>
            <a:xfrm>
              <a:off x="0" y="3560314"/>
              <a:ext cx="2083385" cy="1250031"/>
            </a:xfrm>
            <a:prstGeom prst="rect">
              <a:avLst/>
            </a:prstGeom>
            <a:gradFill>
              <a:gsLst>
                <a:gs pos="0">
                  <a:srgbClr val="4FAF81"/>
                </a:gs>
                <a:gs pos="50000">
                  <a:srgbClr val="23AA70"/>
                </a:gs>
                <a:gs pos="100000">
                  <a:srgbClr val="199B64"/>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7"/>
            <p:cNvSpPr txBox="1"/>
            <p:nvPr/>
          </p:nvSpPr>
          <p:spPr>
            <a:xfrm>
              <a:off x="0" y="356031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Manufacturing</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Predictive Maintenance</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Quality Control</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Safety</a:t>
              </a:r>
              <a:endParaRPr/>
            </a:p>
          </p:txBody>
        </p:sp>
        <p:sp>
          <p:nvSpPr>
            <p:cNvPr id="512" name="Google Shape;512;p17"/>
            <p:cNvSpPr/>
            <p:nvPr/>
          </p:nvSpPr>
          <p:spPr>
            <a:xfrm>
              <a:off x="2291723" y="3560314"/>
              <a:ext cx="2083385" cy="1250031"/>
            </a:xfrm>
            <a:prstGeom prst="rect">
              <a:avLst/>
            </a:prstGeom>
            <a:gradFill>
              <a:gsLst>
                <a:gs pos="0">
                  <a:srgbClr val="4FB05A"/>
                </a:gs>
                <a:gs pos="50000">
                  <a:srgbClr val="23AB39"/>
                </a:gs>
                <a:gs pos="100000">
                  <a:srgbClr val="199C2F"/>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7"/>
            <p:cNvSpPr txBox="1"/>
            <p:nvPr/>
          </p:nvSpPr>
          <p:spPr>
            <a:xfrm>
              <a:off x="2291723" y="356031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Agriculture</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Crop Monitoring</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Pest Control</a:t>
              </a:r>
              <a:endParaRPr/>
            </a:p>
          </p:txBody>
        </p:sp>
        <p:sp>
          <p:nvSpPr>
            <p:cNvPr id="514" name="Google Shape;514;p17"/>
            <p:cNvSpPr/>
            <p:nvPr/>
          </p:nvSpPr>
          <p:spPr>
            <a:xfrm>
              <a:off x="4583447" y="3560314"/>
              <a:ext cx="2083385" cy="1250031"/>
            </a:xfrm>
            <a:prstGeom prst="rect">
              <a:avLst/>
            </a:prstGeom>
            <a:gradFill>
              <a:gsLst>
                <a:gs pos="0">
                  <a:srgbClr val="63B150"/>
                </a:gs>
                <a:gs pos="50000">
                  <a:srgbClr val="48AC24"/>
                </a:gs>
                <a:gs pos="100000">
                  <a:srgbClr val="3D9D1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7"/>
            <p:cNvSpPr txBox="1"/>
            <p:nvPr/>
          </p:nvSpPr>
          <p:spPr>
            <a:xfrm>
              <a:off x="4583447" y="3560314"/>
              <a:ext cx="2083385" cy="1250031"/>
            </a:xfrm>
            <a:prstGeom prst="rect">
              <a:avLst/>
            </a:prstGeom>
            <a:noFill/>
            <a:ln>
              <a:noFill/>
            </a:ln>
          </p:spPr>
          <p:txBody>
            <a:bodyPr spcFirstLastPara="1" wrap="square" lIns="64750" tIns="64750" rIns="64750" bIns="64750" anchor="t" anchorCtr="0">
              <a:noAutofit/>
            </a:bodyPr>
            <a:lstStyle/>
            <a:p>
              <a:pPr marL="0" marR="0" lvl="0" indent="0" algn="l" rtl="0">
                <a:lnSpc>
                  <a:spcPct val="90000"/>
                </a:lnSpc>
                <a:spcBef>
                  <a:spcPts val="0"/>
                </a:spcBef>
                <a:spcAft>
                  <a:spcPts val="0"/>
                </a:spcAft>
                <a:buClr>
                  <a:schemeClr val="lt1"/>
                </a:buClr>
                <a:buSzPts val="1700"/>
                <a:buFont typeface="Arial"/>
                <a:buNone/>
              </a:pPr>
              <a:r>
                <a:rPr lang="en-US" sz="1700">
                  <a:solidFill>
                    <a:schemeClr val="lt1"/>
                  </a:solidFill>
                  <a:latin typeface="Arial"/>
                  <a:ea typeface="Arial"/>
                  <a:cs typeface="Arial"/>
                  <a:sym typeface="Arial"/>
                </a:rPr>
                <a:t>Environmental Sustainability</a:t>
              </a:r>
              <a:endParaRPr/>
            </a:p>
            <a:p>
              <a:pPr marL="114300" marR="0" lvl="1" indent="-114300" algn="l" rtl="0">
                <a:lnSpc>
                  <a:spcPct val="90000"/>
                </a:lnSpc>
                <a:spcBef>
                  <a:spcPts val="5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Renewable Energy</a:t>
              </a:r>
              <a:endParaRPr/>
            </a:p>
            <a:p>
              <a:pPr marL="114300" marR="0" lvl="1" indent="-114300" algn="l" rtl="0">
                <a:lnSpc>
                  <a:spcPct val="90000"/>
                </a:lnSpc>
                <a:spcBef>
                  <a:spcPts val="195"/>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Wildlife Conservation</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9"/>
        <p:cNvGrpSpPr/>
        <p:nvPr/>
      </p:nvGrpSpPr>
      <p:grpSpPr>
        <a:xfrm>
          <a:off x="0" y="0"/>
          <a:ext cx="0" cy="0"/>
          <a:chOff x="0" y="0"/>
          <a:chExt cx="0" cy="0"/>
        </a:xfrm>
      </p:grpSpPr>
      <p:sp>
        <p:nvSpPr>
          <p:cNvPr id="520" name="Google Shape;520;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1" name="Google Shape;521;p18"/>
          <p:cNvSpPr txBox="1">
            <a:spLocks noGrp="1"/>
          </p:cNvSpPr>
          <p:nvPr>
            <p:ph type="title"/>
          </p:nvPr>
        </p:nvSpPr>
        <p:spPr>
          <a:xfrm>
            <a:off x="761800" y="762001"/>
            <a:ext cx="5334197" cy="9821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Core Areas of AI</a:t>
            </a:r>
            <a:endParaRPr/>
          </a:p>
        </p:txBody>
      </p:sp>
      <p:sp>
        <p:nvSpPr>
          <p:cNvPr id="522" name="Google Shape;522;p18"/>
          <p:cNvSpPr txBox="1">
            <a:spLocks noGrp="1"/>
          </p:cNvSpPr>
          <p:nvPr>
            <p:ph type="body" idx="1"/>
          </p:nvPr>
        </p:nvSpPr>
        <p:spPr>
          <a:xfrm>
            <a:off x="761800" y="2470244"/>
            <a:ext cx="5334197" cy="3769835"/>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n-US" sz="2000"/>
              <a:t>Machine Learning</a:t>
            </a:r>
            <a:endParaRPr/>
          </a:p>
          <a:p>
            <a:pPr marL="228600" lvl="0" indent="-228600" algn="l" rtl="0">
              <a:lnSpc>
                <a:spcPct val="90000"/>
              </a:lnSpc>
              <a:spcBef>
                <a:spcPts val="1000"/>
              </a:spcBef>
              <a:spcAft>
                <a:spcPts val="0"/>
              </a:spcAft>
              <a:buClr>
                <a:schemeClr val="dk1"/>
              </a:buClr>
              <a:buSzPts val="2000"/>
              <a:buChar char="•"/>
            </a:pPr>
            <a:r>
              <a:rPr lang="en-US" sz="2000"/>
              <a:t>Deep Learning</a:t>
            </a:r>
            <a:endParaRPr/>
          </a:p>
          <a:p>
            <a:pPr marL="228600" lvl="0" indent="-228600" algn="l" rtl="0">
              <a:lnSpc>
                <a:spcPct val="90000"/>
              </a:lnSpc>
              <a:spcBef>
                <a:spcPts val="1000"/>
              </a:spcBef>
              <a:spcAft>
                <a:spcPts val="0"/>
              </a:spcAft>
              <a:buClr>
                <a:schemeClr val="dk1"/>
              </a:buClr>
              <a:buSzPts val="2000"/>
              <a:buChar char="•"/>
            </a:pPr>
            <a:r>
              <a:rPr lang="en-US" sz="2000"/>
              <a:t>Neural Networks</a:t>
            </a:r>
            <a:endParaRPr sz="2000"/>
          </a:p>
          <a:p>
            <a:pPr marL="228600" lvl="0" indent="-228600" algn="l" rtl="0">
              <a:lnSpc>
                <a:spcPct val="90000"/>
              </a:lnSpc>
              <a:spcBef>
                <a:spcPts val="1000"/>
              </a:spcBef>
              <a:spcAft>
                <a:spcPts val="0"/>
              </a:spcAft>
              <a:buClr>
                <a:schemeClr val="dk1"/>
              </a:buClr>
              <a:buSzPts val="2000"/>
              <a:buChar char="•"/>
            </a:pPr>
            <a:r>
              <a:rPr lang="en-US" sz="2000"/>
              <a:t>Natural Language Processing</a:t>
            </a:r>
            <a:endParaRPr/>
          </a:p>
          <a:p>
            <a:pPr marL="228600" lvl="0" indent="-228600" algn="l" rtl="0">
              <a:lnSpc>
                <a:spcPct val="90000"/>
              </a:lnSpc>
              <a:spcBef>
                <a:spcPts val="1000"/>
              </a:spcBef>
              <a:spcAft>
                <a:spcPts val="0"/>
              </a:spcAft>
              <a:buClr>
                <a:schemeClr val="dk1"/>
              </a:buClr>
              <a:buSzPts val="2000"/>
              <a:buChar char="•"/>
            </a:pPr>
            <a:r>
              <a:rPr lang="en-US" sz="2000"/>
              <a:t>Computer Vision</a:t>
            </a:r>
            <a:endParaRPr/>
          </a:p>
          <a:p>
            <a:pPr marL="228600" lvl="0" indent="-228600" algn="l" rtl="0">
              <a:lnSpc>
                <a:spcPct val="90000"/>
              </a:lnSpc>
              <a:spcBef>
                <a:spcPts val="1000"/>
              </a:spcBef>
              <a:spcAft>
                <a:spcPts val="0"/>
              </a:spcAft>
              <a:buClr>
                <a:schemeClr val="dk1"/>
              </a:buClr>
              <a:buSzPts val="2000"/>
              <a:buChar char="•"/>
            </a:pPr>
            <a:r>
              <a:rPr lang="en-US" sz="2000"/>
              <a:t>Reinforcement Learning</a:t>
            </a:r>
            <a:endParaRPr/>
          </a:p>
        </p:txBody>
      </p:sp>
      <p:pic>
        <p:nvPicPr>
          <p:cNvPr id="523" name="Google Shape;523;p18" descr="Angle view of circuit shaped like a brain"/>
          <p:cNvPicPr preferRelativeResize="0"/>
          <p:nvPr/>
        </p:nvPicPr>
        <p:blipFill rotWithShape="1">
          <a:blip r:embed="rId3">
            <a:alphaModFix/>
          </a:blip>
          <a:srcRect l="22990" r="22845" b="1"/>
          <a:stretch/>
        </p:blipFill>
        <p:spPr>
          <a:xfrm>
            <a:off x="6857797" y="-10886"/>
            <a:ext cx="5334204" cy="6868886"/>
          </a:xfrm>
          <a:prstGeom prst="rect">
            <a:avLst/>
          </a:prstGeom>
          <a:noFill/>
          <a:ln>
            <a:noFill/>
          </a:ln>
          <a:effectLst>
            <a:outerShdw blurRad="127000" dist="50800" dir="10800000" sx="99000" sy="99000" algn="r" rotWithShape="0">
              <a:srgbClr val="000000">
                <a:alpha val="4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7"/>
        <p:cNvGrpSpPr/>
        <p:nvPr/>
      </p:nvGrpSpPr>
      <p:grpSpPr>
        <a:xfrm>
          <a:off x="0" y="0"/>
          <a:ext cx="0" cy="0"/>
          <a:chOff x="0" y="0"/>
          <a:chExt cx="0" cy="0"/>
        </a:xfrm>
      </p:grpSpPr>
      <p:sp>
        <p:nvSpPr>
          <p:cNvPr id="528" name="Google Shape;528;p19"/>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29" name="Google Shape;529;p19"/>
          <p:cNvSpPr txBox="1">
            <a:spLocks noGrp="1"/>
          </p:cNvSpPr>
          <p:nvPr>
            <p:ph type="title"/>
          </p:nvPr>
        </p:nvSpPr>
        <p:spPr>
          <a:xfrm>
            <a:off x="838200" y="556995"/>
            <a:ext cx="10515600" cy="113369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Basic Concepts of AI</a:t>
            </a:r>
            <a:endParaRPr/>
          </a:p>
        </p:txBody>
      </p:sp>
      <p:grpSp>
        <p:nvGrpSpPr>
          <p:cNvPr id="530" name="Google Shape;530;p19"/>
          <p:cNvGrpSpPr/>
          <p:nvPr/>
        </p:nvGrpSpPr>
        <p:grpSpPr>
          <a:xfrm>
            <a:off x="1398000" y="2036422"/>
            <a:ext cx="9396000" cy="4299797"/>
            <a:chOff x="559800" y="210797"/>
            <a:chExt cx="9396000" cy="4299797"/>
          </a:xfrm>
        </p:grpSpPr>
        <p:sp>
          <p:nvSpPr>
            <p:cNvPr id="531" name="Google Shape;531;p19"/>
            <p:cNvSpPr/>
            <p:nvPr/>
          </p:nvSpPr>
          <p:spPr>
            <a:xfrm>
              <a:off x="559800" y="210797"/>
              <a:ext cx="1512000" cy="1512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9"/>
            <p:cNvSpPr/>
            <p:nvPr/>
          </p:nvSpPr>
          <p:spPr>
            <a:xfrm>
              <a:off x="559800" y="1891776"/>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19"/>
            <p:cNvSpPr txBox="1"/>
            <p:nvPr/>
          </p:nvSpPr>
          <p:spPr>
            <a:xfrm>
              <a:off x="559800" y="1891776"/>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500"/>
                <a:buFont typeface="Arial"/>
                <a:buNone/>
              </a:pPr>
              <a:r>
                <a:rPr lang="en-US" sz="3500" b="1" i="0">
                  <a:solidFill>
                    <a:schemeClr val="dk1"/>
                  </a:solidFill>
                  <a:latin typeface="Arial"/>
                  <a:ea typeface="Arial"/>
                  <a:cs typeface="Arial"/>
                  <a:sym typeface="Arial"/>
                </a:rPr>
                <a:t>Artificial Intelligence</a:t>
              </a:r>
              <a:endParaRPr sz="3500">
                <a:solidFill>
                  <a:schemeClr val="dk1"/>
                </a:solidFill>
                <a:latin typeface="Arial"/>
                <a:ea typeface="Arial"/>
                <a:cs typeface="Arial"/>
                <a:sym typeface="Arial"/>
              </a:endParaRPr>
            </a:p>
          </p:txBody>
        </p:sp>
        <p:sp>
          <p:nvSpPr>
            <p:cNvPr id="534" name="Google Shape;534;p19"/>
            <p:cNvSpPr/>
            <p:nvPr/>
          </p:nvSpPr>
          <p:spPr>
            <a:xfrm>
              <a:off x="559800" y="2618371"/>
              <a:ext cx="4320000" cy="15221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9"/>
            <p:cNvSpPr txBox="1"/>
            <p:nvPr/>
          </p:nvSpPr>
          <p:spPr>
            <a:xfrm>
              <a:off x="559800" y="2988426"/>
              <a:ext cx="4320000" cy="1522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0" i="0" dirty="0">
                  <a:solidFill>
                    <a:schemeClr val="dk1"/>
                  </a:solidFill>
                  <a:latin typeface="Arial"/>
                  <a:ea typeface="Arial"/>
                  <a:cs typeface="Arial"/>
                  <a:sym typeface="Arial"/>
                </a:rPr>
                <a:t>Machines mimicking cognitive functions like learning, reasoning, and problem-solving.</a:t>
              </a:r>
              <a:endParaRPr sz="1700" dirty="0">
                <a:solidFill>
                  <a:schemeClr val="dk1"/>
                </a:solidFill>
                <a:latin typeface="Arial"/>
                <a:ea typeface="Arial"/>
                <a:cs typeface="Arial"/>
                <a:sym typeface="Arial"/>
              </a:endParaRPr>
            </a:p>
          </p:txBody>
        </p:sp>
        <p:sp>
          <p:nvSpPr>
            <p:cNvPr id="536" name="Google Shape;536;p19"/>
            <p:cNvSpPr/>
            <p:nvPr/>
          </p:nvSpPr>
          <p:spPr>
            <a:xfrm>
              <a:off x="5635800" y="210797"/>
              <a:ext cx="1512000" cy="15120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9"/>
            <p:cNvSpPr/>
            <p:nvPr/>
          </p:nvSpPr>
          <p:spPr>
            <a:xfrm>
              <a:off x="5635800" y="1891776"/>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19"/>
            <p:cNvSpPr txBox="1"/>
            <p:nvPr/>
          </p:nvSpPr>
          <p:spPr>
            <a:xfrm>
              <a:off x="5635800" y="1891776"/>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500"/>
                <a:buFont typeface="Arial"/>
                <a:buNone/>
              </a:pPr>
              <a:r>
                <a:rPr lang="en-US" sz="3500" b="1" i="0">
                  <a:solidFill>
                    <a:schemeClr val="dk1"/>
                  </a:solidFill>
                  <a:latin typeface="Arial"/>
                  <a:ea typeface="Arial"/>
                  <a:cs typeface="Arial"/>
                  <a:sym typeface="Arial"/>
                </a:rPr>
                <a:t>Key Concepts</a:t>
              </a:r>
              <a:r>
                <a:rPr lang="en-US" sz="3500" b="0" i="0">
                  <a:solidFill>
                    <a:schemeClr val="dk1"/>
                  </a:solidFill>
                  <a:latin typeface="Arial"/>
                  <a:ea typeface="Arial"/>
                  <a:cs typeface="Arial"/>
                  <a:sym typeface="Arial"/>
                </a:rPr>
                <a:t>:</a:t>
              </a:r>
              <a:endParaRPr sz="3500">
                <a:solidFill>
                  <a:schemeClr val="dk1"/>
                </a:solidFill>
                <a:latin typeface="Arial"/>
                <a:ea typeface="Arial"/>
                <a:cs typeface="Arial"/>
                <a:sym typeface="Arial"/>
              </a:endParaRPr>
            </a:p>
          </p:txBody>
        </p:sp>
        <p:sp>
          <p:nvSpPr>
            <p:cNvPr id="539" name="Google Shape;539;p19"/>
            <p:cNvSpPr/>
            <p:nvPr/>
          </p:nvSpPr>
          <p:spPr>
            <a:xfrm>
              <a:off x="5635800" y="2618371"/>
              <a:ext cx="4320000" cy="152216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9"/>
            <p:cNvSpPr txBox="1"/>
            <p:nvPr/>
          </p:nvSpPr>
          <p:spPr>
            <a:xfrm>
              <a:off x="5635800" y="2618371"/>
              <a:ext cx="4320000" cy="152216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i="0">
                  <a:solidFill>
                    <a:schemeClr val="dk1"/>
                  </a:solidFill>
                  <a:latin typeface="Arial"/>
                  <a:ea typeface="Arial"/>
                  <a:cs typeface="Arial"/>
                  <a:sym typeface="Arial"/>
                </a:rPr>
                <a:t>Algorithms</a:t>
              </a:r>
              <a:r>
                <a:rPr lang="en-US" sz="1700" b="0" i="0">
                  <a:solidFill>
                    <a:schemeClr val="dk1"/>
                  </a:solidFill>
                  <a:latin typeface="Arial"/>
                  <a:ea typeface="Arial"/>
                  <a:cs typeface="Arial"/>
                  <a:sym typeface="Arial"/>
                </a:rPr>
                <a:t>: Instructions for performing tasks.</a:t>
              </a:r>
              <a:endParaRPr sz="1700">
                <a:solidFill>
                  <a:schemeClr val="dk1"/>
                </a:solidFill>
                <a:latin typeface="Arial"/>
                <a:ea typeface="Arial"/>
                <a:cs typeface="Arial"/>
                <a:sym typeface="Arial"/>
              </a:endParaRPr>
            </a:p>
            <a:p>
              <a:pPr marL="0" marR="0" lvl="0" indent="0" algn="l" rtl="0">
                <a:lnSpc>
                  <a:spcPct val="100000"/>
                </a:lnSpc>
                <a:spcBef>
                  <a:spcPts val="595"/>
                </a:spcBef>
                <a:spcAft>
                  <a:spcPts val="0"/>
                </a:spcAft>
                <a:buClr>
                  <a:schemeClr val="dk1"/>
                </a:buClr>
                <a:buSzPts val="1700"/>
                <a:buFont typeface="Arial"/>
                <a:buNone/>
              </a:pPr>
              <a:r>
                <a:rPr lang="en-US" sz="1700" b="1" i="0">
                  <a:solidFill>
                    <a:schemeClr val="dk1"/>
                  </a:solidFill>
                  <a:latin typeface="Arial"/>
                  <a:ea typeface="Arial"/>
                  <a:cs typeface="Arial"/>
                  <a:sym typeface="Arial"/>
                </a:rPr>
                <a:t>Data</a:t>
              </a:r>
              <a:r>
                <a:rPr lang="en-US" sz="1700" b="0" i="0">
                  <a:solidFill>
                    <a:schemeClr val="dk1"/>
                  </a:solidFill>
                  <a:latin typeface="Arial"/>
                  <a:ea typeface="Arial"/>
                  <a:cs typeface="Arial"/>
                  <a:sym typeface="Arial"/>
                </a:rPr>
                <a:t>: The raw input required to make decisions.</a:t>
              </a:r>
              <a:endParaRPr sz="1700">
                <a:solidFill>
                  <a:schemeClr val="dk1"/>
                </a:solidFill>
                <a:latin typeface="Arial"/>
                <a:ea typeface="Arial"/>
                <a:cs typeface="Arial"/>
                <a:sym typeface="Arial"/>
              </a:endParaRPr>
            </a:p>
            <a:p>
              <a:pPr marL="0" marR="0" lvl="0" indent="0" algn="l" rtl="0">
                <a:lnSpc>
                  <a:spcPct val="100000"/>
                </a:lnSpc>
                <a:spcBef>
                  <a:spcPts val="595"/>
                </a:spcBef>
                <a:spcAft>
                  <a:spcPts val="0"/>
                </a:spcAft>
                <a:buClr>
                  <a:schemeClr val="dk1"/>
                </a:buClr>
                <a:buSzPts val="1700"/>
                <a:buFont typeface="Arial"/>
                <a:buNone/>
              </a:pPr>
              <a:r>
                <a:rPr lang="en-US" sz="1700" b="1" i="0">
                  <a:solidFill>
                    <a:schemeClr val="dk1"/>
                  </a:solidFill>
                  <a:latin typeface="Arial"/>
                  <a:ea typeface="Arial"/>
                  <a:cs typeface="Arial"/>
                  <a:sym typeface="Arial"/>
                </a:rPr>
                <a:t>Computing Power</a:t>
              </a:r>
              <a:r>
                <a:rPr lang="en-US" sz="1700" b="0" i="0">
                  <a:solidFill>
                    <a:schemeClr val="dk1"/>
                  </a:solidFill>
                  <a:latin typeface="Arial"/>
                  <a:ea typeface="Arial"/>
                  <a:cs typeface="Arial"/>
                  <a:sym typeface="Arial"/>
                </a:rPr>
                <a:t>: The infrastructure needed to process data.</a:t>
              </a:r>
              <a:endParaRPr sz="1700">
                <a:solidFill>
                  <a:schemeClr val="dk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44"/>
        <p:cNvGrpSpPr/>
        <p:nvPr/>
      </p:nvGrpSpPr>
      <p:grpSpPr>
        <a:xfrm>
          <a:off x="0" y="0"/>
          <a:ext cx="0" cy="0"/>
          <a:chOff x="0" y="0"/>
          <a:chExt cx="0" cy="0"/>
        </a:xfrm>
      </p:grpSpPr>
      <p:sp>
        <p:nvSpPr>
          <p:cNvPr id="545" name="Google Shape;545;p20"/>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46" name="Google Shape;546;p20"/>
          <p:cNvSpPr txBox="1">
            <a:spLocks noGrp="1"/>
          </p:cNvSpPr>
          <p:nvPr>
            <p:ph type="title"/>
          </p:nvPr>
        </p:nvSpPr>
        <p:spPr>
          <a:xfrm>
            <a:off x="838200" y="557188"/>
            <a:ext cx="10515600" cy="113349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How AI Works: 5-Step Process</a:t>
            </a:r>
            <a:endParaRPr/>
          </a:p>
        </p:txBody>
      </p:sp>
      <p:grpSp>
        <p:nvGrpSpPr>
          <p:cNvPr id="547" name="Google Shape;547;p20"/>
          <p:cNvGrpSpPr/>
          <p:nvPr/>
        </p:nvGrpSpPr>
        <p:grpSpPr>
          <a:xfrm>
            <a:off x="841463" y="2801937"/>
            <a:ext cx="10509072" cy="2406269"/>
            <a:chOff x="3263" y="973137"/>
            <a:chExt cx="10509072" cy="2406269"/>
          </a:xfrm>
        </p:grpSpPr>
        <p:sp>
          <p:nvSpPr>
            <p:cNvPr id="548" name="Google Shape;548;p20"/>
            <p:cNvSpPr/>
            <p:nvPr/>
          </p:nvSpPr>
          <p:spPr>
            <a:xfrm>
              <a:off x="3263" y="973137"/>
              <a:ext cx="2274614" cy="810000"/>
            </a:xfrm>
            <a:prstGeom prst="chevron">
              <a:avLst>
                <a:gd name="adj" fmla="val 5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0"/>
            <p:cNvSpPr txBox="1"/>
            <p:nvPr/>
          </p:nvSpPr>
          <p:spPr>
            <a:xfrm>
              <a:off x="408263" y="973137"/>
              <a:ext cx="1464614" cy="810000"/>
            </a:xfrm>
            <a:prstGeom prst="rect">
              <a:avLst/>
            </a:prstGeom>
            <a:noFill/>
            <a:ln>
              <a:noFill/>
            </a:ln>
          </p:spPr>
          <p:txBody>
            <a:bodyPr spcFirstLastPara="1" wrap="square" lIns="60000" tIns="20000" rIns="20000" bIns="2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INPUT</a:t>
              </a:r>
              <a:endParaRPr sz="1500">
                <a:solidFill>
                  <a:schemeClr val="lt1"/>
                </a:solidFill>
                <a:latin typeface="Arial"/>
                <a:ea typeface="Arial"/>
                <a:cs typeface="Arial"/>
                <a:sym typeface="Arial"/>
              </a:endParaRPr>
            </a:p>
          </p:txBody>
        </p:sp>
        <p:sp>
          <p:nvSpPr>
            <p:cNvPr id="550" name="Google Shape;550;p20"/>
            <p:cNvSpPr/>
            <p:nvPr/>
          </p:nvSpPr>
          <p:spPr>
            <a:xfrm>
              <a:off x="3263" y="1884387"/>
              <a:ext cx="1819691" cy="14950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0"/>
            <p:cNvSpPr txBox="1"/>
            <p:nvPr/>
          </p:nvSpPr>
          <p:spPr>
            <a:xfrm>
              <a:off x="3263" y="1884387"/>
              <a:ext cx="1819691" cy="1495019"/>
            </a:xfrm>
            <a:prstGeom prst="rect">
              <a:avLst/>
            </a:prstGeom>
            <a:noFill/>
            <a:ln>
              <a:noFill/>
            </a:ln>
          </p:spPr>
          <p:txBody>
            <a:bodyPr spcFirstLastPara="1" wrap="square" lIns="0" tIns="0" rIns="0" bIns="0" anchor="t" anchorCtr="0">
              <a:noAutofit/>
            </a:bodyPr>
            <a:lstStyle/>
            <a:p>
              <a:pPr marL="114300" marR="0" lvl="1" indent="-114300" algn="l" rtl="0">
                <a:lnSpc>
                  <a:spcPct val="90000"/>
                </a:lnSpc>
                <a:spcBef>
                  <a:spcPts val="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Data Collection</a:t>
              </a:r>
              <a:r>
                <a:rPr lang="en-US" sz="1500" b="0" i="0" u="none" strike="noStrike" cap="none">
                  <a:solidFill>
                    <a:schemeClr val="dk1"/>
                  </a:solidFill>
                  <a:latin typeface="Arial"/>
                  <a:ea typeface="Arial"/>
                  <a:cs typeface="Arial"/>
                  <a:sym typeface="Arial"/>
                </a:rPr>
                <a:t>: AI collects data from various sources and sorts it into categories.</a:t>
              </a:r>
              <a:endParaRPr/>
            </a:p>
          </p:txBody>
        </p:sp>
        <p:sp>
          <p:nvSpPr>
            <p:cNvPr id="552" name="Google Shape;552;p20"/>
            <p:cNvSpPr/>
            <p:nvPr/>
          </p:nvSpPr>
          <p:spPr>
            <a:xfrm>
              <a:off x="2061878" y="973137"/>
              <a:ext cx="2274614" cy="810000"/>
            </a:xfrm>
            <a:prstGeom prst="chevron">
              <a:avLst>
                <a:gd name="adj" fmla="val 50000"/>
              </a:avLst>
            </a:prstGeom>
            <a:solidFill>
              <a:srgbClr val="D5AE1D"/>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0"/>
            <p:cNvSpPr txBox="1"/>
            <p:nvPr/>
          </p:nvSpPr>
          <p:spPr>
            <a:xfrm>
              <a:off x="2466878" y="973137"/>
              <a:ext cx="1464614" cy="810000"/>
            </a:xfrm>
            <a:prstGeom prst="rect">
              <a:avLst/>
            </a:prstGeom>
            <a:noFill/>
            <a:ln>
              <a:noFill/>
            </a:ln>
          </p:spPr>
          <p:txBody>
            <a:bodyPr spcFirstLastPara="1" wrap="square" lIns="60000" tIns="20000" rIns="20000" bIns="2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PROCESSING</a:t>
              </a:r>
              <a:endParaRPr sz="1500">
                <a:solidFill>
                  <a:schemeClr val="lt1"/>
                </a:solidFill>
                <a:latin typeface="Arial"/>
                <a:ea typeface="Arial"/>
                <a:cs typeface="Arial"/>
                <a:sym typeface="Arial"/>
              </a:endParaRPr>
            </a:p>
          </p:txBody>
        </p:sp>
        <p:sp>
          <p:nvSpPr>
            <p:cNvPr id="554" name="Google Shape;554;p20"/>
            <p:cNvSpPr/>
            <p:nvPr/>
          </p:nvSpPr>
          <p:spPr>
            <a:xfrm>
              <a:off x="2061878" y="1884387"/>
              <a:ext cx="1819691" cy="14950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0"/>
            <p:cNvSpPr txBox="1"/>
            <p:nvPr/>
          </p:nvSpPr>
          <p:spPr>
            <a:xfrm>
              <a:off x="2061878" y="1884387"/>
              <a:ext cx="1819691" cy="1495019"/>
            </a:xfrm>
            <a:prstGeom prst="rect">
              <a:avLst/>
            </a:prstGeom>
            <a:noFill/>
            <a:ln>
              <a:noFill/>
            </a:ln>
          </p:spPr>
          <p:txBody>
            <a:bodyPr spcFirstLastPara="1" wrap="square" lIns="0" tIns="0" rIns="0" bIns="0" anchor="t" anchorCtr="0">
              <a:noAutofit/>
            </a:bodyPr>
            <a:lstStyle/>
            <a:p>
              <a:pPr marL="114300" marR="0" lvl="1" indent="-114300" algn="l" rtl="0">
                <a:lnSpc>
                  <a:spcPct val="90000"/>
                </a:lnSpc>
                <a:spcBef>
                  <a:spcPts val="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Data Decoding</a:t>
              </a:r>
              <a:r>
                <a:rPr lang="en-US" sz="1500" b="0" i="0" u="none" strike="noStrike" cap="none">
                  <a:solidFill>
                    <a:schemeClr val="dk1"/>
                  </a:solidFill>
                  <a:latin typeface="Arial"/>
                  <a:ea typeface="Arial"/>
                  <a:cs typeface="Arial"/>
                  <a:sym typeface="Arial"/>
                </a:rPr>
                <a:t>: AI analyzes the data using patterns it’s been programmed to recognize, identifying similarities.</a:t>
              </a:r>
              <a:endParaRPr/>
            </a:p>
          </p:txBody>
        </p:sp>
        <p:sp>
          <p:nvSpPr>
            <p:cNvPr id="556" name="Google Shape;556;p20"/>
            <p:cNvSpPr/>
            <p:nvPr/>
          </p:nvSpPr>
          <p:spPr>
            <a:xfrm>
              <a:off x="4120492" y="973137"/>
              <a:ext cx="2274614" cy="810000"/>
            </a:xfrm>
            <a:prstGeom prst="chevron">
              <a:avLst>
                <a:gd name="adj" fmla="val 50000"/>
              </a:avLst>
            </a:prstGeom>
            <a:solidFill>
              <a:srgbClr val="8CAF1D"/>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0"/>
            <p:cNvSpPr txBox="1"/>
            <p:nvPr/>
          </p:nvSpPr>
          <p:spPr>
            <a:xfrm>
              <a:off x="4525492" y="973137"/>
              <a:ext cx="1464614" cy="810000"/>
            </a:xfrm>
            <a:prstGeom prst="rect">
              <a:avLst/>
            </a:prstGeom>
            <a:noFill/>
            <a:ln>
              <a:noFill/>
            </a:ln>
          </p:spPr>
          <p:txBody>
            <a:bodyPr spcFirstLastPara="1" wrap="square" lIns="60000" tIns="20000" rIns="20000" bIns="2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OUTCOMES</a:t>
              </a:r>
              <a:endParaRPr sz="1500">
                <a:solidFill>
                  <a:schemeClr val="lt1"/>
                </a:solidFill>
                <a:latin typeface="Arial"/>
                <a:ea typeface="Arial"/>
                <a:cs typeface="Arial"/>
                <a:sym typeface="Arial"/>
              </a:endParaRPr>
            </a:p>
          </p:txBody>
        </p:sp>
        <p:sp>
          <p:nvSpPr>
            <p:cNvPr id="558" name="Google Shape;558;p20"/>
            <p:cNvSpPr/>
            <p:nvPr/>
          </p:nvSpPr>
          <p:spPr>
            <a:xfrm>
              <a:off x="4120492" y="1884387"/>
              <a:ext cx="1819691" cy="14950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0"/>
            <p:cNvSpPr txBox="1"/>
            <p:nvPr/>
          </p:nvSpPr>
          <p:spPr>
            <a:xfrm>
              <a:off x="4120492" y="1884387"/>
              <a:ext cx="1819691" cy="1495019"/>
            </a:xfrm>
            <a:prstGeom prst="rect">
              <a:avLst/>
            </a:prstGeom>
            <a:noFill/>
            <a:ln>
              <a:noFill/>
            </a:ln>
          </p:spPr>
          <p:txBody>
            <a:bodyPr spcFirstLastPara="1" wrap="square" lIns="0" tIns="0" rIns="0" bIns="0" anchor="t" anchorCtr="0">
              <a:noAutofit/>
            </a:bodyPr>
            <a:lstStyle/>
            <a:p>
              <a:pPr marL="114300" marR="0" lvl="1" indent="-114300" algn="l" rtl="0">
                <a:lnSpc>
                  <a:spcPct val="90000"/>
                </a:lnSpc>
                <a:spcBef>
                  <a:spcPts val="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Prediction</a:t>
              </a:r>
              <a:r>
                <a:rPr lang="en-US" sz="1500" b="0" i="0" u="none" strike="noStrike" cap="none">
                  <a:solidFill>
                    <a:schemeClr val="dk1"/>
                  </a:solidFill>
                  <a:latin typeface="Arial"/>
                  <a:ea typeface="Arial"/>
                  <a:cs typeface="Arial"/>
                  <a:sym typeface="Arial"/>
                </a:rPr>
                <a:t>: Based on recognized patterns, AI predicts potential outcomes.</a:t>
              </a:r>
              <a:endParaRPr/>
            </a:p>
          </p:txBody>
        </p:sp>
        <p:sp>
          <p:nvSpPr>
            <p:cNvPr id="560" name="Google Shape;560;p20"/>
            <p:cNvSpPr/>
            <p:nvPr/>
          </p:nvSpPr>
          <p:spPr>
            <a:xfrm>
              <a:off x="6179107" y="973137"/>
              <a:ext cx="2274614" cy="810000"/>
            </a:xfrm>
            <a:prstGeom prst="chevron">
              <a:avLst>
                <a:gd name="adj" fmla="val 50000"/>
              </a:avLst>
            </a:prstGeom>
            <a:solidFill>
              <a:srgbClr val="3E8B1B"/>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0"/>
            <p:cNvSpPr txBox="1"/>
            <p:nvPr/>
          </p:nvSpPr>
          <p:spPr>
            <a:xfrm>
              <a:off x="6584107" y="973137"/>
              <a:ext cx="1464614" cy="810000"/>
            </a:xfrm>
            <a:prstGeom prst="rect">
              <a:avLst/>
            </a:prstGeom>
            <a:noFill/>
            <a:ln>
              <a:noFill/>
            </a:ln>
          </p:spPr>
          <p:txBody>
            <a:bodyPr spcFirstLastPara="1" wrap="square" lIns="60000" tIns="20000" rIns="20000" bIns="2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ADJUSTMENTS</a:t>
              </a:r>
              <a:endParaRPr sz="1500">
                <a:solidFill>
                  <a:schemeClr val="lt1"/>
                </a:solidFill>
                <a:latin typeface="Arial"/>
                <a:ea typeface="Arial"/>
                <a:cs typeface="Arial"/>
                <a:sym typeface="Arial"/>
              </a:endParaRPr>
            </a:p>
          </p:txBody>
        </p:sp>
        <p:sp>
          <p:nvSpPr>
            <p:cNvPr id="562" name="Google Shape;562;p20"/>
            <p:cNvSpPr/>
            <p:nvPr/>
          </p:nvSpPr>
          <p:spPr>
            <a:xfrm>
              <a:off x="6179107" y="1884387"/>
              <a:ext cx="1819691" cy="14950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0"/>
            <p:cNvSpPr txBox="1"/>
            <p:nvPr/>
          </p:nvSpPr>
          <p:spPr>
            <a:xfrm>
              <a:off x="6179107" y="1884387"/>
              <a:ext cx="1819691" cy="1495019"/>
            </a:xfrm>
            <a:prstGeom prst="rect">
              <a:avLst/>
            </a:prstGeom>
            <a:noFill/>
            <a:ln>
              <a:noFill/>
            </a:ln>
          </p:spPr>
          <p:txBody>
            <a:bodyPr spcFirstLastPara="1" wrap="square" lIns="0" tIns="0" rIns="0" bIns="0" anchor="t" anchorCtr="0">
              <a:noAutofit/>
            </a:bodyPr>
            <a:lstStyle/>
            <a:p>
              <a:pPr marL="114300" marR="0" lvl="1" indent="-114300" algn="l" rtl="0">
                <a:lnSpc>
                  <a:spcPct val="90000"/>
                </a:lnSpc>
                <a:spcBef>
                  <a:spcPts val="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Learning from Mistakes</a:t>
              </a:r>
              <a:r>
                <a:rPr lang="en-US" sz="1500" b="0" i="0" u="none" strike="noStrike" cap="none">
                  <a:solidFill>
                    <a:schemeClr val="dk1"/>
                  </a:solidFill>
                  <a:latin typeface="Arial"/>
                  <a:ea typeface="Arial"/>
                  <a:cs typeface="Arial"/>
                  <a:sym typeface="Arial"/>
                </a:rPr>
                <a:t>: AI adjusts if outcomes fail, learning from errors and applying changes.</a:t>
              </a:r>
              <a:endParaRPr/>
            </a:p>
          </p:txBody>
        </p:sp>
        <p:sp>
          <p:nvSpPr>
            <p:cNvPr id="564" name="Google Shape;564;p20"/>
            <p:cNvSpPr/>
            <p:nvPr/>
          </p:nvSpPr>
          <p:spPr>
            <a:xfrm>
              <a:off x="8237721" y="973137"/>
              <a:ext cx="2274614" cy="810000"/>
            </a:xfrm>
            <a:prstGeom prst="chevron">
              <a:avLst>
                <a:gd name="adj" fmla="val 5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txBox="1"/>
            <p:nvPr/>
          </p:nvSpPr>
          <p:spPr>
            <a:xfrm>
              <a:off x="8642721" y="973137"/>
              <a:ext cx="1464614" cy="810000"/>
            </a:xfrm>
            <a:prstGeom prst="rect">
              <a:avLst/>
            </a:prstGeom>
            <a:noFill/>
            <a:ln>
              <a:noFill/>
            </a:ln>
          </p:spPr>
          <p:txBody>
            <a:bodyPr spcFirstLastPara="1" wrap="square" lIns="60000" tIns="20000" rIns="20000" bIns="2000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ASSESSMENTS</a:t>
              </a:r>
              <a:endParaRPr sz="1500">
                <a:solidFill>
                  <a:schemeClr val="lt1"/>
                </a:solidFill>
                <a:latin typeface="Arial"/>
                <a:ea typeface="Arial"/>
                <a:cs typeface="Arial"/>
                <a:sym typeface="Arial"/>
              </a:endParaRPr>
            </a:p>
          </p:txBody>
        </p:sp>
        <p:sp>
          <p:nvSpPr>
            <p:cNvPr id="566" name="Google Shape;566;p20"/>
            <p:cNvSpPr/>
            <p:nvPr/>
          </p:nvSpPr>
          <p:spPr>
            <a:xfrm>
              <a:off x="8237721" y="1884387"/>
              <a:ext cx="1819691" cy="149501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txBox="1"/>
            <p:nvPr/>
          </p:nvSpPr>
          <p:spPr>
            <a:xfrm>
              <a:off x="8237721" y="1884387"/>
              <a:ext cx="1819691" cy="1495019"/>
            </a:xfrm>
            <a:prstGeom prst="rect">
              <a:avLst/>
            </a:prstGeom>
            <a:noFill/>
            <a:ln>
              <a:noFill/>
            </a:ln>
          </p:spPr>
          <p:txBody>
            <a:bodyPr spcFirstLastPara="1" wrap="square" lIns="0" tIns="0" rIns="0" bIns="0" anchor="t" anchorCtr="0">
              <a:noAutofit/>
            </a:bodyPr>
            <a:lstStyle/>
            <a:p>
              <a:pPr marL="114300" marR="0" lvl="1" indent="-114300" algn="l" rtl="0">
                <a:lnSpc>
                  <a:spcPct val="90000"/>
                </a:lnSpc>
                <a:spcBef>
                  <a:spcPts val="0"/>
                </a:spcBef>
                <a:spcAft>
                  <a:spcPts val="0"/>
                </a:spcAft>
                <a:buClr>
                  <a:schemeClr val="dk1"/>
                </a:buClr>
                <a:buSzPts val="1500"/>
                <a:buFont typeface="Arial"/>
                <a:buChar char="•"/>
              </a:pPr>
              <a:r>
                <a:rPr lang="en-US" sz="1500" b="1" i="0" u="none" strike="noStrike" cap="none">
                  <a:solidFill>
                    <a:schemeClr val="dk1"/>
                  </a:solidFill>
                  <a:latin typeface="Arial"/>
                  <a:ea typeface="Arial"/>
                  <a:cs typeface="Arial"/>
                  <a:sym typeface="Arial"/>
                </a:rPr>
                <a:t>Continuous Improvement</a:t>
              </a:r>
              <a:r>
                <a:rPr lang="en-US" sz="1500" b="0" i="0" u="none" strike="noStrike" cap="none">
                  <a:solidFill>
                    <a:schemeClr val="dk1"/>
                  </a:solidFill>
                  <a:latin typeface="Arial"/>
                  <a:ea typeface="Arial"/>
                  <a:cs typeface="Arial"/>
                  <a:sym typeface="Arial"/>
                </a:rPr>
                <a:t>: AI continues to refine its predictions and processes by constantly learning from new data.</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1"/>
        <p:cNvGrpSpPr/>
        <p:nvPr/>
      </p:nvGrpSpPr>
      <p:grpSpPr>
        <a:xfrm>
          <a:off x="0" y="0"/>
          <a:ext cx="0" cy="0"/>
          <a:chOff x="0" y="0"/>
          <a:chExt cx="0" cy="0"/>
        </a:xfrm>
      </p:grpSpPr>
      <p:pic>
        <p:nvPicPr>
          <p:cNvPr id="572" name="Google Shape;572;p21" descr="Digital art of brain"/>
          <p:cNvPicPr preferRelativeResize="0"/>
          <p:nvPr/>
        </p:nvPicPr>
        <p:blipFill rotWithShape="1">
          <a:blip r:embed="rId3">
            <a:alphaModFix/>
          </a:blip>
          <a:srcRect/>
          <a:stretch/>
        </p:blipFill>
        <p:spPr>
          <a:xfrm>
            <a:off x="20" y="10"/>
            <a:ext cx="12191980" cy="6857990"/>
          </a:xfrm>
          <a:prstGeom prst="rect">
            <a:avLst/>
          </a:prstGeom>
          <a:noFill/>
          <a:ln>
            <a:noFill/>
          </a:ln>
        </p:spPr>
      </p:pic>
      <p:sp>
        <p:nvSpPr>
          <p:cNvPr id="573" name="Google Shape;573;p21"/>
          <p:cNvSpPr/>
          <p:nvPr/>
        </p:nvSpPr>
        <p:spPr>
          <a:xfrm>
            <a:off x="0" y="5320142"/>
            <a:ext cx="12192000" cy="736551"/>
          </a:xfrm>
          <a:prstGeom prst="rect">
            <a:avLst/>
          </a:prstGeom>
          <a:solidFill>
            <a:schemeClr val="lt1">
              <a:alpha val="9294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74" name="Google Shape;574;p21"/>
          <p:cNvSpPr txBox="1">
            <a:spLocks noGrp="1"/>
          </p:cNvSpPr>
          <p:nvPr>
            <p:ph type="title"/>
          </p:nvPr>
        </p:nvSpPr>
        <p:spPr>
          <a:xfrm>
            <a:off x="523875" y="5317240"/>
            <a:ext cx="11210925" cy="744836"/>
          </a:xfrm>
          <a:prstGeom prst="rect">
            <a:avLst/>
          </a:prstGeom>
          <a:noFill/>
          <a:ln>
            <a:noFill/>
          </a:ln>
        </p:spPr>
        <p:txBody>
          <a:bodyPr spcFirstLastPara="1" wrap="square" lIns="91425" tIns="45700" rIns="91425" bIns="45700" anchor="ctr" anchorCtr="0">
            <a:normAutofit fontScale="90000"/>
          </a:bodyPr>
          <a:lstStyle/>
          <a:p>
            <a:pPr marL="0" marR="0" lvl="0" indent="0" algn="l" rtl="0">
              <a:lnSpc>
                <a:spcPct val="90000"/>
              </a:lnSpc>
              <a:spcBef>
                <a:spcPts val="0"/>
              </a:spcBef>
              <a:spcAft>
                <a:spcPts val="0"/>
              </a:spcAft>
              <a:buClr>
                <a:schemeClr val="dk1"/>
              </a:buClr>
              <a:buSzPct val="100000"/>
              <a:buFont typeface="Play"/>
              <a:buNone/>
            </a:pPr>
            <a:r>
              <a:rPr lang="en-US" sz="3600" u="sng">
                <a:solidFill>
                  <a:schemeClr val="hlink"/>
                </a:solidFill>
                <a:hlinkClick r:id="rId4"/>
              </a:rPr>
              <a:t>What is Artificial Intelligence? | Artificial Intelligence In 5 Minutes | AI Explained | Simplilearn</a:t>
            </a:r>
            <a:endParaRPr sz="3600" b="0" i="0" u="none" strike="noStrike"/>
          </a:p>
        </p:txBody>
      </p:sp>
      <p:cxnSp>
        <p:nvCxnSpPr>
          <p:cNvPr id="575" name="Google Shape;575;p21"/>
          <p:cNvCxnSpPr/>
          <p:nvPr/>
        </p:nvCxnSpPr>
        <p:spPr>
          <a:xfrm>
            <a:off x="0" y="5241983"/>
            <a:ext cx="12192000" cy="0"/>
          </a:xfrm>
          <a:prstGeom prst="straightConnector1">
            <a:avLst/>
          </a:prstGeom>
          <a:noFill/>
          <a:ln w="41275" cap="flat" cmpd="sng">
            <a:solidFill>
              <a:schemeClr val="lt1">
                <a:alpha val="89803"/>
              </a:schemeClr>
            </a:solidFill>
            <a:prstDash val="solid"/>
            <a:miter lim="800000"/>
            <a:headEnd type="none" w="sm" len="sm"/>
            <a:tailEnd type="none" w="sm" len="sm"/>
          </a:ln>
        </p:spPr>
      </p:cxnSp>
      <p:cxnSp>
        <p:nvCxnSpPr>
          <p:cNvPr id="576" name="Google Shape;576;p21"/>
          <p:cNvCxnSpPr/>
          <p:nvPr/>
        </p:nvCxnSpPr>
        <p:spPr>
          <a:xfrm>
            <a:off x="0" y="6134852"/>
            <a:ext cx="12192000" cy="0"/>
          </a:xfrm>
          <a:prstGeom prst="straightConnector1">
            <a:avLst/>
          </a:prstGeom>
          <a:noFill/>
          <a:ln w="41275" cap="flat" cmpd="sng">
            <a:solidFill>
              <a:schemeClr val="lt1">
                <a:alpha val="89803"/>
              </a:schemeClr>
            </a:solidFill>
            <a:prstDash val="solid"/>
            <a:miter lim="800000"/>
            <a:headEnd type="none" w="sm" len="sm"/>
            <a:tailEnd type="none" w="sm" len="sm"/>
          </a:ln>
        </p:spPr>
      </p:cxnSp>
      <p:sp>
        <p:nvSpPr>
          <p:cNvPr id="577" name="Google Shape;577;p21"/>
          <p:cNvSpPr/>
          <p:nvPr/>
        </p:nvSpPr>
        <p:spPr>
          <a:xfrm>
            <a:off x="1261533" y="84669"/>
            <a:ext cx="9668934" cy="5020731"/>
          </a:xfrm>
          <a:prstGeom prst="roundRect">
            <a:avLst>
              <a:gd name="adj" fmla="val 16667"/>
            </a:avLst>
          </a:prstGeom>
          <a:blipFill rotWithShape="1">
            <a:blip r:embed="rId5">
              <a:alphaModFix/>
            </a:blip>
            <a:stretch>
              <a:fillRect/>
            </a:stretch>
          </a:blip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100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700"/>
                                        <p:tgtEl>
                                          <p:spTgt spid="5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2" name="Google Shape;58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0F4761"/>
              </a:buClr>
              <a:buSzPts val="4400"/>
              <a:buFont typeface="Play"/>
              <a:buNone/>
            </a:pPr>
            <a:r>
              <a:rPr lang="en-US" i="0" u="none" strike="noStrike">
                <a:solidFill>
                  <a:srgbClr val="0F4761"/>
                </a:solidFill>
                <a:latin typeface="Play"/>
                <a:ea typeface="Play"/>
                <a:cs typeface="Play"/>
                <a:sym typeface="Play"/>
              </a:rPr>
              <a:t>Machine Learning (ML)</a:t>
            </a:r>
            <a:endParaRPr/>
          </a:p>
        </p:txBody>
      </p:sp>
      <p:grpSp>
        <p:nvGrpSpPr>
          <p:cNvPr id="583" name="Google Shape;583;p22"/>
          <p:cNvGrpSpPr/>
          <p:nvPr/>
        </p:nvGrpSpPr>
        <p:grpSpPr>
          <a:xfrm>
            <a:off x="1164624" y="2340244"/>
            <a:ext cx="10108294" cy="3559165"/>
            <a:chOff x="326424" y="514619"/>
            <a:chExt cx="10108294" cy="3559165"/>
          </a:xfrm>
        </p:grpSpPr>
        <p:sp>
          <p:nvSpPr>
            <p:cNvPr id="584" name="Google Shape;584;p22"/>
            <p:cNvSpPr/>
            <p:nvPr/>
          </p:nvSpPr>
          <p:spPr>
            <a:xfrm>
              <a:off x="326424" y="829473"/>
              <a:ext cx="1509048" cy="1509048"/>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2"/>
            <p:cNvSpPr/>
            <p:nvPr/>
          </p:nvSpPr>
          <p:spPr>
            <a:xfrm>
              <a:off x="326424" y="2454294"/>
              <a:ext cx="4311566" cy="6675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2"/>
            <p:cNvSpPr txBox="1"/>
            <p:nvPr/>
          </p:nvSpPr>
          <p:spPr>
            <a:xfrm>
              <a:off x="326424" y="2454294"/>
              <a:ext cx="4311566" cy="66759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b="0" i="0">
                  <a:solidFill>
                    <a:schemeClr val="dk1"/>
                  </a:solidFill>
                  <a:latin typeface="Arial"/>
                  <a:ea typeface="Arial"/>
                  <a:cs typeface="Arial"/>
                  <a:sym typeface="Arial"/>
                </a:rPr>
                <a:t>ML is a subset of AI that allows systems to learn and improve from experience without being explicitly programmed.</a:t>
              </a:r>
              <a:endParaRPr sz="1400">
                <a:solidFill>
                  <a:schemeClr val="dk1"/>
                </a:solidFill>
                <a:latin typeface="Arial"/>
                <a:ea typeface="Arial"/>
                <a:cs typeface="Arial"/>
                <a:sym typeface="Arial"/>
              </a:endParaRPr>
            </a:p>
          </p:txBody>
        </p:sp>
        <p:sp>
          <p:nvSpPr>
            <p:cNvPr id="587" name="Google Shape;587;p22"/>
            <p:cNvSpPr/>
            <p:nvPr/>
          </p:nvSpPr>
          <p:spPr>
            <a:xfrm>
              <a:off x="326424" y="3175740"/>
              <a:ext cx="4311566" cy="34612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2"/>
            <p:cNvSpPr/>
            <p:nvPr/>
          </p:nvSpPr>
          <p:spPr>
            <a:xfrm>
              <a:off x="5635062" y="514619"/>
              <a:ext cx="1509048" cy="1509048"/>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2"/>
            <p:cNvSpPr/>
            <p:nvPr/>
          </p:nvSpPr>
          <p:spPr>
            <a:xfrm>
              <a:off x="5635062" y="2139440"/>
              <a:ext cx="4311566" cy="66759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2"/>
            <p:cNvSpPr txBox="1"/>
            <p:nvPr/>
          </p:nvSpPr>
          <p:spPr>
            <a:xfrm>
              <a:off x="5635062" y="2139440"/>
              <a:ext cx="4311566" cy="66759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Types of ML</a:t>
              </a:r>
              <a:r>
                <a:rPr lang="en-US" sz="1400" b="0" i="0">
                  <a:solidFill>
                    <a:schemeClr val="dk1"/>
                  </a:solidFill>
                  <a:latin typeface="Arial"/>
                  <a:ea typeface="Arial"/>
                  <a:cs typeface="Arial"/>
                  <a:sym typeface="Arial"/>
                </a:rPr>
                <a:t>:</a:t>
              </a:r>
              <a:endParaRPr sz="1400">
                <a:solidFill>
                  <a:schemeClr val="dk1"/>
                </a:solidFill>
                <a:latin typeface="Arial"/>
                <a:ea typeface="Arial"/>
                <a:cs typeface="Arial"/>
                <a:sym typeface="Arial"/>
              </a:endParaRPr>
            </a:p>
          </p:txBody>
        </p:sp>
        <p:sp>
          <p:nvSpPr>
            <p:cNvPr id="591" name="Google Shape;591;p22"/>
            <p:cNvSpPr/>
            <p:nvPr/>
          </p:nvSpPr>
          <p:spPr>
            <a:xfrm>
              <a:off x="5638058" y="2468244"/>
              <a:ext cx="4796660" cy="160554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2"/>
            <p:cNvSpPr txBox="1"/>
            <p:nvPr/>
          </p:nvSpPr>
          <p:spPr>
            <a:xfrm>
              <a:off x="5638058" y="2468244"/>
              <a:ext cx="4796660" cy="16055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Supervised Learning</a:t>
              </a:r>
              <a:r>
                <a:rPr lang="en-US" sz="1400" b="0" i="0">
                  <a:solidFill>
                    <a:schemeClr val="dk1"/>
                  </a:solidFill>
                  <a:latin typeface="Arial"/>
                  <a:ea typeface="Arial"/>
                  <a:cs typeface="Arial"/>
                  <a:sym typeface="Arial"/>
                </a:rPr>
                <a:t>: Training models using labeled data.</a:t>
              </a:r>
              <a:endParaRPr sz="1400">
                <a:solidFill>
                  <a:schemeClr val="dk1"/>
                </a:solidFill>
                <a:latin typeface="Arial"/>
                <a:ea typeface="Arial"/>
                <a:cs typeface="Arial"/>
                <a:sym typeface="Arial"/>
              </a:endParaRPr>
            </a:p>
            <a:p>
              <a:pPr marL="0" marR="0" lvl="0" indent="0" algn="l" rtl="0">
                <a:lnSpc>
                  <a:spcPct val="100000"/>
                </a:lnSpc>
                <a:spcBef>
                  <a:spcPts val="490"/>
                </a:spcBef>
                <a:spcAft>
                  <a:spcPts val="0"/>
                </a:spcAft>
                <a:buClr>
                  <a:schemeClr val="dk1"/>
                </a:buClr>
                <a:buSzPts val="1400"/>
                <a:buFont typeface="Arial"/>
                <a:buNone/>
              </a:pPr>
              <a:r>
                <a:rPr lang="en-US" sz="1400" b="1" i="0">
                  <a:solidFill>
                    <a:schemeClr val="dk1"/>
                  </a:solidFill>
                  <a:latin typeface="Arial"/>
                  <a:ea typeface="Arial"/>
                  <a:cs typeface="Arial"/>
                  <a:sym typeface="Arial"/>
                </a:rPr>
                <a:t>Unsupervised Learning</a:t>
              </a:r>
              <a:r>
                <a:rPr lang="en-US" sz="1400" b="0" i="0">
                  <a:solidFill>
                    <a:schemeClr val="dk1"/>
                  </a:solidFill>
                  <a:latin typeface="Arial"/>
                  <a:ea typeface="Arial"/>
                  <a:cs typeface="Arial"/>
                  <a:sym typeface="Arial"/>
                </a:rPr>
                <a:t>: Finding hidden patterns in data.</a:t>
              </a:r>
              <a:endParaRPr sz="1400">
                <a:solidFill>
                  <a:schemeClr val="dk1"/>
                </a:solidFill>
                <a:latin typeface="Arial"/>
                <a:ea typeface="Arial"/>
                <a:cs typeface="Arial"/>
                <a:sym typeface="Arial"/>
              </a:endParaRPr>
            </a:p>
            <a:p>
              <a:pPr marL="0" marR="0" lvl="0" indent="0" algn="l" rtl="0">
                <a:lnSpc>
                  <a:spcPct val="100000"/>
                </a:lnSpc>
                <a:spcBef>
                  <a:spcPts val="490"/>
                </a:spcBef>
                <a:spcAft>
                  <a:spcPts val="0"/>
                </a:spcAft>
                <a:buClr>
                  <a:schemeClr val="dk1"/>
                </a:buClr>
                <a:buSzPts val="1400"/>
                <a:buFont typeface="Arial"/>
                <a:buNone/>
              </a:pPr>
              <a:r>
                <a:rPr lang="en-US" sz="1400" b="1" i="0">
                  <a:solidFill>
                    <a:schemeClr val="dk1"/>
                  </a:solidFill>
                  <a:latin typeface="Arial"/>
                  <a:ea typeface="Arial"/>
                  <a:cs typeface="Arial"/>
                  <a:sym typeface="Arial"/>
                </a:rPr>
                <a:t>Reinforcement Learning</a:t>
              </a:r>
              <a:r>
                <a:rPr lang="en-US" sz="1400" b="0" i="0">
                  <a:solidFill>
                    <a:schemeClr val="dk1"/>
                  </a:solidFill>
                  <a:latin typeface="Arial"/>
                  <a:ea typeface="Arial"/>
                  <a:cs typeface="Arial"/>
                  <a:sym typeface="Arial"/>
                </a:rPr>
                <a:t>: Learning through trial and error, rewarding correct actions.</a:t>
              </a:r>
              <a:endParaRPr sz="1400">
                <a:solidFill>
                  <a:schemeClr val="dk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6"/>
        <p:cNvGrpSpPr/>
        <p:nvPr/>
      </p:nvGrpSpPr>
      <p:grpSpPr>
        <a:xfrm>
          <a:off x="0" y="0"/>
          <a:ext cx="0" cy="0"/>
          <a:chOff x="0" y="0"/>
          <a:chExt cx="0" cy="0"/>
        </a:xfrm>
      </p:grpSpPr>
      <p:sp>
        <p:nvSpPr>
          <p:cNvPr id="597" name="Google Shape;597;p2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98" name="Google Shape;598;p23"/>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Machine Learning: Key Concepts</a:t>
            </a:r>
            <a:endParaRPr/>
          </a:p>
        </p:txBody>
      </p:sp>
      <p:sp>
        <p:nvSpPr>
          <p:cNvPr id="599" name="Google Shape;599;p23"/>
          <p:cNvSpPr/>
          <p:nvPr/>
        </p:nvSpPr>
        <p:spPr>
          <a:xfrm>
            <a:off x="10198657" y="1"/>
            <a:ext cx="1155142" cy="625027"/>
          </a:xfrm>
          <a:custGeom>
            <a:avLst/>
            <a:gdLst/>
            <a:ahLst/>
            <a:cxnLst/>
            <a:rect l="l" t="t" r="r" b="b"/>
            <a:pathLst>
              <a:path w="1155142" h="625027" extrusionOk="0">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0" name="Google Shape;600;p23"/>
          <p:cNvSpPr/>
          <p:nvPr/>
        </p:nvSpPr>
        <p:spPr>
          <a:xfrm>
            <a:off x="6808185" y="3423959"/>
            <a:ext cx="540822" cy="540822"/>
          </a:xfrm>
          <a:prstGeom prst="ellipse">
            <a:avLst/>
          </a:prstGeom>
          <a:noFill/>
          <a:ln w="1270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1" name="Google Shape;601;p23"/>
          <p:cNvSpPr/>
          <p:nvPr/>
        </p:nvSpPr>
        <p:spPr>
          <a:xfrm>
            <a:off x="6749602" y="1"/>
            <a:ext cx="2066948" cy="1621879"/>
          </a:xfrm>
          <a:custGeom>
            <a:avLst/>
            <a:gdLst/>
            <a:ahLst/>
            <a:cxnLst/>
            <a:rect l="l" t="t" r="r" b="b"/>
            <a:pathLst>
              <a:path w="2066948" h="1621879" extrusionOk="0">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602" name="Google Shape;602;p23"/>
          <p:cNvCxnSpPr/>
          <p:nvPr/>
        </p:nvCxnSpPr>
        <p:spPr>
          <a:xfrm>
            <a:off x="12138745" y="1027906"/>
            <a:ext cx="0" cy="1597708"/>
          </a:xfrm>
          <a:prstGeom prst="straightConnector1">
            <a:avLst/>
          </a:prstGeom>
          <a:noFill/>
          <a:ln w="127000" cap="rnd" cmpd="sng">
            <a:solidFill>
              <a:schemeClr val="accent4"/>
            </a:solidFill>
            <a:prstDash val="dash"/>
            <a:miter lim="800000"/>
            <a:headEnd type="none" w="sm" len="sm"/>
            <a:tailEnd type="none" w="sm" len="sm"/>
          </a:ln>
        </p:spPr>
      </p:cxnSp>
      <p:sp>
        <p:nvSpPr>
          <p:cNvPr id="603" name="Google Shape;603;p23"/>
          <p:cNvSpPr/>
          <p:nvPr/>
        </p:nvSpPr>
        <p:spPr>
          <a:xfrm rot="-1136562">
            <a:off x="7456580" y="5166682"/>
            <a:ext cx="1835725" cy="2024785"/>
          </a:xfrm>
          <a:custGeom>
            <a:avLst/>
            <a:gdLst/>
            <a:ahLst/>
            <a:cxnLst/>
            <a:rect l="l" t="t" r="r" b="b"/>
            <a:pathLst>
              <a:path w="1835725" h="2024785" extrusionOk="0">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04" name="Google Shape;604;p23"/>
          <p:cNvSpPr/>
          <p:nvPr/>
        </p:nvSpPr>
        <p:spPr>
          <a:xfrm>
            <a:off x="6809527" y="6033795"/>
            <a:ext cx="1991064" cy="824205"/>
          </a:xfrm>
          <a:custGeom>
            <a:avLst/>
            <a:gdLst/>
            <a:ahLst/>
            <a:cxnLst/>
            <a:rect l="l" t="t" r="r" b="b"/>
            <a:pathLst>
              <a:path w="1991064" h="824205" extrusionOk="0">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05" name="Google Shape;605;p23"/>
          <p:cNvSpPr/>
          <p:nvPr/>
        </p:nvSpPr>
        <p:spPr>
          <a:xfrm>
            <a:off x="10851696" y="5519196"/>
            <a:ext cx="1340305" cy="1338805"/>
          </a:xfrm>
          <a:custGeom>
            <a:avLst/>
            <a:gdLst/>
            <a:ahLst/>
            <a:cxnLst/>
            <a:rect l="l" t="t" r="r" b="b"/>
            <a:pathLst>
              <a:path w="1340305" h="1338805" extrusionOk="0">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06" name="Google Shape;606;p23"/>
          <p:cNvGrpSpPr/>
          <p:nvPr/>
        </p:nvGrpSpPr>
        <p:grpSpPr>
          <a:xfrm>
            <a:off x="1263851" y="1827860"/>
            <a:ext cx="10024975" cy="4662778"/>
            <a:chOff x="425651" y="2235"/>
            <a:chExt cx="10024975" cy="4662778"/>
          </a:xfrm>
        </p:grpSpPr>
        <p:sp>
          <p:nvSpPr>
            <p:cNvPr id="607" name="Google Shape;607;p23"/>
            <p:cNvSpPr/>
            <p:nvPr/>
          </p:nvSpPr>
          <p:spPr>
            <a:xfrm>
              <a:off x="425651" y="2235"/>
              <a:ext cx="2331389" cy="1398833"/>
            </a:xfrm>
            <a:prstGeom prst="rect">
              <a:avLst/>
            </a:prstGeom>
            <a:solidFill>
              <a:srgbClr val="E97131"/>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3"/>
            <p:cNvSpPr txBox="1"/>
            <p:nvPr/>
          </p:nvSpPr>
          <p:spPr>
            <a:xfrm>
              <a:off x="425651" y="2235"/>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DATA</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The foundation of ML, crucial for learning.</a:t>
              </a:r>
              <a:endParaRPr sz="1400" b="0" i="0" u="none" strike="noStrike" cap="none">
                <a:solidFill>
                  <a:schemeClr val="lt1"/>
                </a:solidFill>
                <a:latin typeface="Arial"/>
                <a:ea typeface="Arial"/>
                <a:cs typeface="Arial"/>
                <a:sym typeface="Arial"/>
              </a:endParaRPr>
            </a:p>
          </p:txBody>
        </p:sp>
        <p:sp>
          <p:nvSpPr>
            <p:cNvPr id="609" name="Google Shape;609;p23"/>
            <p:cNvSpPr/>
            <p:nvPr/>
          </p:nvSpPr>
          <p:spPr>
            <a:xfrm>
              <a:off x="2990180" y="2235"/>
              <a:ext cx="2331389" cy="1398833"/>
            </a:xfrm>
            <a:prstGeom prst="rect">
              <a:avLst/>
            </a:prstGeom>
            <a:solidFill>
              <a:srgbClr val="E48C24"/>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3"/>
            <p:cNvSpPr txBox="1"/>
            <p:nvPr/>
          </p:nvSpPr>
          <p:spPr>
            <a:xfrm>
              <a:off x="2990180" y="2235"/>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ALGORITHMS</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Methods for analysing data (e.g., Decision Trees, Neural Networks).</a:t>
              </a:r>
              <a:endParaRPr sz="1400" b="0" i="0" u="none" strike="noStrike" cap="none">
                <a:solidFill>
                  <a:schemeClr val="lt1"/>
                </a:solidFill>
                <a:latin typeface="Arial"/>
                <a:ea typeface="Arial"/>
                <a:cs typeface="Arial"/>
                <a:sym typeface="Arial"/>
              </a:endParaRPr>
            </a:p>
          </p:txBody>
        </p:sp>
        <p:sp>
          <p:nvSpPr>
            <p:cNvPr id="611" name="Google Shape;611;p23"/>
            <p:cNvSpPr/>
            <p:nvPr/>
          </p:nvSpPr>
          <p:spPr>
            <a:xfrm>
              <a:off x="5554708" y="2235"/>
              <a:ext cx="2331389" cy="1398833"/>
            </a:xfrm>
            <a:prstGeom prst="rect">
              <a:avLst/>
            </a:prstGeom>
            <a:solidFill>
              <a:srgbClr val="DAA81D"/>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3"/>
            <p:cNvSpPr txBox="1"/>
            <p:nvPr/>
          </p:nvSpPr>
          <p:spPr>
            <a:xfrm>
              <a:off x="5554708" y="2235"/>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TRAINING</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Process of learning from data to generalize patterns.</a:t>
              </a:r>
              <a:endParaRPr sz="1400" b="0" i="0" u="none" strike="noStrike" cap="none">
                <a:solidFill>
                  <a:schemeClr val="lt1"/>
                </a:solidFill>
                <a:latin typeface="Arial"/>
                <a:ea typeface="Arial"/>
                <a:cs typeface="Arial"/>
                <a:sym typeface="Arial"/>
              </a:endParaRPr>
            </a:p>
          </p:txBody>
        </p:sp>
        <p:sp>
          <p:nvSpPr>
            <p:cNvPr id="613" name="Google Shape;613;p23"/>
            <p:cNvSpPr/>
            <p:nvPr/>
          </p:nvSpPr>
          <p:spPr>
            <a:xfrm>
              <a:off x="8119237" y="2235"/>
              <a:ext cx="2331389" cy="1398833"/>
            </a:xfrm>
            <a:prstGeom prst="rect">
              <a:avLst/>
            </a:prstGeom>
            <a:solidFill>
              <a:srgbClr val="C8BE1E"/>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3"/>
            <p:cNvSpPr txBox="1"/>
            <p:nvPr/>
          </p:nvSpPr>
          <p:spPr>
            <a:xfrm>
              <a:off x="8119237" y="2235"/>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FEATURES</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Key attributes influencing model predictions.</a:t>
              </a:r>
              <a:endParaRPr sz="1400" b="0" i="0" u="none" strike="noStrike" cap="none">
                <a:solidFill>
                  <a:schemeClr val="lt1"/>
                </a:solidFill>
                <a:latin typeface="Arial"/>
                <a:ea typeface="Arial"/>
                <a:cs typeface="Arial"/>
                <a:sym typeface="Arial"/>
              </a:endParaRPr>
            </a:p>
          </p:txBody>
        </p:sp>
        <p:sp>
          <p:nvSpPr>
            <p:cNvPr id="615" name="Google Shape;615;p23"/>
            <p:cNvSpPr/>
            <p:nvPr/>
          </p:nvSpPr>
          <p:spPr>
            <a:xfrm>
              <a:off x="425651" y="1634208"/>
              <a:ext cx="2331389" cy="1398833"/>
            </a:xfrm>
            <a:prstGeom prst="rect">
              <a:avLst/>
            </a:prstGeom>
            <a:solidFill>
              <a:srgbClr val="A2B71D"/>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3"/>
            <p:cNvSpPr txBox="1"/>
            <p:nvPr/>
          </p:nvSpPr>
          <p:spPr>
            <a:xfrm>
              <a:off x="425651" y="1634208"/>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LABELS</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Known outcomes in supervised learning.</a:t>
              </a:r>
              <a:endParaRPr sz="1400" b="0" i="0" u="none" strike="noStrike" cap="none">
                <a:solidFill>
                  <a:schemeClr val="lt1"/>
                </a:solidFill>
                <a:latin typeface="Arial"/>
                <a:ea typeface="Arial"/>
                <a:cs typeface="Arial"/>
                <a:sym typeface="Arial"/>
              </a:endParaRPr>
            </a:p>
          </p:txBody>
        </p:sp>
        <p:sp>
          <p:nvSpPr>
            <p:cNvPr id="617" name="Google Shape;617;p23"/>
            <p:cNvSpPr/>
            <p:nvPr/>
          </p:nvSpPr>
          <p:spPr>
            <a:xfrm>
              <a:off x="2990180" y="1634208"/>
              <a:ext cx="2331389" cy="1398833"/>
            </a:xfrm>
            <a:prstGeom prst="rect">
              <a:avLst/>
            </a:prstGeom>
            <a:solidFill>
              <a:srgbClr val="79A71D"/>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3"/>
            <p:cNvSpPr txBox="1"/>
            <p:nvPr/>
          </p:nvSpPr>
          <p:spPr>
            <a:xfrm>
              <a:off x="2990180" y="1634208"/>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SUPERVISED LEARNING</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Learning from labelled data (e.g., Classification, Regression).</a:t>
              </a:r>
              <a:endParaRPr sz="1400" b="0" i="0" u="none" strike="noStrike" cap="none">
                <a:solidFill>
                  <a:schemeClr val="lt1"/>
                </a:solidFill>
                <a:latin typeface="Arial"/>
                <a:ea typeface="Arial"/>
                <a:cs typeface="Arial"/>
                <a:sym typeface="Arial"/>
              </a:endParaRPr>
            </a:p>
          </p:txBody>
        </p:sp>
        <p:sp>
          <p:nvSpPr>
            <p:cNvPr id="619" name="Google Shape;619;p23"/>
            <p:cNvSpPr/>
            <p:nvPr/>
          </p:nvSpPr>
          <p:spPr>
            <a:xfrm>
              <a:off x="5554708" y="1634208"/>
              <a:ext cx="2331389" cy="1398833"/>
            </a:xfrm>
            <a:prstGeom prst="rect">
              <a:avLst/>
            </a:prstGeom>
            <a:solidFill>
              <a:srgbClr val="55971D"/>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3"/>
            <p:cNvSpPr txBox="1"/>
            <p:nvPr/>
          </p:nvSpPr>
          <p:spPr>
            <a:xfrm>
              <a:off x="5554708" y="1634208"/>
              <a:ext cx="2331389" cy="1398833"/>
            </a:xfrm>
            <a:prstGeom prst="rect">
              <a:avLst/>
            </a:prstGeom>
            <a:noFill/>
            <a:ln>
              <a:noFill/>
            </a:ln>
          </p:spPr>
          <p:txBody>
            <a:bodyPr spcFirstLastPara="1" wrap="square" lIns="53325" tIns="53325" rIns="53325" bIns="53325"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UNSUPERVISED LEARNING</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Finding patterns in unlabelled data (e.g., Clustering, Dimensionality Reduction).</a:t>
              </a:r>
              <a:endParaRPr sz="1400" b="0" i="0" u="none" strike="noStrike" cap="none">
                <a:solidFill>
                  <a:schemeClr val="lt1"/>
                </a:solidFill>
                <a:latin typeface="Arial"/>
                <a:ea typeface="Arial"/>
                <a:cs typeface="Arial"/>
                <a:sym typeface="Arial"/>
              </a:endParaRPr>
            </a:p>
          </p:txBody>
        </p:sp>
        <p:sp>
          <p:nvSpPr>
            <p:cNvPr id="621" name="Google Shape;621;p23"/>
            <p:cNvSpPr/>
            <p:nvPr/>
          </p:nvSpPr>
          <p:spPr>
            <a:xfrm>
              <a:off x="8119237" y="1634208"/>
              <a:ext cx="2331389" cy="1398833"/>
            </a:xfrm>
            <a:prstGeom prst="rect">
              <a:avLst/>
            </a:prstGeom>
            <a:solidFill>
              <a:srgbClr val="38871B"/>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3"/>
            <p:cNvSpPr txBox="1"/>
            <p:nvPr/>
          </p:nvSpPr>
          <p:spPr>
            <a:xfrm>
              <a:off x="8119237" y="1634208"/>
              <a:ext cx="2331389" cy="139883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MODEL EVALUATION</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Measuring performance using accuracy, precision, recall, etc.</a:t>
              </a:r>
              <a:endParaRPr sz="1400" b="0" i="0" u="none" strike="noStrike" cap="none">
                <a:solidFill>
                  <a:schemeClr val="lt1"/>
                </a:solidFill>
                <a:latin typeface="Arial"/>
                <a:ea typeface="Arial"/>
                <a:cs typeface="Arial"/>
                <a:sym typeface="Arial"/>
              </a:endParaRPr>
            </a:p>
          </p:txBody>
        </p:sp>
        <p:sp>
          <p:nvSpPr>
            <p:cNvPr id="623" name="Google Shape;623;p23"/>
            <p:cNvSpPr/>
            <p:nvPr/>
          </p:nvSpPr>
          <p:spPr>
            <a:xfrm>
              <a:off x="2990180" y="3266180"/>
              <a:ext cx="2331389" cy="1398833"/>
            </a:xfrm>
            <a:prstGeom prst="rect">
              <a:avLst/>
            </a:prstGeom>
            <a:solidFill>
              <a:srgbClr val="20781A"/>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3"/>
            <p:cNvSpPr txBox="1"/>
            <p:nvPr/>
          </p:nvSpPr>
          <p:spPr>
            <a:xfrm>
              <a:off x="2990180" y="3266180"/>
              <a:ext cx="2331389" cy="139883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OVERFITTING &amp; UNDERFITTING</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Balancing model complexity.</a:t>
              </a:r>
              <a:endParaRPr sz="1400" b="0" i="0" u="none" strike="noStrike" cap="none">
                <a:solidFill>
                  <a:schemeClr val="lt1"/>
                </a:solidFill>
                <a:latin typeface="Arial"/>
                <a:ea typeface="Arial"/>
                <a:cs typeface="Arial"/>
                <a:sym typeface="Arial"/>
              </a:endParaRPr>
            </a:p>
          </p:txBody>
        </p:sp>
        <p:sp>
          <p:nvSpPr>
            <p:cNvPr id="625" name="Google Shape;625;p23"/>
            <p:cNvSpPr/>
            <p:nvPr/>
          </p:nvSpPr>
          <p:spPr>
            <a:xfrm>
              <a:off x="5554708" y="3266180"/>
              <a:ext cx="2331389" cy="1398833"/>
            </a:xfrm>
            <a:prstGeom prst="rect">
              <a:avLst/>
            </a:prstGeom>
            <a:solidFill>
              <a:srgbClr val="186923"/>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3"/>
            <p:cNvSpPr txBox="1"/>
            <p:nvPr/>
          </p:nvSpPr>
          <p:spPr>
            <a:xfrm>
              <a:off x="5554708" y="3266180"/>
              <a:ext cx="2331389" cy="1398833"/>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HYPERPARAMETERS</a:t>
              </a:r>
              <a:endParaRPr sz="1600">
                <a:solidFill>
                  <a:schemeClr val="lt1"/>
                </a:solidFill>
                <a:latin typeface="Arial"/>
                <a:ea typeface="Arial"/>
                <a:cs typeface="Arial"/>
                <a:sym typeface="Arial"/>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Tuneable settings controlling model training.</a:t>
              </a: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latin typeface="Play"/>
                <a:ea typeface="Play"/>
                <a:cs typeface="Play"/>
                <a:sym typeface="Play"/>
              </a:rPr>
              <a:t>Deep Learning</a:t>
            </a:r>
            <a:endParaRPr/>
          </a:p>
        </p:txBody>
      </p:sp>
      <p:grpSp>
        <p:nvGrpSpPr>
          <p:cNvPr id="632" name="Google Shape;632;p24"/>
          <p:cNvGrpSpPr/>
          <p:nvPr/>
        </p:nvGrpSpPr>
        <p:grpSpPr>
          <a:xfrm>
            <a:off x="1398000" y="2412434"/>
            <a:ext cx="9396000" cy="3177718"/>
            <a:chOff x="559800" y="586809"/>
            <a:chExt cx="9396000" cy="3177718"/>
          </a:xfrm>
        </p:grpSpPr>
        <p:sp>
          <p:nvSpPr>
            <p:cNvPr id="633" name="Google Shape;633;p24"/>
            <p:cNvSpPr/>
            <p:nvPr/>
          </p:nvSpPr>
          <p:spPr>
            <a:xfrm>
              <a:off x="559800" y="586809"/>
              <a:ext cx="1512000" cy="15120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4"/>
            <p:cNvSpPr/>
            <p:nvPr/>
          </p:nvSpPr>
          <p:spPr>
            <a:xfrm>
              <a:off x="559800" y="2235451"/>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4"/>
            <p:cNvSpPr txBox="1"/>
            <p:nvPr/>
          </p:nvSpPr>
          <p:spPr>
            <a:xfrm>
              <a:off x="559800" y="2235451"/>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a:solidFill>
                    <a:schemeClr val="dk1"/>
                  </a:solidFill>
                  <a:latin typeface="Arial"/>
                  <a:ea typeface="Arial"/>
                  <a:cs typeface="Arial"/>
                  <a:sym typeface="Arial"/>
                </a:rPr>
                <a:t>DL is a</a:t>
              </a:r>
              <a:r>
                <a:rPr lang="en-US" sz="1700" b="0" i="0">
                  <a:solidFill>
                    <a:schemeClr val="dk1"/>
                  </a:solidFill>
                  <a:latin typeface="Arial"/>
                  <a:ea typeface="Arial"/>
                  <a:cs typeface="Arial"/>
                  <a:sym typeface="Arial"/>
                </a:rPr>
                <a:t> subset of ML that uses neural networks with many layers to process large datasets.</a:t>
              </a:r>
              <a:endParaRPr sz="1700">
                <a:solidFill>
                  <a:schemeClr val="dk1"/>
                </a:solidFill>
                <a:latin typeface="Arial"/>
                <a:ea typeface="Arial"/>
                <a:cs typeface="Arial"/>
                <a:sym typeface="Arial"/>
              </a:endParaRPr>
            </a:p>
          </p:txBody>
        </p:sp>
        <p:sp>
          <p:nvSpPr>
            <p:cNvPr id="636" name="Google Shape;636;p24"/>
            <p:cNvSpPr/>
            <p:nvPr/>
          </p:nvSpPr>
          <p:spPr>
            <a:xfrm>
              <a:off x="559800" y="2947006"/>
              <a:ext cx="4320000" cy="81752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4"/>
            <p:cNvSpPr/>
            <p:nvPr/>
          </p:nvSpPr>
          <p:spPr>
            <a:xfrm>
              <a:off x="5635800" y="586809"/>
              <a:ext cx="1512000" cy="15120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4"/>
            <p:cNvSpPr/>
            <p:nvPr/>
          </p:nvSpPr>
          <p:spPr>
            <a:xfrm>
              <a:off x="5635800" y="2235451"/>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4"/>
            <p:cNvSpPr txBox="1"/>
            <p:nvPr/>
          </p:nvSpPr>
          <p:spPr>
            <a:xfrm>
              <a:off x="5635800" y="2235451"/>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i="0">
                  <a:solidFill>
                    <a:schemeClr val="dk1"/>
                  </a:solidFill>
                  <a:latin typeface="Arial"/>
                  <a:ea typeface="Arial"/>
                  <a:cs typeface="Arial"/>
                  <a:sym typeface="Arial"/>
                </a:rPr>
                <a:t>Key Uses</a:t>
              </a:r>
              <a:r>
                <a:rPr lang="en-US" sz="1700" b="0" i="0">
                  <a:solidFill>
                    <a:schemeClr val="dk1"/>
                  </a:solidFill>
                  <a:latin typeface="Arial"/>
                  <a:ea typeface="Arial"/>
                  <a:cs typeface="Arial"/>
                  <a:sym typeface="Arial"/>
                </a:rPr>
                <a:t>:</a:t>
              </a:r>
              <a:endParaRPr sz="1700">
                <a:solidFill>
                  <a:schemeClr val="dk1"/>
                </a:solidFill>
                <a:latin typeface="Arial"/>
                <a:ea typeface="Arial"/>
                <a:cs typeface="Arial"/>
                <a:sym typeface="Arial"/>
              </a:endParaRPr>
            </a:p>
          </p:txBody>
        </p:sp>
        <p:sp>
          <p:nvSpPr>
            <p:cNvPr id="640" name="Google Shape;640;p24"/>
            <p:cNvSpPr/>
            <p:nvPr/>
          </p:nvSpPr>
          <p:spPr>
            <a:xfrm>
              <a:off x="5618865" y="2659140"/>
              <a:ext cx="4320000" cy="817521"/>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4"/>
            <p:cNvSpPr txBox="1"/>
            <p:nvPr/>
          </p:nvSpPr>
          <p:spPr>
            <a:xfrm>
              <a:off x="5618865" y="2659140"/>
              <a:ext cx="4320000" cy="81752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b="1" i="0">
                  <a:solidFill>
                    <a:schemeClr val="dk1"/>
                  </a:solidFill>
                  <a:latin typeface="Arial"/>
                  <a:ea typeface="Arial"/>
                  <a:cs typeface="Arial"/>
                  <a:sym typeface="Arial"/>
                </a:rPr>
                <a:t>Image Recognition</a:t>
              </a:r>
              <a:endParaRPr sz="1400">
                <a:solidFill>
                  <a:schemeClr val="dk1"/>
                </a:solidFill>
                <a:latin typeface="Arial"/>
                <a:ea typeface="Arial"/>
                <a:cs typeface="Arial"/>
                <a:sym typeface="Arial"/>
              </a:endParaRPr>
            </a:p>
            <a:p>
              <a:pPr marL="0" marR="0" lvl="0" indent="0" algn="l" rtl="0">
                <a:lnSpc>
                  <a:spcPct val="100000"/>
                </a:lnSpc>
                <a:spcBef>
                  <a:spcPts val="490"/>
                </a:spcBef>
                <a:spcAft>
                  <a:spcPts val="0"/>
                </a:spcAft>
                <a:buClr>
                  <a:schemeClr val="dk1"/>
                </a:buClr>
                <a:buSzPts val="1400"/>
                <a:buFont typeface="Arial"/>
                <a:buNone/>
              </a:pPr>
              <a:r>
                <a:rPr lang="en-US" sz="1400" b="1" i="0">
                  <a:solidFill>
                    <a:schemeClr val="dk1"/>
                  </a:solidFill>
                  <a:latin typeface="Arial"/>
                  <a:ea typeface="Arial"/>
                  <a:cs typeface="Arial"/>
                  <a:sym typeface="Arial"/>
                </a:rPr>
                <a:t>Speech Recognition</a:t>
              </a:r>
              <a:endParaRPr sz="1400">
                <a:solidFill>
                  <a:schemeClr val="dk1"/>
                </a:solidFill>
                <a:latin typeface="Arial"/>
                <a:ea typeface="Arial"/>
                <a:cs typeface="Arial"/>
                <a:sym typeface="Arial"/>
              </a:endParaRPr>
            </a:p>
            <a:p>
              <a:pPr marL="0" marR="0" lvl="0" indent="0" algn="l" rtl="0">
                <a:lnSpc>
                  <a:spcPct val="100000"/>
                </a:lnSpc>
                <a:spcBef>
                  <a:spcPts val="490"/>
                </a:spcBef>
                <a:spcAft>
                  <a:spcPts val="0"/>
                </a:spcAft>
                <a:buClr>
                  <a:schemeClr val="dk1"/>
                </a:buClr>
                <a:buSzPts val="1400"/>
                <a:buFont typeface="Arial"/>
                <a:buNone/>
              </a:pPr>
              <a:r>
                <a:rPr lang="en-US" sz="1400" b="1" i="0">
                  <a:solidFill>
                    <a:schemeClr val="dk1"/>
                  </a:solidFill>
                  <a:latin typeface="Arial"/>
                  <a:ea typeface="Arial"/>
                  <a:cs typeface="Arial"/>
                  <a:sym typeface="Arial"/>
                </a:rPr>
                <a:t>Autonomous Vehicles</a:t>
              </a:r>
              <a:endParaRPr sz="1400">
                <a:solidFill>
                  <a:schemeClr val="dk1"/>
                </a:solidFill>
                <a:latin typeface="Arial"/>
                <a:ea typeface="Arial"/>
                <a:cs typeface="Arial"/>
                <a:sym typeface="Arial"/>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5"/>
        <p:cNvGrpSpPr/>
        <p:nvPr/>
      </p:nvGrpSpPr>
      <p:grpSpPr>
        <a:xfrm>
          <a:off x="0" y="0"/>
          <a:ext cx="0" cy="0"/>
          <a:chOff x="0" y="0"/>
          <a:chExt cx="0" cy="0"/>
        </a:xfrm>
      </p:grpSpPr>
      <p:sp>
        <p:nvSpPr>
          <p:cNvPr id="646" name="Google Shape;646;p2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7" name="Google Shape;647;p25"/>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Deep Learning: Key Concepts</a:t>
            </a:r>
            <a:endParaRPr/>
          </a:p>
        </p:txBody>
      </p:sp>
      <p:sp>
        <p:nvSpPr>
          <p:cNvPr id="648" name="Google Shape;648;p25"/>
          <p:cNvSpPr/>
          <p:nvPr/>
        </p:nvSpPr>
        <p:spPr>
          <a:xfrm>
            <a:off x="10198657" y="1"/>
            <a:ext cx="1155142" cy="625027"/>
          </a:xfrm>
          <a:custGeom>
            <a:avLst/>
            <a:gdLst/>
            <a:ahLst/>
            <a:cxnLst/>
            <a:rect l="l" t="t" r="r" b="b"/>
            <a:pathLst>
              <a:path w="1155142" h="625027" extrusionOk="0">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9" name="Google Shape;649;p25"/>
          <p:cNvSpPr/>
          <p:nvPr/>
        </p:nvSpPr>
        <p:spPr>
          <a:xfrm>
            <a:off x="6808185" y="3423959"/>
            <a:ext cx="540822" cy="540822"/>
          </a:xfrm>
          <a:prstGeom prst="ellipse">
            <a:avLst/>
          </a:prstGeom>
          <a:noFill/>
          <a:ln w="1270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0" name="Google Shape;650;p25"/>
          <p:cNvSpPr/>
          <p:nvPr/>
        </p:nvSpPr>
        <p:spPr>
          <a:xfrm>
            <a:off x="6749602" y="1"/>
            <a:ext cx="2066948" cy="1621879"/>
          </a:xfrm>
          <a:custGeom>
            <a:avLst/>
            <a:gdLst/>
            <a:ahLst/>
            <a:cxnLst/>
            <a:rect l="l" t="t" r="r" b="b"/>
            <a:pathLst>
              <a:path w="2066948" h="1621879" extrusionOk="0">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651" name="Google Shape;651;p25"/>
          <p:cNvCxnSpPr/>
          <p:nvPr/>
        </p:nvCxnSpPr>
        <p:spPr>
          <a:xfrm>
            <a:off x="12138745" y="1027906"/>
            <a:ext cx="0" cy="1597708"/>
          </a:xfrm>
          <a:prstGeom prst="straightConnector1">
            <a:avLst/>
          </a:prstGeom>
          <a:noFill/>
          <a:ln w="127000" cap="rnd" cmpd="sng">
            <a:solidFill>
              <a:schemeClr val="accent4"/>
            </a:solidFill>
            <a:prstDash val="dash"/>
            <a:miter lim="800000"/>
            <a:headEnd type="none" w="sm" len="sm"/>
            <a:tailEnd type="none" w="sm" len="sm"/>
          </a:ln>
        </p:spPr>
      </p:cxnSp>
      <p:sp>
        <p:nvSpPr>
          <p:cNvPr id="652" name="Google Shape;652;p25"/>
          <p:cNvSpPr/>
          <p:nvPr/>
        </p:nvSpPr>
        <p:spPr>
          <a:xfrm rot="-1136562">
            <a:off x="7456580" y="5166682"/>
            <a:ext cx="1835725" cy="2024785"/>
          </a:xfrm>
          <a:custGeom>
            <a:avLst/>
            <a:gdLst/>
            <a:ahLst/>
            <a:cxnLst/>
            <a:rect l="l" t="t" r="r" b="b"/>
            <a:pathLst>
              <a:path w="1835725" h="2024785" extrusionOk="0">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3" name="Google Shape;653;p25"/>
          <p:cNvSpPr/>
          <p:nvPr/>
        </p:nvSpPr>
        <p:spPr>
          <a:xfrm>
            <a:off x="6809527" y="6033795"/>
            <a:ext cx="1991064" cy="824205"/>
          </a:xfrm>
          <a:custGeom>
            <a:avLst/>
            <a:gdLst/>
            <a:ahLst/>
            <a:cxnLst/>
            <a:rect l="l" t="t" r="r" b="b"/>
            <a:pathLst>
              <a:path w="1991064" h="824205" extrusionOk="0">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4" name="Google Shape;654;p25"/>
          <p:cNvSpPr/>
          <p:nvPr/>
        </p:nvSpPr>
        <p:spPr>
          <a:xfrm>
            <a:off x="10851696" y="5519196"/>
            <a:ext cx="1340305" cy="1338805"/>
          </a:xfrm>
          <a:custGeom>
            <a:avLst/>
            <a:gdLst/>
            <a:ahLst/>
            <a:cxnLst/>
            <a:rect l="l" t="t" r="r" b="b"/>
            <a:pathLst>
              <a:path w="1340305" h="1338805" extrusionOk="0">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55" name="Google Shape;655;p25"/>
          <p:cNvGrpSpPr/>
          <p:nvPr/>
        </p:nvGrpSpPr>
        <p:grpSpPr>
          <a:xfrm>
            <a:off x="1253360" y="1690988"/>
            <a:ext cx="9448216" cy="4668869"/>
            <a:chOff x="652221" y="300"/>
            <a:chExt cx="9448216" cy="4668869"/>
          </a:xfrm>
        </p:grpSpPr>
        <p:sp>
          <p:nvSpPr>
            <p:cNvPr id="656" name="Google Shape;656;p25"/>
            <p:cNvSpPr/>
            <p:nvPr/>
          </p:nvSpPr>
          <p:spPr>
            <a:xfrm>
              <a:off x="652221" y="137475"/>
              <a:ext cx="2197259" cy="1318355"/>
            </a:xfrm>
            <a:prstGeom prst="rect">
              <a:avLst/>
            </a:prstGeom>
            <a:solidFill>
              <a:srgbClr val="E97131"/>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5"/>
            <p:cNvSpPr txBox="1"/>
            <p:nvPr/>
          </p:nvSpPr>
          <p:spPr>
            <a:xfrm>
              <a:off x="652221" y="137475"/>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NEURAL NETWORKS</a:t>
              </a:r>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The core of deep learning, consisting of multiple layers of neurons.</a:t>
              </a:r>
              <a:endParaRPr/>
            </a:p>
          </p:txBody>
        </p:sp>
        <p:sp>
          <p:nvSpPr>
            <p:cNvPr id="658" name="Google Shape;658;p25"/>
            <p:cNvSpPr/>
            <p:nvPr/>
          </p:nvSpPr>
          <p:spPr>
            <a:xfrm>
              <a:off x="3069206" y="300"/>
              <a:ext cx="2197259" cy="1592705"/>
            </a:xfrm>
            <a:prstGeom prst="rect">
              <a:avLst/>
            </a:prstGeom>
            <a:solidFill>
              <a:srgbClr val="176B22"/>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25"/>
            <p:cNvSpPr txBox="1"/>
            <p:nvPr/>
          </p:nvSpPr>
          <p:spPr>
            <a:xfrm>
              <a:off x="3069206" y="300"/>
              <a:ext cx="2197259" cy="159270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LAYERS</a:t>
              </a:r>
              <a:endParaRPr/>
            </a:p>
            <a:p>
              <a:pPr marL="114300" marR="0" lvl="1" indent="-114300" algn="l" rtl="0">
                <a:lnSpc>
                  <a:spcPct val="90000"/>
                </a:lnSpc>
                <a:spcBef>
                  <a:spcPts val="56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Input Layer: Receives raw data.</a:t>
              </a:r>
              <a:endParaRPr/>
            </a:p>
            <a:p>
              <a:pPr marL="114300" marR="0" lvl="1" indent="-114300" algn="l" rtl="0">
                <a:lnSpc>
                  <a:spcPct val="90000"/>
                </a:lnSpc>
                <a:spcBef>
                  <a:spcPts val="21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Hidden Layers: Extracts patterns and features.</a:t>
              </a:r>
              <a:endParaRPr/>
            </a:p>
            <a:p>
              <a:pPr marL="114300" marR="0" lvl="1" indent="-114300" algn="l" rtl="0">
                <a:lnSpc>
                  <a:spcPct val="90000"/>
                </a:lnSpc>
                <a:spcBef>
                  <a:spcPts val="21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Output Layer: Produces predictions.</a:t>
              </a:r>
              <a:endParaRPr/>
            </a:p>
          </p:txBody>
        </p:sp>
        <p:sp>
          <p:nvSpPr>
            <p:cNvPr id="660" name="Google Shape;660;p25"/>
            <p:cNvSpPr/>
            <p:nvPr/>
          </p:nvSpPr>
          <p:spPr>
            <a:xfrm>
              <a:off x="5486192" y="137475"/>
              <a:ext cx="2197259" cy="1318355"/>
            </a:xfrm>
            <a:prstGeom prst="rect">
              <a:avLst/>
            </a:prstGeom>
            <a:solidFill>
              <a:srgbClr val="0C9ED5"/>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25"/>
            <p:cNvSpPr txBox="1"/>
            <p:nvPr/>
          </p:nvSpPr>
          <p:spPr>
            <a:xfrm>
              <a:off x="5486192" y="137475"/>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ACTIVATION FUNCTIONS</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Introduce non-linearity (ReLU, Sigmoid, Tanh).</a:t>
              </a:r>
              <a:endParaRPr/>
            </a:p>
          </p:txBody>
        </p:sp>
        <p:sp>
          <p:nvSpPr>
            <p:cNvPr id="662" name="Google Shape;662;p25"/>
            <p:cNvSpPr/>
            <p:nvPr/>
          </p:nvSpPr>
          <p:spPr>
            <a:xfrm>
              <a:off x="7903178" y="137475"/>
              <a:ext cx="2197259" cy="1318355"/>
            </a:xfrm>
            <a:prstGeom prst="rect">
              <a:avLst/>
            </a:prstGeom>
            <a:solidFill>
              <a:srgbClr val="A02891"/>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25"/>
            <p:cNvSpPr txBox="1"/>
            <p:nvPr/>
          </p:nvSpPr>
          <p:spPr>
            <a:xfrm>
              <a:off x="7903178" y="137475"/>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TRAINING</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Adjusts weights using gradient descent to minimize error.</a:t>
              </a:r>
              <a:endParaRPr/>
            </a:p>
          </p:txBody>
        </p:sp>
        <p:sp>
          <p:nvSpPr>
            <p:cNvPr id="664" name="Google Shape;664;p25"/>
            <p:cNvSpPr/>
            <p:nvPr/>
          </p:nvSpPr>
          <p:spPr>
            <a:xfrm>
              <a:off x="652221" y="1812732"/>
              <a:ext cx="2197259" cy="1318355"/>
            </a:xfrm>
            <a:prstGeom prst="rect">
              <a:avLst/>
            </a:prstGeom>
            <a:solidFill>
              <a:srgbClr val="4EA62C"/>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5"/>
            <p:cNvSpPr txBox="1"/>
            <p:nvPr/>
          </p:nvSpPr>
          <p:spPr>
            <a:xfrm>
              <a:off x="652221" y="1812732"/>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LOSS FUNCTION</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Measures error between predictions and actual values.</a:t>
              </a:r>
              <a:endParaRPr/>
            </a:p>
          </p:txBody>
        </p:sp>
        <p:sp>
          <p:nvSpPr>
            <p:cNvPr id="666" name="Google Shape;666;p25"/>
            <p:cNvSpPr/>
            <p:nvPr/>
          </p:nvSpPr>
          <p:spPr>
            <a:xfrm>
              <a:off x="3069206" y="1812732"/>
              <a:ext cx="2197259" cy="1318355"/>
            </a:xfrm>
            <a:prstGeom prst="rect">
              <a:avLst/>
            </a:prstGeom>
            <a:solidFill>
              <a:srgbClr val="E97131"/>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5"/>
            <p:cNvSpPr txBox="1"/>
            <p:nvPr/>
          </p:nvSpPr>
          <p:spPr>
            <a:xfrm>
              <a:off x="3069206" y="1812732"/>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BACKPROPAGATION</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Adjusts weights by propagating errors backward.</a:t>
              </a:r>
              <a:endParaRPr/>
            </a:p>
          </p:txBody>
        </p:sp>
        <p:sp>
          <p:nvSpPr>
            <p:cNvPr id="668" name="Google Shape;668;p25"/>
            <p:cNvSpPr/>
            <p:nvPr/>
          </p:nvSpPr>
          <p:spPr>
            <a:xfrm>
              <a:off x="5486192" y="1812732"/>
              <a:ext cx="2197259" cy="1318355"/>
            </a:xfrm>
            <a:prstGeom prst="rect">
              <a:avLst/>
            </a:prstGeom>
            <a:solidFill>
              <a:srgbClr val="176B22"/>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25"/>
            <p:cNvSpPr txBox="1"/>
            <p:nvPr/>
          </p:nvSpPr>
          <p:spPr>
            <a:xfrm>
              <a:off x="5486192" y="1812732"/>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HYPERPARAMETERS</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Controls learning (learning rate, batch size, layers).</a:t>
              </a:r>
              <a:endParaRPr/>
            </a:p>
          </p:txBody>
        </p:sp>
        <p:sp>
          <p:nvSpPr>
            <p:cNvPr id="670" name="Google Shape;670;p25"/>
            <p:cNvSpPr/>
            <p:nvPr/>
          </p:nvSpPr>
          <p:spPr>
            <a:xfrm>
              <a:off x="7903178" y="1812732"/>
              <a:ext cx="2197259" cy="1318355"/>
            </a:xfrm>
            <a:prstGeom prst="rect">
              <a:avLst/>
            </a:prstGeom>
            <a:solidFill>
              <a:srgbClr val="0C9ED5"/>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25"/>
            <p:cNvSpPr txBox="1"/>
            <p:nvPr/>
          </p:nvSpPr>
          <p:spPr>
            <a:xfrm>
              <a:off x="7903178" y="1812732"/>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REGULARIZATION</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Prevents overfitting (Dropout, L2 Regularization).</a:t>
              </a:r>
              <a:endParaRPr/>
            </a:p>
          </p:txBody>
        </p:sp>
        <p:sp>
          <p:nvSpPr>
            <p:cNvPr id="672" name="Google Shape;672;p25"/>
            <p:cNvSpPr/>
            <p:nvPr/>
          </p:nvSpPr>
          <p:spPr>
            <a:xfrm>
              <a:off x="3069206" y="3350814"/>
              <a:ext cx="2197259" cy="1318355"/>
            </a:xfrm>
            <a:prstGeom prst="rect">
              <a:avLst/>
            </a:prstGeom>
            <a:solidFill>
              <a:srgbClr val="A02891"/>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25"/>
            <p:cNvSpPr txBox="1"/>
            <p:nvPr/>
          </p:nvSpPr>
          <p:spPr>
            <a:xfrm>
              <a:off x="3069206" y="3350814"/>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CNNs (Convolutional Neural Networks)</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Specialized for image processing.</a:t>
              </a:r>
              <a:endParaRPr/>
            </a:p>
          </p:txBody>
        </p:sp>
        <p:sp>
          <p:nvSpPr>
            <p:cNvPr id="674" name="Google Shape;674;p25"/>
            <p:cNvSpPr/>
            <p:nvPr/>
          </p:nvSpPr>
          <p:spPr>
            <a:xfrm>
              <a:off x="5486192" y="3350814"/>
              <a:ext cx="2197259" cy="1318355"/>
            </a:xfrm>
            <a:prstGeom prst="rect">
              <a:avLst/>
            </a:prstGeom>
            <a:solidFill>
              <a:srgbClr val="4EA62C"/>
            </a:solidFill>
            <a:ln w="254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25"/>
            <p:cNvSpPr txBox="1"/>
            <p:nvPr/>
          </p:nvSpPr>
          <p:spPr>
            <a:xfrm>
              <a:off x="5486192" y="3350814"/>
              <a:ext cx="2197259" cy="1318355"/>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a:solidFill>
                    <a:schemeClr val="lt1"/>
                  </a:solidFill>
                  <a:latin typeface="Arial"/>
                  <a:ea typeface="Arial"/>
                  <a:cs typeface="Arial"/>
                  <a:sym typeface="Arial"/>
                </a:rPr>
                <a:t>RNNs (Recurrent Neural Networks)</a:t>
              </a:r>
              <a:endParaRPr/>
            </a:p>
            <a:p>
              <a:pPr marL="114300" marR="0" lvl="1" indent="-114300" algn="l" rtl="0">
                <a:lnSpc>
                  <a:spcPct val="90000"/>
                </a:lnSpc>
                <a:spcBef>
                  <a:spcPts val="560"/>
                </a:spcBef>
                <a:spcAft>
                  <a:spcPts val="0"/>
                </a:spcAft>
                <a:buClr>
                  <a:schemeClr val="lt1"/>
                </a:buClr>
                <a:buSzPts val="1300"/>
                <a:buFont typeface="Arial"/>
                <a:buChar char="•"/>
              </a:pPr>
              <a:r>
                <a:rPr lang="en-US" sz="1300" b="0" i="0" u="none" strike="noStrike" cap="none">
                  <a:solidFill>
                    <a:schemeClr val="lt1"/>
                  </a:solidFill>
                  <a:latin typeface="Arial"/>
                  <a:ea typeface="Arial"/>
                  <a:cs typeface="Arial"/>
                  <a:sym typeface="Arial"/>
                </a:rPr>
                <a:t>Designed for sequential data (e.g., time series, NLP).</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9"/>
        <p:cNvGrpSpPr/>
        <p:nvPr/>
      </p:nvGrpSpPr>
      <p:grpSpPr>
        <a:xfrm>
          <a:off x="0" y="0"/>
          <a:ext cx="0" cy="0"/>
          <a:chOff x="0" y="0"/>
          <a:chExt cx="0" cy="0"/>
        </a:xfrm>
      </p:grpSpPr>
      <p:sp>
        <p:nvSpPr>
          <p:cNvPr id="680" name="Google Shape;680;p26"/>
          <p:cNvSpPr/>
          <p:nvPr/>
        </p:nvSpPr>
        <p:spPr>
          <a:xfrm>
            <a:off x="-1" y="0"/>
            <a:ext cx="1219199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1" name="Google Shape;681;p26"/>
          <p:cNvSpPr/>
          <p:nvPr/>
        </p:nvSpPr>
        <p:spPr>
          <a:xfrm>
            <a:off x="1" y="0"/>
            <a:ext cx="8522446" cy="2285999"/>
          </a:xfrm>
          <a:prstGeom prst="rect">
            <a:avLst/>
          </a:prstGeom>
          <a:solidFill>
            <a:schemeClr val="lt1"/>
          </a:solidFill>
          <a:ln>
            <a:noFill/>
          </a:ln>
          <a:effectLst>
            <a:outerShdw blurRad="596900" dist="304800" dir="7140000" sx="90000" sy="9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82" name="Google Shape;682;p26"/>
          <p:cNvSpPr txBox="1">
            <a:spLocks noGrp="1"/>
          </p:cNvSpPr>
          <p:nvPr>
            <p:ph type="title"/>
          </p:nvPr>
        </p:nvSpPr>
        <p:spPr>
          <a:xfrm>
            <a:off x="761803" y="350196"/>
            <a:ext cx="3996464" cy="162452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t>AI in Business Overview</a:t>
            </a:r>
            <a:endParaRPr/>
          </a:p>
        </p:txBody>
      </p:sp>
      <p:sp>
        <p:nvSpPr>
          <p:cNvPr id="683" name="Google Shape;683;p26"/>
          <p:cNvSpPr txBox="1">
            <a:spLocks noGrp="1"/>
          </p:cNvSpPr>
          <p:nvPr>
            <p:ph type="body" idx="1"/>
          </p:nvPr>
        </p:nvSpPr>
        <p:spPr>
          <a:xfrm>
            <a:off x="761802" y="2743200"/>
            <a:ext cx="4646905" cy="3613149"/>
          </a:xfrm>
          <a:prstGeom prst="rect">
            <a:avLst/>
          </a:prstGeom>
          <a:noFill/>
          <a:ln>
            <a:noFill/>
          </a:ln>
        </p:spPr>
        <p:txBody>
          <a:bodyPr spcFirstLastPara="1" wrap="square" lIns="91425" tIns="45700" rIns="91425" bIns="45700" anchor="ctr" anchorCtr="0">
            <a:normAutofit/>
          </a:bodyPr>
          <a:lstStyle/>
          <a:p>
            <a:pPr marL="228600" marR="0" lvl="0" indent="-228600" algn="l" rtl="0">
              <a:lnSpc>
                <a:spcPct val="90000"/>
              </a:lnSpc>
              <a:spcBef>
                <a:spcPts val="0"/>
              </a:spcBef>
              <a:spcAft>
                <a:spcPts val="0"/>
              </a:spcAft>
              <a:buClr>
                <a:schemeClr val="dk1"/>
              </a:buClr>
              <a:buSzPts val="2000"/>
              <a:buChar char="•"/>
            </a:pPr>
            <a:r>
              <a:rPr lang="en-US" sz="2000" b="1" i="0" u="none" strike="noStrike"/>
              <a:t>AI Impact</a:t>
            </a:r>
            <a:r>
              <a:rPr lang="en-US" sz="2000" b="0" i="0" u="none" strike="noStrike"/>
              <a:t>: AI has revolutionized industries by optimizing processes, improving decision-making, and creating personalized experiences.</a:t>
            </a:r>
            <a:endParaRPr/>
          </a:p>
        </p:txBody>
      </p:sp>
      <p:pic>
        <p:nvPicPr>
          <p:cNvPr id="684" name="Google Shape;684;p26" descr="Aerial view of a city skyline"/>
          <p:cNvPicPr preferRelativeResize="0"/>
          <p:nvPr/>
        </p:nvPicPr>
        <p:blipFill rotWithShape="1">
          <a:blip r:embed="rId3">
            <a:alphaModFix/>
          </a:blip>
          <a:srcRect l="19692" r="20907" b="-2"/>
          <a:stretch/>
        </p:blipFill>
        <p:spPr>
          <a:xfrm>
            <a:off x="6096000" y="1"/>
            <a:ext cx="6102825"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8"/>
        <p:cNvGrpSpPr/>
        <p:nvPr/>
      </p:nvGrpSpPr>
      <p:grpSpPr>
        <a:xfrm>
          <a:off x="0" y="0"/>
          <a:ext cx="0" cy="0"/>
          <a:chOff x="0" y="0"/>
          <a:chExt cx="0" cy="0"/>
        </a:xfrm>
      </p:grpSpPr>
      <p:sp>
        <p:nvSpPr>
          <p:cNvPr id="689" name="Google Shape;689;p2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0" name="Google Shape;690;p27"/>
          <p:cNvSpPr txBox="1">
            <a:spLocks noGrp="1"/>
          </p:cNvSpPr>
          <p:nvPr>
            <p:ph type="title"/>
          </p:nvPr>
        </p:nvSpPr>
        <p:spPr>
          <a:xfrm>
            <a:off x="838200" y="365125"/>
            <a:ext cx="5393361"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AI in Business: Key Applications</a:t>
            </a:r>
            <a:endParaRPr/>
          </a:p>
        </p:txBody>
      </p:sp>
      <p:sp>
        <p:nvSpPr>
          <p:cNvPr id="691" name="Google Shape;691;p27"/>
          <p:cNvSpPr/>
          <p:nvPr/>
        </p:nvSpPr>
        <p:spPr>
          <a:xfrm>
            <a:off x="10198657" y="1"/>
            <a:ext cx="1155142" cy="625027"/>
          </a:xfrm>
          <a:custGeom>
            <a:avLst/>
            <a:gdLst/>
            <a:ahLst/>
            <a:cxnLst/>
            <a:rect l="l" t="t" r="r" b="b"/>
            <a:pathLst>
              <a:path w="1155142" h="625027" extrusionOk="0">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4901"/>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2" name="Google Shape;692;p27"/>
          <p:cNvSpPr/>
          <p:nvPr/>
        </p:nvSpPr>
        <p:spPr>
          <a:xfrm>
            <a:off x="6808185" y="3423959"/>
            <a:ext cx="540822" cy="540822"/>
          </a:xfrm>
          <a:prstGeom prst="ellipse">
            <a:avLst/>
          </a:prstGeom>
          <a:noFill/>
          <a:ln w="12700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3" name="Google Shape;693;p27"/>
          <p:cNvSpPr/>
          <p:nvPr/>
        </p:nvSpPr>
        <p:spPr>
          <a:xfrm>
            <a:off x="6749602" y="1"/>
            <a:ext cx="2066948" cy="1621879"/>
          </a:xfrm>
          <a:custGeom>
            <a:avLst/>
            <a:gdLst/>
            <a:ahLst/>
            <a:cxnLst/>
            <a:rect l="l" t="t" r="r" b="b"/>
            <a:pathLst>
              <a:path w="2066948" h="1621879" extrusionOk="0">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cxnSp>
        <p:nvCxnSpPr>
          <p:cNvPr id="694" name="Google Shape;694;p27"/>
          <p:cNvCxnSpPr/>
          <p:nvPr/>
        </p:nvCxnSpPr>
        <p:spPr>
          <a:xfrm>
            <a:off x="12138745" y="1027906"/>
            <a:ext cx="0" cy="1597708"/>
          </a:xfrm>
          <a:prstGeom prst="straightConnector1">
            <a:avLst/>
          </a:prstGeom>
          <a:noFill/>
          <a:ln w="127000" cap="rnd" cmpd="sng">
            <a:solidFill>
              <a:schemeClr val="accent4"/>
            </a:solidFill>
            <a:prstDash val="dash"/>
            <a:miter lim="800000"/>
            <a:headEnd type="none" w="sm" len="sm"/>
            <a:tailEnd type="none" w="sm" len="sm"/>
          </a:ln>
        </p:spPr>
      </p:cxnSp>
      <p:sp>
        <p:nvSpPr>
          <p:cNvPr id="695" name="Google Shape;695;p27"/>
          <p:cNvSpPr/>
          <p:nvPr/>
        </p:nvSpPr>
        <p:spPr>
          <a:xfrm rot="-1136562">
            <a:off x="7456580" y="5166682"/>
            <a:ext cx="1835725" cy="2024785"/>
          </a:xfrm>
          <a:custGeom>
            <a:avLst/>
            <a:gdLst/>
            <a:ahLst/>
            <a:cxnLst/>
            <a:rect l="l" t="t" r="r" b="b"/>
            <a:pathLst>
              <a:path w="1835725" h="2024785" extrusionOk="0">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6" name="Google Shape;696;p27"/>
          <p:cNvSpPr/>
          <p:nvPr/>
        </p:nvSpPr>
        <p:spPr>
          <a:xfrm>
            <a:off x="6809527" y="6033795"/>
            <a:ext cx="1991064" cy="824205"/>
          </a:xfrm>
          <a:custGeom>
            <a:avLst/>
            <a:gdLst/>
            <a:ahLst/>
            <a:cxnLst/>
            <a:rect l="l" t="t" r="r" b="b"/>
            <a:pathLst>
              <a:path w="1991064" h="824205" extrusionOk="0">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97" name="Google Shape;697;p27"/>
          <p:cNvSpPr/>
          <p:nvPr/>
        </p:nvSpPr>
        <p:spPr>
          <a:xfrm>
            <a:off x="10851696" y="5519196"/>
            <a:ext cx="1340305" cy="1338805"/>
          </a:xfrm>
          <a:custGeom>
            <a:avLst/>
            <a:gdLst/>
            <a:ahLst/>
            <a:cxnLst/>
            <a:rect l="l" t="t" r="r" b="b"/>
            <a:pathLst>
              <a:path w="1340305" h="1338805" extrusionOk="0">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698" name="Google Shape;698;p27"/>
          <p:cNvGrpSpPr/>
          <p:nvPr/>
        </p:nvGrpSpPr>
        <p:grpSpPr>
          <a:xfrm>
            <a:off x="1009949" y="1827905"/>
            <a:ext cx="10024780" cy="4662688"/>
            <a:chOff x="171749" y="2280"/>
            <a:chExt cx="10024780" cy="4662688"/>
          </a:xfrm>
        </p:grpSpPr>
        <p:sp>
          <p:nvSpPr>
            <p:cNvPr id="699" name="Google Shape;699;p27"/>
            <p:cNvSpPr/>
            <p:nvPr/>
          </p:nvSpPr>
          <p:spPr>
            <a:xfrm>
              <a:off x="171749" y="2280"/>
              <a:ext cx="2331344" cy="1398806"/>
            </a:xfrm>
            <a:prstGeom prst="rect">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27"/>
            <p:cNvSpPr txBox="1"/>
            <p:nvPr/>
          </p:nvSpPr>
          <p:spPr>
            <a:xfrm>
              <a:off x="171749" y="2280"/>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AUTOMATION</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Automates repetitive tasks (e.g., chatbots, data entry).</a:t>
              </a:r>
              <a:endParaRPr sz="1400" b="0" i="0" u="none" strike="noStrike" cap="none">
                <a:solidFill>
                  <a:schemeClr val="lt1"/>
                </a:solidFill>
                <a:latin typeface="Arial"/>
                <a:ea typeface="Arial"/>
                <a:cs typeface="Arial"/>
                <a:sym typeface="Arial"/>
              </a:endParaRPr>
            </a:p>
          </p:txBody>
        </p:sp>
        <p:sp>
          <p:nvSpPr>
            <p:cNvPr id="701" name="Google Shape;701;p27"/>
            <p:cNvSpPr/>
            <p:nvPr/>
          </p:nvSpPr>
          <p:spPr>
            <a:xfrm>
              <a:off x="2736228" y="2280"/>
              <a:ext cx="2331344" cy="1398806"/>
            </a:xfrm>
            <a:prstGeom prst="rect">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27"/>
            <p:cNvSpPr txBox="1"/>
            <p:nvPr/>
          </p:nvSpPr>
          <p:spPr>
            <a:xfrm>
              <a:off x="2736228" y="2280"/>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DATA ANALYSIS</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Processes vast data for insights and predictions.</a:t>
              </a:r>
              <a:endParaRPr sz="1400" b="0" i="0" u="none" strike="noStrike" cap="none">
                <a:solidFill>
                  <a:schemeClr val="lt1"/>
                </a:solidFill>
                <a:latin typeface="Arial"/>
                <a:ea typeface="Arial"/>
                <a:cs typeface="Arial"/>
                <a:sym typeface="Arial"/>
              </a:endParaRPr>
            </a:p>
          </p:txBody>
        </p:sp>
        <p:sp>
          <p:nvSpPr>
            <p:cNvPr id="703" name="Google Shape;703;p27"/>
            <p:cNvSpPr/>
            <p:nvPr/>
          </p:nvSpPr>
          <p:spPr>
            <a:xfrm>
              <a:off x="5300707" y="2280"/>
              <a:ext cx="2331344" cy="1398806"/>
            </a:xfrm>
            <a:prstGeom prst="rect">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27"/>
            <p:cNvSpPr txBox="1"/>
            <p:nvPr/>
          </p:nvSpPr>
          <p:spPr>
            <a:xfrm>
              <a:off x="5300707" y="2280"/>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CUSTOMER SERVICE</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AI chatbots provide 24/7 support.</a:t>
              </a:r>
              <a:endParaRPr sz="1400" b="0" i="0" u="none" strike="noStrike" cap="none">
                <a:solidFill>
                  <a:schemeClr val="lt1"/>
                </a:solidFill>
                <a:latin typeface="Arial"/>
                <a:ea typeface="Arial"/>
                <a:cs typeface="Arial"/>
                <a:sym typeface="Arial"/>
              </a:endParaRPr>
            </a:p>
          </p:txBody>
        </p:sp>
        <p:sp>
          <p:nvSpPr>
            <p:cNvPr id="705" name="Google Shape;705;p27"/>
            <p:cNvSpPr/>
            <p:nvPr/>
          </p:nvSpPr>
          <p:spPr>
            <a:xfrm>
              <a:off x="7865185" y="2280"/>
              <a:ext cx="2331344" cy="1398806"/>
            </a:xfrm>
            <a:prstGeom prst="rect">
              <a:avLst/>
            </a:prstGeom>
            <a:gradFill>
              <a:gsLst>
                <a:gs pos="0">
                  <a:srgbClr val="AB4E9D"/>
                </a:gs>
                <a:gs pos="50000">
                  <a:srgbClr val="A62094"/>
                </a:gs>
                <a:gs pos="100000">
                  <a:srgbClr val="961886"/>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27"/>
            <p:cNvSpPr txBox="1"/>
            <p:nvPr/>
          </p:nvSpPr>
          <p:spPr>
            <a:xfrm>
              <a:off x="7865185" y="2280"/>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PERSONALIZATION</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Tailors marketing, products, and services.</a:t>
              </a:r>
              <a:endParaRPr sz="1400" b="0" i="0" u="none" strike="noStrike" cap="none">
                <a:solidFill>
                  <a:schemeClr val="lt1"/>
                </a:solidFill>
                <a:latin typeface="Arial"/>
                <a:ea typeface="Arial"/>
                <a:cs typeface="Arial"/>
                <a:sym typeface="Arial"/>
              </a:endParaRPr>
            </a:p>
          </p:txBody>
        </p:sp>
        <p:sp>
          <p:nvSpPr>
            <p:cNvPr id="707" name="Google Shape;707;p27"/>
            <p:cNvSpPr/>
            <p:nvPr/>
          </p:nvSpPr>
          <p:spPr>
            <a:xfrm>
              <a:off x="171749" y="1634221"/>
              <a:ext cx="2331344" cy="1398806"/>
            </a:xfrm>
            <a:prstGeom prst="rect">
              <a:avLst/>
            </a:prstGeom>
            <a:gradFill>
              <a:gsLst>
                <a:gs pos="0">
                  <a:srgbClr val="65B150"/>
                </a:gs>
                <a:gs pos="50000">
                  <a:srgbClr val="4AAC24"/>
                </a:gs>
                <a:gs pos="100000">
                  <a:srgbClr val="3F9D1A"/>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27"/>
            <p:cNvSpPr txBox="1"/>
            <p:nvPr/>
          </p:nvSpPr>
          <p:spPr>
            <a:xfrm>
              <a:off x="171749" y="1634221"/>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SUPPLY CHAIN MANAGEMENT</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Optimizes logistics and inventory.</a:t>
              </a:r>
              <a:endParaRPr sz="1400" b="0" i="0" u="none" strike="noStrike" cap="none">
                <a:solidFill>
                  <a:schemeClr val="lt1"/>
                </a:solidFill>
                <a:latin typeface="Arial"/>
                <a:ea typeface="Arial"/>
                <a:cs typeface="Arial"/>
                <a:sym typeface="Arial"/>
              </a:endParaRPr>
            </a:p>
          </p:txBody>
        </p:sp>
        <p:sp>
          <p:nvSpPr>
            <p:cNvPr id="709" name="Google Shape;709;p27"/>
            <p:cNvSpPr/>
            <p:nvPr/>
          </p:nvSpPr>
          <p:spPr>
            <a:xfrm>
              <a:off x="2736228" y="1634221"/>
              <a:ext cx="2331344" cy="1398806"/>
            </a:xfrm>
            <a:prstGeom prst="rect">
              <a:avLst/>
            </a:prstGeom>
            <a:gradFill>
              <a:gsLst>
                <a:gs pos="0">
                  <a:srgbClr val="EC8154"/>
                </a:gs>
                <a:gs pos="50000">
                  <a:srgbClr val="F16E27"/>
                </a:gs>
                <a:gs pos="100000">
                  <a:srgbClr val="DF5D1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27"/>
            <p:cNvSpPr txBox="1"/>
            <p:nvPr/>
          </p:nvSpPr>
          <p:spPr>
            <a:xfrm>
              <a:off x="2736228" y="1634221"/>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FRAUD DETECTION</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Identifies unusual transaction patterns.</a:t>
              </a:r>
              <a:endParaRPr sz="1400" b="0" i="0" u="none" strike="noStrike" cap="none">
                <a:solidFill>
                  <a:schemeClr val="lt1"/>
                </a:solidFill>
                <a:latin typeface="Arial"/>
                <a:ea typeface="Arial"/>
                <a:cs typeface="Arial"/>
                <a:sym typeface="Arial"/>
              </a:endParaRPr>
            </a:p>
          </p:txBody>
        </p:sp>
        <p:sp>
          <p:nvSpPr>
            <p:cNvPr id="711" name="Google Shape;711;p27"/>
            <p:cNvSpPr/>
            <p:nvPr/>
          </p:nvSpPr>
          <p:spPr>
            <a:xfrm>
              <a:off x="5300707" y="1634221"/>
              <a:ext cx="2331344" cy="1398806"/>
            </a:xfrm>
            <a:prstGeom prst="rect">
              <a:avLst/>
            </a:prstGeom>
            <a:gradFill>
              <a:gsLst>
                <a:gs pos="0">
                  <a:srgbClr val="497D4C"/>
                </a:gs>
                <a:gs pos="50000">
                  <a:srgbClr val="116F1D"/>
                </a:gs>
                <a:gs pos="100000">
                  <a:srgbClr val="0B6417"/>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27"/>
            <p:cNvSpPr txBox="1"/>
            <p:nvPr/>
          </p:nvSpPr>
          <p:spPr>
            <a:xfrm>
              <a:off x="5300707" y="1634221"/>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MARKETING AND SALES</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Enhances campaigns and customer segmentation.</a:t>
              </a:r>
              <a:endParaRPr sz="1400" b="0" i="0" u="none" strike="noStrike" cap="none">
                <a:solidFill>
                  <a:schemeClr val="lt1"/>
                </a:solidFill>
                <a:latin typeface="Arial"/>
                <a:ea typeface="Arial"/>
                <a:cs typeface="Arial"/>
                <a:sym typeface="Arial"/>
              </a:endParaRPr>
            </a:p>
          </p:txBody>
        </p:sp>
        <p:sp>
          <p:nvSpPr>
            <p:cNvPr id="713" name="Google Shape;713;p27"/>
            <p:cNvSpPr/>
            <p:nvPr/>
          </p:nvSpPr>
          <p:spPr>
            <a:xfrm>
              <a:off x="7865185" y="1634221"/>
              <a:ext cx="2331344" cy="1398806"/>
            </a:xfrm>
            <a:prstGeom prst="rect">
              <a:avLst/>
            </a:prstGeom>
            <a:gradFill>
              <a:gsLst>
                <a:gs pos="0">
                  <a:srgbClr val="47A9DE"/>
                </a:gs>
                <a:gs pos="50000">
                  <a:srgbClr val="00A2DF"/>
                </a:gs>
                <a:gs pos="100000">
                  <a:srgbClr val="0093CC"/>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27"/>
            <p:cNvSpPr txBox="1"/>
            <p:nvPr/>
          </p:nvSpPr>
          <p:spPr>
            <a:xfrm>
              <a:off x="7865185" y="1634221"/>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HUMAN RESOURCES</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Streamlines hiring and employee training.</a:t>
              </a:r>
              <a:endParaRPr sz="1400" b="0" i="0" u="none" strike="noStrike" cap="none">
                <a:solidFill>
                  <a:schemeClr val="lt1"/>
                </a:solidFill>
                <a:latin typeface="Arial"/>
                <a:ea typeface="Arial"/>
                <a:cs typeface="Arial"/>
                <a:sym typeface="Arial"/>
              </a:endParaRPr>
            </a:p>
          </p:txBody>
        </p:sp>
        <p:sp>
          <p:nvSpPr>
            <p:cNvPr id="715" name="Google Shape;715;p27"/>
            <p:cNvSpPr/>
            <p:nvPr/>
          </p:nvSpPr>
          <p:spPr>
            <a:xfrm>
              <a:off x="2736228" y="3266162"/>
              <a:ext cx="2331344" cy="1398806"/>
            </a:xfrm>
            <a:prstGeom prst="rect">
              <a:avLst/>
            </a:prstGeom>
            <a:gradFill>
              <a:gsLst>
                <a:gs pos="0">
                  <a:srgbClr val="AB4E9D"/>
                </a:gs>
                <a:gs pos="50000">
                  <a:srgbClr val="A62094"/>
                </a:gs>
                <a:gs pos="100000">
                  <a:srgbClr val="961886"/>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27"/>
            <p:cNvSpPr txBox="1"/>
            <p:nvPr/>
          </p:nvSpPr>
          <p:spPr>
            <a:xfrm>
              <a:off x="2736228" y="3266162"/>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PRODUCT DEVELOPMENT</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Accelerates innovation and market analysis.</a:t>
              </a:r>
              <a:endParaRPr sz="1400" b="0" i="0" u="none" strike="noStrike" cap="none">
                <a:solidFill>
                  <a:schemeClr val="lt1"/>
                </a:solidFill>
                <a:latin typeface="Arial"/>
                <a:ea typeface="Arial"/>
                <a:cs typeface="Arial"/>
                <a:sym typeface="Arial"/>
              </a:endParaRPr>
            </a:p>
          </p:txBody>
        </p:sp>
        <p:sp>
          <p:nvSpPr>
            <p:cNvPr id="717" name="Google Shape;717;p27"/>
            <p:cNvSpPr/>
            <p:nvPr/>
          </p:nvSpPr>
          <p:spPr>
            <a:xfrm>
              <a:off x="5300707" y="3266162"/>
              <a:ext cx="2331344" cy="1398806"/>
            </a:xfrm>
            <a:prstGeom prst="rect">
              <a:avLst/>
            </a:prstGeom>
            <a:gradFill>
              <a:gsLst>
                <a:gs pos="0">
                  <a:srgbClr val="65B150"/>
                </a:gs>
                <a:gs pos="50000">
                  <a:srgbClr val="4AAC24"/>
                </a:gs>
                <a:gs pos="100000">
                  <a:srgbClr val="3F9D1A"/>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27"/>
            <p:cNvSpPr txBox="1"/>
            <p:nvPr/>
          </p:nvSpPr>
          <p:spPr>
            <a:xfrm>
              <a:off x="5300707" y="3266162"/>
              <a:ext cx="2331344" cy="1398806"/>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a:solidFill>
                    <a:schemeClr val="lt1"/>
                  </a:solidFill>
                  <a:latin typeface="Arial"/>
                  <a:ea typeface="Arial"/>
                  <a:cs typeface="Arial"/>
                  <a:sym typeface="Arial"/>
                </a:rPr>
                <a:t>DECISION MAKING</a:t>
              </a:r>
              <a:endParaRPr sz="1800">
                <a:solidFill>
                  <a:schemeClr val="lt1"/>
                </a:solidFill>
                <a:latin typeface="Arial"/>
                <a:ea typeface="Arial"/>
                <a:cs typeface="Arial"/>
                <a:sym typeface="Arial"/>
              </a:endParaRPr>
            </a:p>
            <a:p>
              <a:pPr marL="114300" marR="0" lvl="1" indent="-114300" algn="l" rtl="0">
                <a:lnSpc>
                  <a:spcPct val="90000"/>
                </a:lnSpc>
                <a:spcBef>
                  <a:spcPts val="630"/>
                </a:spcBef>
                <a:spcAft>
                  <a:spcPts val="0"/>
                </a:spcAft>
                <a:buClr>
                  <a:schemeClr val="lt1"/>
                </a:buClr>
                <a:buSzPts val="1400"/>
                <a:buFont typeface="Arial"/>
                <a:buChar char="•"/>
              </a:pPr>
              <a:r>
                <a:rPr lang="en-US" sz="1400" b="0" i="0" u="none" strike="noStrike" cap="none">
                  <a:solidFill>
                    <a:schemeClr val="lt1"/>
                  </a:solidFill>
                  <a:latin typeface="Arial"/>
                  <a:ea typeface="Arial"/>
                  <a:cs typeface="Arial"/>
                  <a:sym typeface="Arial"/>
                </a:rPr>
                <a:t>Provides insights for strategic business growth.</a:t>
              </a:r>
              <a:endParaRPr sz="1400" b="0" i="0" u="none" strike="noStrike" cap="none">
                <a:solidFill>
                  <a:schemeClr val="lt1"/>
                </a:solidFill>
                <a:latin typeface="Arial"/>
                <a:ea typeface="Arial"/>
                <a:cs typeface="Arial"/>
                <a:sym typeface="Arial"/>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2"/>
        <p:cNvGrpSpPr/>
        <p:nvPr/>
      </p:nvGrpSpPr>
      <p:grpSpPr>
        <a:xfrm>
          <a:off x="0" y="0"/>
          <a:ext cx="0" cy="0"/>
          <a:chOff x="0" y="0"/>
          <a:chExt cx="0" cy="0"/>
        </a:xfrm>
      </p:grpSpPr>
      <p:sp>
        <p:nvSpPr>
          <p:cNvPr id="723" name="Google Shape;723;p2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24" name="Google Shape;724;p28"/>
          <p:cNvSpPr/>
          <p:nvPr/>
        </p:nvSpPr>
        <p:spPr>
          <a:xfrm>
            <a:off x="-1" y="0"/>
            <a:ext cx="4818889" cy="6858000"/>
          </a:xfrm>
          <a:custGeom>
            <a:avLst/>
            <a:gdLst/>
            <a:ahLst/>
            <a:cxnLst/>
            <a:rect l="l" t="t" r="r" b="b"/>
            <a:pathLst>
              <a:path w="4818889" h="6858000" extrusionOk="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w="9525" cap="flat" cmpd="sng">
            <a:solidFill>
              <a:srgbClr val="EFEFEF"/>
            </a:solidFill>
            <a:prstDash val="solid"/>
            <a:miter lim="800000"/>
            <a:headEnd type="none" w="sm" len="sm"/>
            <a:tailEnd type="none" w="sm" len="sm"/>
          </a:ln>
          <a:effectLst>
            <a:outerShdw blurRad="88900" dist="38100" algn="l" rotWithShape="0">
              <a:srgbClr val="D8D8D8">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25" name="Google Shape;725;p28"/>
          <p:cNvSpPr/>
          <p:nvPr/>
        </p:nvSpPr>
        <p:spPr>
          <a:xfrm>
            <a:off x="1" y="0"/>
            <a:ext cx="4811477" cy="6858000"/>
          </a:xfrm>
          <a:custGeom>
            <a:avLst/>
            <a:gdLst/>
            <a:ahLst/>
            <a:cxnLst/>
            <a:rect l="l" t="t" r="r" b="b"/>
            <a:pathLst>
              <a:path w="4811477" h="6858000" extrusionOk="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26" name="Google Shape;726;p28"/>
          <p:cNvSpPr txBox="1">
            <a:spLocks noGrp="1"/>
          </p:cNvSpPr>
          <p:nvPr>
            <p:ph type="title"/>
          </p:nvPr>
        </p:nvSpPr>
        <p:spPr>
          <a:xfrm>
            <a:off x="621792" y="1161288"/>
            <a:ext cx="3602736" cy="204757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AI in Business: HR</a:t>
            </a:r>
            <a:endParaRPr/>
          </a:p>
        </p:txBody>
      </p:sp>
      <p:sp>
        <p:nvSpPr>
          <p:cNvPr id="727" name="Google Shape;727;p28"/>
          <p:cNvSpPr/>
          <p:nvPr/>
        </p:nvSpPr>
        <p:spPr>
          <a:xfrm>
            <a:off x="0" y="3081528"/>
            <a:ext cx="128016"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728" name="Google Shape;728;p28"/>
          <p:cNvGrpSpPr/>
          <p:nvPr/>
        </p:nvGrpSpPr>
        <p:grpSpPr>
          <a:xfrm>
            <a:off x="5303520" y="678439"/>
            <a:ext cx="6364224" cy="5510264"/>
            <a:chOff x="0" y="1783"/>
            <a:chExt cx="6364224" cy="5510264"/>
          </a:xfrm>
        </p:grpSpPr>
        <p:sp>
          <p:nvSpPr>
            <p:cNvPr id="729" name="Google Shape;729;p28"/>
            <p:cNvSpPr/>
            <p:nvPr/>
          </p:nvSpPr>
          <p:spPr>
            <a:xfrm>
              <a:off x="0" y="1783"/>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8"/>
            <p:cNvSpPr/>
            <p:nvPr/>
          </p:nvSpPr>
          <p:spPr>
            <a:xfrm>
              <a:off x="229911" y="172791"/>
              <a:ext cx="418020" cy="41802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28"/>
            <p:cNvSpPr/>
            <p:nvPr/>
          </p:nvSpPr>
          <p:spPr>
            <a:xfrm>
              <a:off x="877842" y="1783"/>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8"/>
            <p:cNvSpPr txBox="1"/>
            <p:nvPr/>
          </p:nvSpPr>
          <p:spPr>
            <a:xfrm>
              <a:off x="877842" y="1783"/>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Recruitment &amp; Hiring</a:t>
              </a:r>
              <a:endParaRPr sz="1900">
                <a:solidFill>
                  <a:schemeClr val="dk1"/>
                </a:solidFill>
                <a:latin typeface="Arial"/>
                <a:ea typeface="Arial"/>
                <a:cs typeface="Arial"/>
                <a:sym typeface="Arial"/>
              </a:endParaRPr>
            </a:p>
          </p:txBody>
        </p:sp>
        <p:sp>
          <p:nvSpPr>
            <p:cNvPr id="733" name="Google Shape;733;p28"/>
            <p:cNvSpPr/>
            <p:nvPr/>
          </p:nvSpPr>
          <p:spPr>
            <a:xfrm>
              <a:off x="3741742" y="1783"/>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8"/>
            <p:cNvSpPr txBox="1"/>
            <p:nvPr/>
          </p:nvSpPr>
          <p:spPr>
            <a:xfrm>
              <a:off x="3741742" y="1783"/>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 screens resumes and conducts initial interviews.</a:t>
              </a:r>
              <a:endParaRPr sz="1400">
                <a:solidFill>
                  <a:schemeClr val="dk1"/>
                </a:solidFill>
                <a:latin typeface="Arial"/>
                <a:ea typeface="Arial"/>
                <a:cs typeface="Arial"/>
                <a:sym typeface="Arial"/>
              </a:endParaRPr>
            </a:p>
          </p:txBody>
        </p:sp>
        <p:sp>
          <p:nvSpPr>
            <p:cNvPr id="735" name="Google Shape;735;p28"/>
            <p:cNvSpPr/>
            <p:nvPr/>
          </p:nvSpPr>
          <p:spPr>
            <a:xfrm>
              <a:off x="0" y="951829"/>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8"/>
            <p:cNvSpPr/>
            <p:nvPr/>
          </p:nvSpPr>
          <p:spPr>
            <a:xfrm>
              <a:off x="229911" y="1122837"/>
              <a:ext cx="418020" cy="41802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8"/>
            <p:cNvSpPr/>
            <p:nvPr/>
          </p:nvSpPr>
          <p:spPr>
            <a:xfrm>
              <a:off x="877842" y="951829"/>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8"/>
            <p:cNvSpPr txBox="1"/>
            <p:nvPr/>
          </p:nvSpPr>
          <p:spPr>
            <a:xfrm>
              <a:off x="877842" y="951829"/>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Employee Onboarding</a:t>
              </a:r>
              <a:endParaRPr sz="1900">
                <a:solidFill>
                  <a:schemeClr val="dk1"/>
                </a:solidFill>
                <a:latin typeface="Arial"/>
                <a:ea typeface="Arial"/>
                <a:cs typeface="Arial"/>
                <a:sym typeface="Arial"/>
              </a:endParaRPr>
            </a:p>
          </p:txBody>
        </p:sp>
        <p:sp>
          <p:nvSpPr>
            <p:cNvPr id="739" name="Google Shape;739;p28"/>
            <p:cNvSpPr/>
            <p:nvPr/>
          </p:nvSpPr>
          <p:spPr>
            <a:xfrm>
              <a:off x="3741742" y="951829"/>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8"/>
            <p:cNvSpPr txBox="1"/>
            <p:nvPr/>
          </p:nvSpPr>
          <p:spPr>
            <a:xfrm>
              <a:off x="3741742" y="951829"/>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Personalized AI-driven training programs.</a:t>
              </a:r>
              <a:endParaRPr sz="1400">
                <a:solidFill>
                  <a:schemeClr val="dk1"/>
                </a:solidFill>
                <a:latin typeface="Arial"/>
                <a:ea typeface="Arial"/>
                <a:cs typeface="Arial"/>
                <a:sym typeface="Arial"/>
              </a:endParaRPr>
            </a:p>
          </p:txBody>
        </p:sp>
        <p:sp>
          <p:nvSpPr>
            <p:cNvPr id="741" name="Google Shape;741;p28"/>
            <p:cNvSpPr/>
            <p:nvPr/>
          </p:nvSpPr>
          <p:spPr>
            <a:xfrm>
              <a:off x="0" y="1901874"/>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8"/>
            <p:cNvSpPr/>
            <p:nvPr/>
          </p:nvSpPr>
          <p:spPr>
            <a:xfrm>
              <a:off x="229911" y="2072883"/>
              <a:ext cx="418020" cy="41802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8"/>
            <p:cNvSpPr/>
            <p:nvPr/>
          </p:nvSpPr>
          <p:spPr>
            <a:xfrm>
              <a:off x="877842" y="1901874"/>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8"/>
            <p:cNvSpPr txBox="1"/>
            <p:nvPr/>
          </p:nvSpPr>
          <p:spPr>
            <a:xfrm>
              <a:off x="877842" y="1901874"/>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Performance Management</a:t>
              </a:r>
              <a:endParaRPr sz="1900">
                <a:solidFill>
                  <a:schemeClr val="dk1"/>
                </a:solidFill>
                <a:latin typeface="Arial"/>
                <a:ea typeface="Arial"/>
                <a:cs typeface="Arial"/>
                <a:sym typeface="Arial"/>
              </a:endParaRPr>
            </a:p>
          </p:txBody>
        </p:sp>
        <p:sp>
          <p:nvSpPr>
            <p:cNvPr id="745" name="Google Shape;745;p28"/>
            <p:cNvSpPr/>
            <p:nvPr/>
          </p:nvSpPr>
          <p:spPr>
            <a:xfrm>
              <a:off x="3741742" y="1901874"/>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txBox="1"/>
            <p:nvPr/>
          </p:nvSpPr>
          <p:spPr>
            <a:xfrm>
              <a:off x="3741742" y="1901874"/>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 analyses productivity and gives feedback.</a:t>
              </a:r>
              <a:endParaRPr sz="1400">
                <a:solidFill>
                  <a:schemeClr val="dk1"/>
                </a:solidFill>
                <a:latin typeface="Arial"/>
                <a:ea typeface="Arial"/>
                <a:cs typeface="Arial"/>
                <a:sym typeface="Arial"/>
              </a:endParaRPr>
            </a:p>
          </p:txBody>
        </p:sp>
        <p:sp>
          <p:nvSpPr>
            <p:cNvPr id="747" name="Google Shape;747;p28"/>
            <p:cNvSpPr/>
            <p:nvPr/>
          </p:nvSpPr>
          <p:spPr>
            <a:xfrm>
              <a:off x="0" y="2851920"/>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8"/>
            <p:cNvSpPr/>
            <p:nvPr/>
          </p:nvSpPr>
          <p:spPr>
            <a:xfrm>
              <a:off x="229911" y="3022928"/>
              <a:ext cx="418020" cy="41802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8"/>
            <p:cNvSpPr/>
            <p:nvPr/>
          </p:nvSpPr>
          <p:spPr>
            <a:xfrm>
              <a:off x="877842" y="2851920"/>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8"/>
            <p:cNvSpPr txBox="1"/>
            <p:nvPr/>
          </p:nvSpPr>
          <p:spPr>
            <a:xfrm>
              <a:off x="877842" y="2851920"/>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Employee Engagement &amp; Retention</a:t>
              </a:r>
              <a:endParaRPr sz="1900">
                <a:solidFill>
                  <a:schemeClr val="dk1"/>
                </a:solidFill>
                <a:latin typeface="Arial"/>
                <a:ea typeface="Arial"/>
                <a:cs typeface="Arial"/>
                <a:sym typeface="Arial"/>
              </a:endParaRPr>
            </a:p>
          </p:txBody>
        </p:sp>
        <p:sp>
          <p:nvSpPr>
            <p:cNvPr id="751" name="Google Shape;751;p28"/>
            <p:cNvSpPr/>
            <p:nvPr/>
          </p:nvSpPr>
          <p:spPr>
            <a:xfrm>
              <a:off x="3741742" y="2851920"/>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8"/>
            <p:cNvSpPr txBox="1"/>
            <p:nvPr/>
          </p:nvSpPr>
          <p:spPr>
            <a:xfrm>
              <a:off x="3741742" y="2851920"/>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 chatbots handle HR queries and predict turnover.</a:t>
              </a:r>
              <a:endParaRPr sz="1400">
                <a:solidFill>
                  <a:schemeClr val="dk1"/>
                </a:solidFill>
                <a:latin typeface="Arial"/>
                <a:ea typeface="Arial"/>
                <a:cs typeface="Arial"/>
                <a:sym typeface="Arial"/>
              </a:endParaRPr>
            </a:p>
          </p:txBody>
        </p:sp>
        <p:sp>
          <p:nvSpPr>
            <p:cNvPr id="753" name="Google Shape;753;p28"/>
            <p:cNvSpPr/>
            <p:nvPr/>
          </p:nvSpPr>
          <p:spPr>
            <a:xfrm>
              <a:off x="0" y="3801966"/>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8"/>
            <p:cNvSpPr/>
            <p:nvPr/>
          </p:nvSpPr>
          <p:spPr>
            <a:xfrm>
              <a:off x="229911" y="3972974"/>
              <a:ext cx="418020" cy="41802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p:nvPr/>
          </p:nvSpPr>
          <p:spPr>
            <a:xfrm>
              <a:off x="877842" y="3801966"/>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8"/>
            <p:cNvSpPr txBox="1"/>
            <p:nvPr/>
          </p:nvSpPr>
          <p:spPr>
            <a:xfrm>
              <a:off x="877842" y="3801966"/>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Training &amp; Development</a:t>
              </a:r>
              <a:endParaRPr sz="1900">
                <a:solidFill>
                  <a:schemeClr val="dk1"/>
                </a:solidFill>
                <a:latin typeface="Arial"/>
                <a:ea typeface="Arial"/>
                <a:cs typeface="Arial"/>
                <a:sym typeface="Arial"/>
              </a:endParaRPr>
            </a:p>
          </p:txBody>
        </p:sp>
        <p:sp>
          <p:nvSpPr>
            <p:cNvPr id="757" name="Google Shape;757;p28"/>
            <p:cNvSpPr/>
            <p:nvPr/>
          </p:nvSpPr>
          <p:spPr>
            <a:xfrm>
              <a:off x="3741742" y="3801966"/>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8"/>
            <p:cNvSpPr txBox="1"/>
            <p:nvPr/>
          </p:nvSpPr>
          <p:spPr>
            <a:xfrm>
              <a:off x="3741742" y="3801966"/>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 recommends learning paths based on career goals.</a:t>
              </a:r>
              <a:endParaRPr sz="1400">
                <a:solidFill>
                  <a:schemeClr val="dk1"/>
                </a:solidFill>
                <a:latin typeface="Arial"/>
                <a:ea typeface="Arial"/>
                <a:cs typeface="Arial"/>
                <a:sym typeface="Arial"/>
              </a:endParaRPr>
            </a:p>
          </p:txBody>
        </p:sp>
        <p:sp>
          <p:nvSpPr>
            <p:cNvPr id="759" name="Google Shape;759;p28"/>
            <p:cNvSpPr/>
            <p:nvPr/>
          </p:nvSpPr>
          <p:spPr>
            <a:xfrm>
              <a:off x="0" y="4752011"/>
              <a:ext cx="6364224" cy="76003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8"/>
            <p:cNvSpPr/>
            <p:nvPr/>
          </p:nvSpPr>
          <p:spPr>
            <a:xfrm>
              <a:off x="229911" y="4923020"/>
              <a:ext cx="418020" cy="418020"/>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8"/>
            <p:cNvSpPr/>
            <p:nvPr/>
          </p:nvSpPr>
          <p:spPr>
            <a:xfrm>
              <a:off x="877842" y="4752011"/>
              <a:ext cx="2863900"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txBox="1"/>
            <p:nvPr/>
          </p:nvSpPr>
          <p:spPr>
            <a:xfrm>
              <a:off x="877842" y="4752011"/>
              <a:ext cx="2863900"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900"/>
                <a:buFont typeface="Arial"/>
                <a:buNone/>
              </a:pPr>
              <a:r>
                <a:rPr lang="en-US" sz="1900">
                  <a:solidFill>
                    <a:schemeClr val="dk1"/>
                  </a:solidFill>
                  <a:latin typeface="Arial"/>
                  <a:ea typeface="Arial"/>
                  <a:cs typeface="Arial"/>
                  <a:sym typeface="Arial"/>
                </a:rPr>
                <a:t>HR Analytics &amp; Decision Making</a:t>
              </a:r>
              <a:endParaRPr sz="1900">
                <a:solidFill>
                  <a:schemeClr val="dk1"/>
                </a:solidFill>
                <a:latin typeface="Arial"/>
                <a:ea typeface="Arial"/>
                <a:cs typeface="Arial"/>
                <a:sym typeface="Arial"/>
              </a:endParaRPr>
            </a:p>
          </p:txBody>
        </p:sp>
        <p:sp>
          <p:nvSpPr>
            <p:cNvPr id="763" name="Google Shape;763;p28"/>
            <p:cNvSpPr/>
            <p:nvPr/>
          </p:nvSpPr>
          <p:spPr>
            <a:xfrm>
              <a:off x="3741742" y="4752011"/>
              <a:ext cx="2622481" cy="76003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txBox="1"/>
            <p:nvPr/>
          </p:nvSpPr>
          <p:spPr>
            <a:xfrm>
              <a:off x="3741742" y="4752011"/>
              <a:ext cx="2622481" cy="760036"/>
            </a:xfrm>
            <a:prstGeom prst="rect">
              <a:avLst/>
            </a:prstGeom>
            <a:noFill/>
            <a:ln>
              <a:noFill/>
            </a:ln>
          </p:spPr>
          <p:txBody>
            <a:bodyPr spcFirstLastPara="1" wrap="square" lIns="80425" tIns="80425" rIns="80425" bIns="80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 provides insights for workforce planning.</a:t>
              </a:r>
              <a:endParaRPr sz="1400">
                <a:solidFill>
                  <a:schemeClr val="dk1"/>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8"/>
        <p:cNvGrpSpPr/>
        <p:nvPr/>
      </p:nvGrpSpPr>
      <p:grpSpPr>
        <a:xfrm>
          <a:off x="0" y="0"/>
          <a:ext cx="0" cy="0"/>
          <a:chOff x="0" y="0"/>
          <a:chExt cx="0" cy="0"/>
        </a:xfrm>
      </p:grpSpPr>
      <p:sp>
        <p:nvSpPr>
          <p:cNvPr id="769" name="Google Shape;769;p2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70" name="Google Shape;770;p29"/>
          <p:cNvSpPr/>
          <p:nvPr/>
        </p:nvSpPr>
        <p:spPr>
          <a:xfrm>
            <a:off x="-1" y="0"/>
            <a:ext cx="4818889" cy="6858000"/>
          </a:xfrm>
          <a:custGeom>
            <a:avLst/>
            <a:gdLst/>
            <a:ahLst/>
            <a:cxnLst/>
            <a:rect l="l" t="t" r="r" b="b"/>
            <a:pathLst>
              <a:path w="4818889" h="6858000" extrusionOk="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w="9525" cap="flat" cmpd="sng">
            <a:solidFill>
              <a:srgbClr val="EFEFEF"/>
            </a:solidFill>
            <a:prstDash val="solid"/>
            <a:miter lim="800000"/>
            <a:headEnd type="none" w="sm" len="sm"/>
            <a:tailEnd type="none" w="sm" len="sm"/>
          </a:ln>
          <a:effectLst>
            <a:outerShdw blurRad="88900" dist="38100" algn="l" rotWithShape="0">
              <a:srgbClr val="D8D8D8">
                <a:alpha val="49803"/>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71" name="Google Shape;771;p29"/>
          <p:cNvSpPr/>
          <p:nvPr/>
        </p:nvSpPr>
        <p:spPr>
          <a:xfrm>
            <a:off x="1" y="0"/>
            <a:ext cx="4811477" cy="6858000"/>
          </a:xfrm>
          <a:custGeom>
            <a:avLst/>
            <a:gdLst/>
            <a:ahLst/>
            <a:cxnLst/>
            <a:rect l="l" t="t" r="r" b="b"/>
            <a:pathLst>
              <a:path w="4811477" h="6858000" extrusionOk="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72" name="Google Shape;772;p29"/>
          <p:cNvSpPr txBox="1">
            <a:spLocks noGrp="1"/>
          </p:cNvSpPr>
          <p:nvPr>
            <p:ph type="title"/>
          </p:nvPr>
        </p:nvSpPr>
        <p:spPr>
          <a:xfrm>
            <a:off x="621792" y="1161288"/>
            <a:ext cx="3602736" cy="204757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AI in Business: Marketing</a:t>
            </a:r>
            <a:endParaRPr/>
          </a:p>
        </p:txBody>
      </p:sp>
      <p:sp>
        <p:nvSpPr>
          <p:cNvPr id="773" name="Google Shape;773;p29"/>
          <p:cNvSpPr/>
          <p:nvPr/>
        </p:nvSpPr>
        <p:spPr>
          <a:xfrm>
            <a:off x="0" y="3081528"/>
            <a:ext cx="128016"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774" name="Google Shape;774;p29"/>
          <p:cNvGrpSpPr/>
          <p:nvPr/>
        </p:nvGrpSpPr>
        <p:grpSpPr>
          <a:xfrm>
            <a:off x="5303520" y="677329"/>
            <a:ext cx="6364224" cy="5512485"/>
            <a:chOff x="0" y="673"/>
            <a:chExt cx="6364224" cy="5512485"/>
          </a:xfrm>
        </p:grpSpPr>
        <p:sp>
          <p:nvSpPr>
            <p:cNvPr id="775" name="Google Shape;775;p29"/>
            <p:cNvSpPr/>
            <p:nvPr/>
          </p:nvSpPr>
          <p:spPr>
            <a:xfrm>
              <a:off x="0" y="673"/>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29"/>
            <p:cNvSpPr/>
            <p:nvPr/>
          </p:nvSpPr>
          <p:spPr>
            <a:xfrm>
              <a:off x="171028" y="127884"/>
              <a:ext cx="310960" cy="31096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29"/>
            <p:cNvSpPr/>
            <p:nvPr/>
          </p:nvSpPr>
          <p:spPr>
            <a:xfrm>
              <a:off x="653017" y="673"/>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29"/>
            <p:cNvSpPr txBox="1"/>
            <p:nvPr/>
          </p:nvSpPr>
          <p:spPr>
            <a:xfrm>
              <a:off x="653017" y="673"/>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Customer Insights</a:t>
              </a:r>
              <a:endParaRPr sz="1600">
                <a:solidFill>
                  <a:schemeClr val="dk1"/>
                </a:solidFill>
                <a:latin typeface="Arial"/>
                <a:ea typeface="Arial"/>
                <a:cs typeface="Arial"/>
                <a:sym typeface="Arial"/>
              </a:endParaRPr>
            </a:p>
          </p:txBody>
        </p:sp>
        <p:sp>
          <p:nvSpPr>
            <p:cNvPr id="779" name="Google Shape;779;p29"/>
            <p:cNvSpPr/>
            <p:nvPr/>
          </p:nvSpPr>
          <p:spPr>
            <a:xfrm>
              <a:off x="3516918" y="673"/>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29"/>
            <p:cNvSpPr txBox="1"/>
            <p:nvPr/>
          </p:nvSpPr>
          <p:spPr>
            <a:xfrm>
              <a:off x="3516918" y="673"/>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analyses consumer data to identify trends.</a:t>
              </a:r>
              <a:endParaRPr sz="1400">
                <a:solidFill>
                  <a:schemeClr val="dk1"/>
                </a:solidFill>
                <a:latin typeface="Arial"/>
                <a:ea typeface="Arial"/>
                <a:cs typeface="Arial"/>
                <a:sym typeface="Arial"/>
              </a:endParaRPr>
            </a:p>
          </p:txBody>
        </p:sp>
        <p:sp>
          <p:nvSpPr>
            <p:cNvPr id="781" name="Google Shape;781;p29"/>
            <p:cNvSpPr/>
            <p:nvPr/>
          </p:nvSpPr>
          <p:spPr>
            <a:xfrm>
              <a:off x="0" y="707402"/>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9"/>
            <p:cNvSpPr/>
            <p:nvPr/>
          </p:nvSpPr>
          <p:spPr>
            <a:xfrm>
              <a:off x="171028" y="834613"/>
              <a:ext cx="310960" cy="31096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9"/>
            <p:cNvSpPr/>
            <p:nvPr/>
          </p:nvSpPr>
          <p:spPr>
            <a:xfrm>
              <a:off x="653017" y="707402"/>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29"/>
            <p:cNvSpPr txBox="1"/>
            <p:nvPr/>
          </p:nvSpPr>
          <p:spPr>
            <a:xfrm>
              <a:off x="653017" y="707402"/>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Personalized Marketing</a:t>
              </a:r>
              <a:endParaRPr sz="1600">
                <a:solidFill>
                  <a:schemeClr val="dk1"/>
                </a:solidFill>
                <a:latin typeface="Arial"/>
                <a:ea typeface="Arial"/>
                <a:cs typeface="Arial"/>
                <a:sym typeface="Arial"/>
              </a:endParaRPr>
            </a:p>
          </p:txBody>
        </p:sp>
        <p:sp>
          <p:nvSpPr>
            <p:cNvPr id="785" name="Google Shape;785;p29"/>
            <p:cNvSpPr/>
            <p:nvPr/>
          </p:nvSpPr>
          <p:spPr>
            <a:xfrm>
              <a:off x="3516918" y="707402"/>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9"/>
            <p:cNvSpPr txBox="1"/>
            <p:nvPr/>
          </p:nvSpPr>
          <p:spPr>
            <a:xfrm>
              <a:off x="3516918" y="707402"/>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customizes ads, emails, and content for users.</a:t>
              </a:r>
              <a:endParaRPr sz="1400">
                <a:solidFill>
                  <a:schemeClr val="dk1"/>
                </a:solidFill>
                <a:latin typeface="Arial"/>
                <a:ea typeface="Arial"/>
                <a:cs typeface="Arial"/>
                <a:sym typeface="Arial"/>
              </a:endParaRPr>
            </a:p>
          </p:txBody>
        </p:sp>
        <p:sp>
          <p:nvSpPr>
            <p:cNvPr id="787" name="Google Shape;787;p29"/>
            <p:cNvSpPr/>
            <p:nvPr/>
          </p:nvSpPr>
          <p:spPr>
            <a:xfrm>
              <a:off x="0" y="1414130"/>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29"/>
            <p:cNvSpPr/>
            <p:nvPr/>
          </p:nvSpPr>
          <p:spPr>
            <a:xfrm>
              <a:off x="171028" y="1541342"/>
              <a:ext cx="310960" cy="31096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29"/>
            <p:cNvSpPr/>
            <p:nvPr/>
          </p:nvSpPr>
          <p:spPr>
            <a:xfrm>
              <a:off x="653017" y="1414130"/>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29"/>
            <p:cNvSpPr txBox="1"/>
            <p:nvPr/>
          </p:nvSpPr>
          <p:spPr>
            <a:xfrm>
              <a:off x="653017" y="1414130"/>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Chatbots &amp; Virtual Assistants</a:t>
              </a:r>
              <a:endParaRPr sz="1600">
                <a:solidFill>
                  <a:schemeClr val="dk1"/>
                </a:solidFill>
                <a:latin typeface="Arial"/>
                <a:ea typeface="Arial"/>
                <a:cs typeface="Arial"/>
                <a:sym typeface="Arial"/>
              </a:endParaRPr>
            </a:p>
          </p:txBody>
        </p:sp>
        <p:sp>
          <p:nvSpPr>
            <p:cNvPr id="791" name="Google Shape;791;p29"/>
            <p:cNvSpPr/>
            <p:nvPr/>
          </p:nvSpPr>
          <p:spPr>
            <a:xfrm>
              <a:off x="3516918" y="1414130"/>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9"/>
            <p:cNvSpPr txBox="1"/>
            <p:nvPr/>
          </p:nvSpPr>
          <p:spPr>
            <a:xfrm>
              <a:off x="3516918" y="1414130"/>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Provide instant customer support and engagement.</a:t>
              </a:r>
              <a:endParaRPr sz="1400">
                <a:solidFill>
                  <a:schemeClr val="dk1"/>
                </a:solidFill>
                <a:latin typeface="Arial"/>
                <a:ea typeface="Arial"/>
                <a:cs typeface="Arial"/>
                <a:sym typeface="Arial"/>
              </a:endParaRPr>
            </a:p>
          </p:txBody>
        </p:sp>
        <p:sp>
          <p:nvSpPr>
            <p:cNvPr id="793" name="Google Shape;793;p29"/>
            <p:cNvSpPr/>
            <p:nvPr/>
          </p:nvSpPr>
          <p:spPr>
            <a:xfrm>
              <a:off x="0" y="2120859"/>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9"/>
            <p:cNvSpPr/>
            <p:nvPr/>
          </p:nvSpPr>
          <p:spPr>
            <a:xfrm>
              <a:off x="171028" y="2248071"/>
              <a:ext cx="310960" cy="31096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9"/>
            <p:cNvSpPr/>
            <p:nvPr/>
          </p:nvSpPr>
          <p:spPr>
            <a:xfrm>
              <a:off x="653017" y="2120859"/>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9"/>
            <p:cNvSpPr txBox="1"/>
            <p:nvPr/>
          </p:nvSpPr>
          <p:spPr>
            <a:xfrm>
              <a:off x="653017" y="2120859"/>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Predictive Analytics</a:t>
              </a:r>
              <a:endParaRPr sz="1600">
                <a:solidFill>
                  <a:schemeClr val="dk1"/>
                </a:solidFill>
                <a:latin typeface="Arial"/>
                <a:ea typeface="Arial"/>
                <a:cs typeface="Arial"/>
                <a:sym typeface="Arial"/>
              </a:endParaRPr>
            </a:p>
          </p:txBody>
        </p:sp>
        <p:sp>
          <p:nvSpPr>
            <p:cNvPr id="797" name="Google Shape;797;p29"/>
            <p:cNvSpPr/>
            <p:nvPr/>
          </p:nvSpPr>
          <p:spPr>
            <a:xfrm>
              <a:off x="3516918" y="2120859"/>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29"/>
            <p:cNvSpPr txBox="1"/>
            <p:nvPr/>
          </p:nvSpPr>
          <p:spPr>
            <a:xfrm>
              <a:off x="3516918" y="2120859"/>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forecasts customer behaviour and market trends.</a:t>
              </a:r>
              <a:endParaRPr sz="1400">
                <a:solidFill>
                  <a:schemeClr val="dk1"/>
                </a:solidFill>
                <a:latin typeface="Arial"/>
                <a:ea typeface="Arial"/>
                <a:cs typeface="Arial"/>
                <a:sym typeface="Arial"/>
              </a:endParaRPr>
            </a:p>
          </p:txBody>
        </p:sp>
        <p:sp>
          <p:nvSpPr>
            <p:cNvPr id="799" name="Google Shape;799;p29"/>
            <p:cNvSpPr/>
            <p:nvPr/>
          </p:nvSpPr>
          <p:spPr>
            <a:xfrm>
              <a:off x="0" y="2827588"/>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9"/>
            <p:cNvSpPr/>
            <p:nvPr/>
          </p:nvSpPr>
          <p:spPr>
            <a:xfrm>
              <a:off x="171028" y="2954800"/>
              <a:ext cx="310960" cy="31096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9"/>
            <p:cNvSpPr/>
            <p:nvPr/>
          </p:nvSpPr>
          <p:spPr>
            <a:xfrm>
              <a:off x="653017" y="2827588"/>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9"/>
            <p:cNvSpPr txBox="1"/>
            <p:nvPr/>
          </p:nvSpPr>
          <p:spPr>
            <a:xfrm>
              <a:off x="653017" y="2827588"/>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Content Generation</a:t>
              </a:r>
              <a:endParaRPr sz="1600">
                <a:solidFill>
                  <a:schemeClr val="dk1"/>
                </a:solidFill>
                <a:latin typeface="Arial"/>
                <a:ea typeface="Arial"/>
                <a:cs typeface="Arial"/>
                <a:sym typeface="Arial"/>
              </a:endParaRPr>
            </a:p>
          </p:txBody>
        </p:sp>
        <p:sp>
          <p:nvSpPr>
            <p:cNvPr id="803" name="Google Shape;803;p29"/>
            <p:cNvSpPr/>
            <p:nvPr/>
          </p:nvSpPr>
          <p:spPr>
            <a:xfrm>
              <a:off x="3516918" y="2827588"/>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9"/>
            <p:cNvSpPr txBox="1"/>
            <p:nvPr/>
          </p:nvSpPr>
          <p:spPr>
            <a:xfrm>
              <a:off x="3516918" y="2827588"/>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creates automated product descriptions and blog posts.</a:t>
              </a:r>
              <a:endParaRPr sz="1400">
                <a:solidFill>
                  <a:schemeClr val="dk1"/>
                </a:solidFill>
                <a:latin typeface="Arial"/>
                <a:ea typeface="Arial"/>
                <a:cs typeface="Arial"/>
                <a:sym typeface="Arial"/>
              </a:endParaRPr>
            </a:p>
          </p:txBody>
        </p:sp>
        <p:sp>
          <p:nvSpPr>
            <p:cNvPr id="805" name="Google Shape;805;p29"/>
            <p:cNvSpPr/>
            <p:nvPr/>
          </p:nvSpPr>
          <p:spPr>
            <a:xfrm>
              <a:off x="0" y="3534317"/>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9"/>
            <p:cNvSpPr/>
            <p:nvPr/>
          </p:nvSpPr>
          <p:spPr>
            <a:xfrm>
              <a:off x="171028" y="3661529"/>
              <a:ext cx="310960" cy="310960"/>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9"/>
            <p:cNvSpPr/>
            <p:nvPr/>
          </p:nvSpPr>
          <p:spPr>
            <a:xfrm>
              <a:off x="653017" y="3534317"/>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9"/>
            <p:cNvSpPr txBox="1"/>
            <p:nvPr/>
          </p:nvSpPr>
          <p:spPr>
            <a:xfrm>
              <a:off x="653017" y="3534317"/>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Ad Optimization</a:t>
              </a:r>
              <a:endParaRPr sz="1600">
                <a:solidFill>
                  <a:schemeClr val="dk1"/>
                </a:solidFill>
                <a:latin typeface="Arial"/>
                <a:ea typeface="Arial"/>
                <a:cs typeface="Arial"/>
                <a:sym typeface="Arial"/>
              </a:endParaRPr>
            </a:p>
          </p:txBody>
        </p:sp>
        <p:sp>
          <p:nvSpPr>
            <p:cNvPr id="809" name="Google Shape;809;p29"/>
            <p:cNvSpPr/>
            <p:nvPr/>
          </p:nvSpPr>
          <p:spPr>
            <a:xfrm>
              <a:off x="3516918" y="3534317"/>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9"/>
            <p:cNvSpPr txBox="1"/>
            <p:nvPr/>
          </p:nvSpPr>
          <p:spPr>
            <a:xfrm>
              <a:off x="3516918" y="3534317"/>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enhances digital ad targeting and bid strategies.</a:t>
              </a:r>
              <a:endParaRPr sz="1400">
                <a:solidFill>
                  <a:schemeClr val="dk1"/>
                </a:solidFill>
                <a:latin typeface="Arial"/>
                <a:ea typeface="Arial"/>
                <a:cs typeface="Arial"/>
                <a:sym typeface="Arial"/>
              </a:endParaRPr>
            </a:p>
          </p:txBody>
        </p:sp>
        <p:sp>
          <p:nvSpPr>
            <p:cNvPr id="811" name="Google Shape;811;p29"/>
            <p:cNvSpPr/>
            <p:nvPr/>
          </p:nvSpPr>
          <p:spPr>
            <a:xfrm>
              <a:off x="0" y="4241046"/>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9"/>
            <p:cNvSpPr/>
            <p:nvPr/>
          </p:nvSpPr>
          <p:spPr>
            <a:xfrm>
              <a:off x="171028" y="4368258"/>
              <a:ext cx="310960" cy="310960"/>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9"/>
            <p:cNvSpPr/>
            <p:nvPr/>
          </p:nvSpPr>
          <p:spPr>
            <a:xfrm>
              <a:off x="653017" y="4241046"/>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9"/>
            <p:cNvSpPr txBox="1"/>
            <p:nvPr/>
          </p:nvSpPr>
          <p:spPr>
            <a:xfrm>
              <a:off x="653017" y="4241046"/>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Social Media Analysis</a:t>
              </a:r>
              <a:endParaRPr sz="1600">
                <a:solidFill>
                  <a:schemeClr val="dk1"/>
                </a:solidFill>
                <a:latin typeface="Arial"/>
                <a:ea typeface="Arial"/>
                <a:cs typeface="Arial"/>
                <a:sym typeface="Arial"/>
              </a:endParaRPr>
            </a:p>
          </p:txBody>
        </p:sp>
        <p:sp>
          <p:nvSpPr>
            <p:cNvPr id="815" name="Google Shape;815;p29"/>
            <p:cNvSpPr/>
            <p:nvPr/>
          </p:nvSpPr>
          <p:spPr>
            <a:xfrm>
              <a:off x="3516918" y="4241046"/>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29"/>
            <p:cNvSpPr txBox="1"/>
            <p:nvPr/>
          </p:nvSpPr>
          <p:spPr>
            <a:xfrm>
              <a:off x="3516918" y="4241046"/>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monitors brand sentiment and audience engagement.</a:t>
              </a:r>
              <a:endParaRPr sz="1400">
                <a:solidFill>
                  <a:schemeClr val="dk1"/>
                </a:solidFill>
                <a:latin typeface="Arial"/>
                <a:ea typeface="Arial"/>
                <a:cs typeface="Arial"/>
                <a:sym typeface="Arial"/>
              </a:endParaRPr>
            </a:p>
          </p:txBody>
        </p:sp>
        <p:sp>
          <p:nvSpPr>
            <p:cNvPr id="817" name="Google Shape;817;p29"/>
            <p:cNvSpPr/>
            <p:nvPr/>
          </p:nvSpPr>
          <p:spPr>
            <a:xfrm>
              <a:off x="0" y="4947775"/>
              <a:ext cx="6364224" cy="5653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9"/>
            <p:cNvSpPr/>
            <p:nvPr/>
          </p:nvSpPr>
          <p:spPr>
            <a:xfrm>
              <a:off x="171028" y="5074986"/>
              <a:ext cx="310960" cy="310960"/>
            </a:xfrm>
            <a:prstGeom prst="rect">
              <a:avLst/>
            </a:prstGeom>
            <a:blipFill rotWithShape="1">
              <a:blip r:embed="rId10">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9"/>
            <p:cNvSpPr/>
            <p:nvPr/>
          </p:nvSpPr>
          <p:spPr>
            <a:xfrm>
              <a:off x="653017" y="4947775"/>
              <a:ext cx="2863900"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9"/>
            <p:cNvSpPr txBox="1"/>
            <p:nvPr/>
          </p:nvSpPr>
          <p:spPr>
            <a:xfrm>
              <a:off x="653017" y="4947775"/>
              <a:ext cx="2863900"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Email Marketing</a:t>
              </a:r>
              <a:endParaRPr sz="1600">
                <a:solidFill>
                  <a:schemeClr val="dk1"/>
                </a:solidFill>
                <a:latin typeface="Arial"/>
                <a:ea typeface="Arial"/>
                <a:cs typeface="Arial"/>
                <a:sym typeface="Arial"/>
              </a:endParaRPr>
            </a:p>
          </p:txBody>
        </p:sp>
        <p:sp>
          <p:nvSpPr>
            <p:cNvPr id="821" name="Google Shape;821;p29"/>
            <p:cNvSpPr/>
            <p:nvPr/>
          </p:nvSpPr>
          <p:spPr>
            <a:xfrm>
              <a:off x="3516918" y="4947775"/>
              <a:ext cx="2847305" cy="5653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9"/>
            <p:cNvSpPr txBox="1"/>
            <p:nvPr/>
          </p:nvSpPr>
          <p:spPr>
            <a:xfrm>
              <a:off x="3516918" y="4947775"/>
              <a:ext cx="2847305" cy="565383"/>
            </a:xfrm>
            <a:prstGeom prst="rect">
              <a:avLst/>
            </a:prstGeom>
            <a:noFill/>
            <a:ln>
              <a:noFill/>
            </a:ln>
          </p:spPr>
          <p:txBody>
            <a:bodyPr spcFirstLastPara="1" wrap="square" lIns="59825" tIns="59825" rIns="59825" bIns="598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optimizes subject lines, send times, and segmentation.</a:t>
              </a:r>
              <a:endParaRPr sz="1400">
                <a:solidFill>
                  <a:schemeClr val="dk1"/>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26"/>
        <p:cNvGrpSpPr/>
        <p:nvPr/>
      </p:nvGrpSpPr>
      <p:grpSpPr>
        <a:xfrm>
          <a:off x="0" y="0"/>
          <a:ext cx="0" cy="0"/>
          <a:chOff x="0" y="0"/>
          <a:chExt cx="0" cy="0"/>
        </a:xfrm>
      </p:grpSpPr>
      <p:sp>
        <p:nvSpPr>
          <p:cNvPr id="827" name="Google Shape;827;p30"/>
          <p:cNvSpPr/>
          <p:nvPr/>
        </p:nvSpPr>
        <p:spPr>
          <a:xfrm>
            <a:off x="0" y="0"/>
            <a:ext cx="12192000" cy="6858000"/>
          </a:xfrm>
          <a:prstGeom prst="rect">
            <a:avLst/>
          </a:prstGeom>
          <a:solidFill>
            <a:srgbClr val="BEF2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828" name="Google Shape;828;p30"/>
          <p:cNvGrpSpPr/>
          <p:nvPr/>
        </p:nvGrpSpPr>
        <p:grpSpPr>
          <a:xfrm>
            <a:off x="7467600" y="0"/>
            <a:ext cx="4724400" cy="6858000"/>
            <a:chOff x="7467600" y="0"/>
            <a:chExt cx="4724400" cy="6858000"/>
          </a:xfrm>
        </p:grpSpPr>
        <p:sp>
          <p:nvSpPr>
            <p:cNvPr id="829" name="Google Shape;829;p30"/>
            <p:cNvSpPr/>
            <p:nvPr/>
          </p:nvSpPr>
          <p:spPr>
            <a:xfrm>
              <a:off x="7467600" y="0"/>
              <a:ext cx="4724400" cy="6858000"/>
            </a:xfrm>
            <a:prstGeom prst="rect">
              <a:avLst/>
            </a:prstGeom>
            <a:solidFill>
              <a:schemeClr val="accent5">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p30"/>
            <p:cNvSpPr/>
            <p:nvPr/>
          </p:nvSpPr>
          <p:spPr>
            <a:xfrm>
              <a:off x="7467600" y="0"/>
              <a:ext cx="4724400" cy="6858000"/>
            </a:xfrm>
            <a:prstGeom prst="rect">
              <a:avLst/>
            </a:prstGeom>
            <a:solidFill>
              <a:srgbClr val="D8F2CF">
                <a:alpha val="4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831" name="Google Shape;831;p30"/>
          <p:cNvSpPr/>
          <p:nvPr/>
        </p:nvSpPr>
        <p:spPr>
          <a:xfrm>
            <a:off x="7467600" y="1"/>
            <a:ext cx="4724400" cy="6857999"/>
          </a:xfrm>
          <a:custGeom>
            <a:avLst/>
            <a:gdLst/>
            <a:ahLst/>
            <a:cxnLst/>
            <a:rect l="l" t="t" r="r" b="b"/>
            <a:pathLst>
              <a:path w="4724400" h="6857999" extrusionOk="0">
                <a:moveTo>
                  <a:pt x="0" y="6805948"/>
                </a:moveTo>
                <a:lnTo>
                  <a:pt x="15600" y="6813099"/>
                </a:lnTo>
                <a:cubicBezTo>
                  <a:pt x="48179" y="6826367"/>
                  <a:pt x="82589" y="6838841"/>
                  <a:pt x="117632" y="6850060"/>
                </a:cubicBezTo>
                <a:lnTo>
                  <a:pt x="146175" y="6857998"/>
                </a:lnTo>
                <a:lnTo>
                  <a:pt x="54597" y="6857998"/>
                </a:lnTo>
                <a:lnTo>
                  <a:pt x="0" y="6831490"/>
                </a:lnTo>
                <a:close/>
                <a:moveTo>
                  <a:pt x="0" y="6736157"/>
                </a:moveTo>
                <a:lnTo>
                  <a:pt x="114811" y="6784122"/>
                </a:lnTo>
                <a:lnTo>
                  <a:pt x="138159" y="6793465"/>
                </a:lnTo>
                <a:cubicBezTo>
                  <a:pt x="184756" y="6812785"/>
                  <a:pt x="226800" y="6829482"/>
                  <a:pt x="270310" y="6840638"/>
                </a:cubicBezTo>
                <a:lnTo>
                  <a:pt x="358932" y="6857999"/>
                </a:lnTo>
                <a:lnTo>
                  <a:pt x="228496" y="6857999"/>
                </a:lnTo>
                <a:lnTo>
                  <a:pt x="126481" y="6821149"/>
                </a:lnTo>
                <a:lnTo>
                  <a:pt x="103134" y="6811799"/>
                </a:lnTo>
                <a:lnTo>
                  <a:pt x="0" y="6767913"/>
                </a:lnTo>
                <a:close/>
                <a:moveTo>
                  <a:pt x="2460543" y="6515312"/>
                </a:moveTo>
                <a:lnTo>
                  <a:pt x="2286201" y="6525103"/>
                </a:lnTo>
                <a:cubicBezTo>
                  <a:pt x="2228694" y="6528458"/>
                  <a:pt x="2169369" y="6531530"/>
                  <a:pt x="2110427" y="6532104"/>
                </a:cubicBezTo>
                <a:cubicBezTo>
                  <a:pt x="2058946" y="6532538"/>
                  <a:pt x="2007242" y="6530381"/>
                  <a:pt x="1956742" y="6528403"/>
                </a:cubicBezTo>
                <a:cubicBezTo>
                  <a:pt x="1815643" y="6523421"/>
                  <a:pt x="1669606" y="6518329"/>
                  <a:pt x="1534307" y="6560369"/>
                </a:cubicBezTo>
                <a:cubicBezTo>
                  <a:pt x="1506964" y="6568983"/>
                  <a:pt x="1480544" y="6579668"/>
                  <a:pt x="1454538" y="6591702"/>
                </a:cubicBezTo>
                <a:cubicBezTo>
                  <a:pt x="1508795" y="6597451"/>
                  <a:pt x="1564033" y="6600803"/>
                  <a:pt x="1619950" y="6599765"/>
                </a:cubicBezTo>
                <a:cubicBezTo>
                  <a:pt x="1760796" y="6598297"/>
                  <a:pt x="1904212" y="6576077"/>
                  <a:pt x="2044875" y="6563693"/>
                </a:cubicBezTo>
                <a:cubicBezTo>
                  <a:pt x="2158459" y="6554204"/>
                  <a:pt x="2431086" y="6537707"/>
                  <a:pt x="2460543" y="6515312"/>
                </a:cubicBezTo>
                <a:close/>
                <a:moveTo>
                  <a:pt x="1883620" y="6459370"/>
                </a:moveTo>
                <a:cubicBezTo>
                  <a:pt x="1757800" y="6463303"/>
                  <a:pt x="1630678" y="6481291"/>
                  <a:pt x="1532156" y="6529929"/>
                </a:cubicBezTo>
                <a:cubicBezTo>
                  <a:pt x="1670483" y="6488352"/>
                  <a:pt x="1816519" y="6493450"/>
                  <a:pt x="1958230" y="6498517"/>
                </a:cubicBezTo>
                <a:cubicBezTo>
                  <a:pt x="2008720" y="6500495"/>
                  <a:pt x="2060523" y="6502029"/>
                  <a:pt x="2110707" y="6502035"/>
                </a:cubicBezTo>
                <a:cubicBezTo>
                  <a:pt x="2168940" y="6501999"/>
                  <a:pt x="2227759" y="6498204"/>
                  <a:pt x="2285171" y="6495471"/>
                </a:cubicBezTo>
                <a:lnTo>
                  <a:pt x="2385179" y="6489665"/>
                </a:lnTo>
                <a:cubicBezTo>
                  <a:pt x="2348158" y="6484629"/>
                  <a:pt x="2296424" y="6478620"/>
                  <a:pt x="2227262" y="6473140"/>
                </a:cubicBezTo>
                <a:cubicBezTo>
                  <a:pt x="2133953" y="6465560"/>
                  <a:pt x="2009438" y="6455438"/>
                  <a:pt x="1883620" y="6459370"/>
                </a:cubicBezTo>
                <a:close/>
                <a:moveTo>
                  <a:pt x="1611255" y="5884754"/>
                </a:moveTo>
                <a:cubicBezTo>
                  <a:pt x="1475034" y="6070158"/>
                  <a:pt x="1320332" y="6315508"/>
                  <a:pt x="1357588" y="6496752"/>
                </a:cubicBezTo>
                <a:cubicBezTo>
                  <a:pt x="1404118" y="6270055"/>
                  <a:pt x="1507631" y="6063621"/>
                  <a:pt x="1611255" y="5884754"/>
                </a:cubicBezTo>
                <a:close/>
                <a:moveTo>
                  <a:pt x="1646205" y="5883072"/>
                </a:moveTo>
                <a:cubicBezTo>
                  <a:pt x="1542170" y="6060592"/>
                  <a:pt x="1436044" y="6267900"/>
                  <a:pt x="1387600" y="6494950"/>
                </a:cubicBezTo>
                <a:cubicBezTo>
                  <a:pt x="1504199" y="6300136"/>
                  <a:pt x="1601945" y="6103069"/>
                  <a:pt x="1646205" y="5883072"/>
                </a:cubicBezTo>
                <a:close/>
                <a:moveTo>
                  <a:pt x="0" y="5845526"/>
                </a:moveTo>
                <a:lnTo>
                  <a:pt x="23370" y="5869422"/>
                </a:lnTo>
                <a:cubicBezTo>
                  <a:pt x="131924" y="5985784"/>
                  <a:pt x="231640" y="6107018"/>
                  <a:pt x="321428" y="6212316"/>
                </a:cubicBezTo>
                <a:cubicBezTo>
                  <a:pt x="452682" y="6366340"/>
                  <a:pt x="578409" y="6507973"/>
                  <a:pt x="626000" y="6710671"/>
                </a:cubicBezTo>
                <a:cubicBezTo>
                  <a:pt x="638757" y="6764837"/>
                  <a:pt x="647619" y="6810078"/>
                  <a:pt x="661825" y="6854298"/>
                </a:cubicBezTo>
                <a:lnTo>
                  <a:pt x="663298" y="6857998"/>
                </a:lnTo>
                <a:lnTo>
                  <a:pt x="431765" y="6857998"/>
                </a:lnTo>
                <a:lnTo>
                  <a:pt x="293576" y="6816656"/>
                </a:lnTo>
                <a:cubicBezTo>
                  <a:pt x="240014" y="6798833"/>
                  <a:pt x="187020" y="6779815"/>
                  <a:pt x="134480" y="6760867"/>
                </a:cubicBezTo>
                <a:lnTo>
                  <a:pt x="0" y="6714215"/>
                </a:lnTo>
                <a:lnTo>
                  <a:pt x="0" y="6683873"/>
                </a:lnTo>
                <a:lnTo>
                  <a:pt x="143737" y="6732821"/>
                </a:lnTo>
                <a:cubicBezTo>
                  <a:pt x="255889" y="6773078"/>
                  <a:pt x="371066" y="6813801"/>
                  <a:pt x="488162" y="6842006"/>
                </a:cubicBezTo>
                <a:cubicBezTo>
                  <a:pt x="358293" y="6763794"/>
                  <a:pt x="187560" y="6705586"/>
                  <a:pt x="44855" y="6674734"/>
                </a:cubicBezTo>
                <a:lnTo>
                  <a:pt x="0" y="6668575"/>
                </a:lnTo>
                <a:lnTo>
                  <a:pt x="0" y="6628217"/>
                </a:lnTo>
                <a:lnTo>
                  <a:pt x="144942" y="6657611"/>
                </a:lnTo>
                <a:cubicBezTo>
                  <a:pt x="201726" y="6672044"/>
                  <a:pt x="257694" y="6689595"/>
                  <a:pt x="312446" y="6711283"/>
                </a:cubicBezTo>
                <a:cubicBezTo>
                  <a:pt x="343371" y="6723712"/>
                  <a:pt x="523593" y="6837187"/>
                  <a:pt x="477357" y="6799347"/>
                </a:cubicBezTo>
                <a:cubicBezTo>
                  <a:pt x="362978" y="6704934"/>
                  <a:pt x="237571" y="6617800"/>
                  <a:pt x="134228" y="6503934"/>
                </a:cubicBezTo>
                <a:lnTo>
                  <a:pt x="0" y="6334256"/>
                </a:lnTo>
                <a:lnTo>
                  <a:pt x="0" y="6221686"/>
                </a:lnTo>
                <a:lnTo>
                  <a:pt x="113296" y="6402069"/>
                </a:lnTo>
                <a:cubicBezTo>
                  <a:pt x="227569" y="6561808"/>
                  <a:pt x="381603" y="6676399"/>
                  <a:pt x="523262" y="6807025"/>
                </a:cubicBezTo>
                <a:cubicBezTo>
                  <a:pt x="495103" y="6748256"/>
                  <a:pt x="449573" y="6697712"/>
                  <a:pt x="404364" y="6649139"/>
                </a:cubicBezTo>
                <a:lnTo>
                  <a:pt x="392074" y="6636358"/>
                </a:lnTo>
                <a:cubicBezTo>
                  <a:pt x="280930" y="6516822"/>
                  <a:pt x="177660" y="6386311"/>
                  <a:pt x="77450" y="6260110"/>
                </a:cubicBezTo>
                <a:lnTo>
                  <a:pt x="0" y="6163634"/>
                </a:lnTo>
                <a:lnTo>
                  <a:pt x="0" y="6117703"/>
                </a:lnTo>
                <a:lnTo>
                  <a:pt x="99669" y="6240461"/>
                </a:lnTo>
                <a:cubicBezTo>
                  <a:pt x="199276" y="6366562"/>
                  <a:pt x="302033" y="6496348"/>
                  <a:pt x="412670" y="6615176"/>
                </a:cubicBezTo>
                <a:lnTo>
                  <a:pt x="424960" y="6627949"/>
                </a:lnTo>
                <a:cubicBezTo>
                  <a:pt x="452087" y="6657095"/>
                  <a:pt x="479817" y="6686334"/>
                  <a:pt x="504043" y="6718236"/>
                </a:cubicBezTo>
                <a:cubicBezTo>
                  <a:pt x="434583" y="6569208"/>
                  <a:pt x="350187" y="6428779"/>
                  <a:pt x="251759" y="6299011"/>
                </a:cubicBezTo>
                <a:cubicBezTo>
                  <a:pt x="180915" y="6205508"/>
                  <a:pt x="102557" y="6117579"/>
                  <a:pt x="21191" y="6033111"/>
                </a:cubicBezTo>
                <a:lnTo>
                  <a:pt x="0" y="6012219"/>
                </a:lnTo>
                <a:lnTo>
                  <a:pt x="0" y="5971257"/>
                </a:lnTo>
                <a:lnTo>
                  <a:pt x="41571" y="6012292"/>
                </a:lnTo>
                <a:cubicBezTo>
                  <a:pt x="123333" y="6097220"/>
                  <a:pt x="202225" y="6185713"/>
                  <a:pt x="273883" y="6279980"/>
                </a:cubicBezTo>
                <a:cubicBezTo>
                  <a:pt x="380040" y="6419905"/>
                  <a:pt x="469472" y="6571994"/>
                  <a:pt x="541341" y="6733560"/>
                </a:cubicBezTo>
                <a:cubicBezTo>
                  <a:pt x="542355" y="6694639"/>
                  <a:pt x="542948" y="6654374"/>
                  <a:pt x="531634" y="6610993"/>
                </a:cubicBezTo>
                <a:cubicBezTo>
                  <a:pt x="490540" y="6454784"/>
                  <a:pt x="347902" y="6314397"/>
                  <a:pt x="247554" y="6197148"/>
                </a:cubicBezTo>
                <a:cubicBezTo>
                  <a:pt x="178265" y="6115731"/>
                  <a:pt x="107245" y="6035491"/>
                  <a:pt x="33651" y="5957901"/>
                </a:cubicBezTo>
                <a:lnTo>
                  <a:pt x="0" y="5925131"/>
                </a:lnTo>
                <a:close/>
                <a:moveTo>
                  <a:pt x="1656340" y="5825040"/>
                </a:moveTo>
                <a:cubicBezTo>
                  <a:pt x="1655542" y="5826205"/>
                  <a:pt x="1654747" y="5827360"/>
                  <a:pt x="1653246" y="5829053"/>
                </a:cubicBezTo>
                <a:lnTo>
                  <a:pt x="1655667" y="5829425"/>
                </a:lnTo>
                <a:close/>
                <a:moveTo>
                  <a:pt x="2630124" y="5591852"/>
                </a:moveTo>
                <a:cubicBezTo>
                  <a:pt x="2477082" y="5593954"/>
                  <a:pt x="2324114" y="5611746"/>
                  <a:pt x="2177648" y="5630119"/>
                </a:cubicBezTo>
                <a:cubicBezTo>
                  <a:pt x="2143127" y="5634568"/>
                  <a:pt x="2109856" y="5639754"/>
                  <a:pt x="2076258" y="5650510"/>
                </a:cubicBezTo>
                <a:cubicBezTo>
                  <a:pt x="2082463" y="5662642"/>
                  <a:pt x="2162157" y="5633895"/>
                  <a:pt x="2214048" y="5629828"/>
                </a:cubicBezTo>
                <a:cubicBezTo>
                  <a:pt x="2501741" y="5609845"/>
                  <a:pt x="2805089" y="5655720"/>
                  <a:pt x="3090246" y="5601337"/>
                </a:cubicBezTo>
                <a:cubicBezTo>
                  <a:pt x="3006333" y="5611321"/>
                  <a:pt x="2919037" y="5605065"/>
                  <a:pt x="2834104" y="5598847"/>
                </a:cubicBezTo>
                <a:cubicBezTo>
                  <a:pt x="2816936" y="5597562"/>
                  <a:pt x="2799771" y="5596280"/>
                  <a:pt x="2782953" y="5595539"/>
                </a:cubicBezTo>
                <a:cubicBezTo>
                  <a:pt x="2732159" y="5592194"/>
                  <a:pt x="2681137" y="5591152"/>
                  <a:pt x="2630124" y="5591852"/>
                </a:cubicBezTo>
                <a:close/>
                <a:moveTo>
                  <a:pt x="2751064" y="5525300"/>
                </a:moveTo>
                <a:cubicBezTo>
                  <a:pt x="2704155" y="5524070"/>
                  <a:pt x="2658863" y="5525064"/>
                  <a:pt x="2618554" y="5525937"/>
                </a:cubicBezTo>
                <a:cubicBezTo>
                  <a:pt x="2508038" y="5528402"/>
                  <a:pt x="2408741" y="5531370"/>
                  <a:pt x="2311014" y="5550189"/>
                </a:cubicBezTo>
                <a:cubicBezTo>
                  <a:pt x="2246417" y="5562376"/>
                  <a:pt x="2186894" y="5581286"/>
                  <a:pt x="2134103" y="5605852"/>
                </a:cubicBezTo>
                <a:cubicBezTo>
                  <a:pt x="2147385" y="5603489"/>
                  <a:pt x="2160456" y="5602024"/>
                  <a:pt x="2174084" y="5600203"/>
                </a:cubicBezTo>
                <a:cubicBezTo>
                  <a:pt x="2370475" y="5575001"/>
                  <a:pt x="2579125" y="5551921"/>
                  <a:pt x="2785199" y="5564971"/>
                </a:cubicBezTo>
                <a:lnTo>
                  <a:pt x="2836697" y="5568822"/>
                </a:lnTo>
                <a:cubicBezTo>
                  <a:pt x="2913331" y="5574228"/>
                  <a:pt x="2991761" y="5580014"/>
                  <a:pt x="3066345" y="5573703"/>
                </a:cubicBezTo>
                <a:cubicBezTo>
                  <a:pt x="3036778" y="5568851"/>
                  <a:pt x="3007621" y="5562210"/>
                  <a:pt x="2978461" y="5555562"/>
                </a:cubicBezTo>
                <a:cubicBezTo>
                  <a:pt x="2950203" y="5549116"/>
                  <a:pt x="2921945" y="5542665"/>
                  <a:pt x="2893277" y="5538004"/>
                </a:cubicBezTo>
                <a:cubicBezTo>
                  <a:pt x="2846501" y="5529982"/>
                  <a:pt x="2797974" y="5526529"/>
                  <a:pt x="2751064" y="5525300"/>
                </a:cubicBezTo>
                <a:close/>
                <a:moveTo>
                  <a:pt x="2636807" y="5458317"/>
                </a:moveTo>
                <a:cubicBezTo>
                  <a:pt x="2511188" y="5456650"/>
                  <a:pt x="2361021" y="5479881"/>
                  <a:pt x="2236775" y="5536349"/>
                </a:cubicBezTo>
                <a:cubicBezTo>
                  <a:pt x="2259387" y="5530319"/>
                  <a:pt x="2281995" y="5524291"/>
                  <a:pt x="2306204" y="5519543"/>
                </a:cubicBezTo>
                <a:cubicBezTo>
                  <a:pt x="2406280" y="5500749"/>
                  <a:pt x="2506685" y="5497081"/>
                  <a:pt x="2619005" y="5494992"/>
                </a:cubicBezTo>
                <a:cubicBezTo>
                  <a:pt x="2701072" y="5493085"/>
                  <a:pt x="2803428" y="5491236"/>
                  <a:pt x="2899676" y="5507848"/>
                </a:cubicBezTo>
                <a:cubicBezTo>
                  <a:pt x="2928691" y="5513052"/>
                  <a:pt x="2957502" y="5519151"/>
                  <a:pt x="2986662" y="5525798"/>
                </a:cubicBezTo>
                <a:cubicBezTo>
                  <a:pt x="3025723" y="5534530"/>
                  <a:pt x="3063542" y="5542536"/>
                  <a:pt x="3101623" y="5547311"/>
                </a:cubicBezTo>
                <a:cubicBezTo>
                  <a:pt x="2954636" y="5490328"/>
                  <a:pt x="2792455" y="5460700"/>
                  <a:pt x="2636807" y="5458317"/>
                </a:cubicBezTo>
                <a:close/>
                <a:moveTo>
                  <a:pt x="0" y="5142496"/>
                </a:moveTo>
                <a:lnTo>
                  <a:pt x="127996" y="5201004"/>
                </a:lnTo>
                <a:cubicBezTo>
                  <a:pt x="360812" y="5325151"/>
                  <a:pt x="547980" y="5518563"/>
                  <a:pt x="661087" y="5790959"/>
                </a:cubicBezTo>
                <a:cubicBezTo>
                  <a:pt x="808965" y="5905246"/>
                  <a:pt x="932653" y="6044012"/>
                  <a:pt x="1029402" y="6204913"/>
                </a:cubicBezTo>
                <a:cubicBezTo>
                  <a:pt x="1035975" y="6141856"/>
                  <a:pt x="1034897" y="6159666"/>
                  <a:pt x="1046692" y="6015372"/>
                </a:cubicBezTo>
                <a:cubicBezTo>
                  <a:pt x="1068452" y="5749157"/>
                  <a:pt x="1080160" y="5533819"/>
                  <a:pt x="1024238" y="5336275"/>
                </a:cubicBezTo>
                <a:cubicBezTo>
                  <a:pt x="1039478" y="5267180"/>
                  <a:pt x="1107861" y="5351481"/>
                  <a:pt x="1138131" y="5600804"/>
                </a:cubicBezTo>
                <a:cubicBezTo>
                  <a:pt x="1140750" y="5745349"/>
                  <a:pt x="1138236" y="5891029"/>
                  <a:pt x="1127280" y="6039262"/>
                </a:cubicBezTo>
                <a:cubicBezTo>
                  <a:pt x="1108357" y="6291971"/>
                  <a:pt x="1074713" y="6543716"/>
                  <a:pt x="1026642" y="6792600"/>
                </a:cubicBezTo>
                <a:cubicBezTo>
                  <a:pt x="1130130" y="6727745"/>
                  <a:pt x="1224262" y="6639036"/>
                  <a:pt x="1327075" y="6590735"/>
                </a:cubicBezTo>
                <a:cubicBezTo>
                  <a:pt x="1328762" y="6587786"/>
                  <a:pt x="1331155" y="6584312"/>
                  <a:pt x="1332848" y="6581371"/>
                </a:cubicBezTo>
                <a:cubicBezTo>
                  <a:pt x="1327684" y="6578656"/>
                  <a:pt x="1322621" y="6575317"/>
                  <a:pt x="1320586" y="6572441"/>
                </a:cubicBezTo>
                <a:cubicBezTo>
                  <a:pt x="1127046" y="6311498"/>
                  <a:pt x="1526112" y="5858248"/>
                  <a:pt x="1669632" y="5665639"/>
                </a:cubicBezTo>
                <a:cubicBezTo>
                  <a:pt x="1682895" y="5647816"/>
                  <a:pt x="1749910" y="5675384"/>
                  <a:pt x="1749165" y="5696416"/>
                </a:cubicBezTo>
                <a:cubicBezTo>
                  <a:pt x="1740476" y="5983368"/>
                  <a:pt x="1637864" y="6228377"/>
                  <a:pt x="1502249" y="6466405"/>
                </a:cubicBezTo>
                <a:cubicBezTo>
                  <a:pt x="1725190" y="6382070"/>
                  <a:pt x="2047033" y="6424367"/>
                  <a:pt x="2238637" y="6419148"/>
                </a:cubicBezTo>
                <a:cubicBezTo>
                  <a:pt x="2408385" y="6415062"/>
                  <a:pt x="2531389" y="6424957"/>
                  <a:pt x="2642775" y="6563116"/>
                </a:cubicBezTo>
                <a:cubicBezTo>
                  <a:pt x="2652137" y="6574800"/>
                  <a:pt x="2636747" y="6578204"/>
                  <a:pt x="2628681" y="6578254"/>
                </a:cubicBezTo>
                <a:cubicBezTo>
                  <a:pt x="2285142" y="6584519"/>
                  <a:pt x="1943610" y="6642343"/>
                  <a:pt x="1600072" y="6648608"/>
                </a:cubicBezTo>
                <a:cubicBezTo>
                  <a:pt x="1541036" y="6649807"/>
                  <a:pt x="1450884" y="6627657"/>
                  <a:pt x="1391841" y="6641028"/>
                </a:cubicBezTo>
                <a:cubicBezTo>
                  <a:pt x="1391239" y="6640935"/>
                  <a:pt x="1390538" y="6641468"/>
                  <a:pt x="1389928" y="6641375"/>
                </a:cubicBezTo>
                <a:cubicBezTo>
                  <a:pt x="1386712" y="6642158"/>
                  <a:pt x="1383592" y="6642319"/>
                  <a:pt x="1380979" y="6643204"/>
                </a:cubicBezTo>
                <a:cubicBezTo>
                  <a:pt x="1295418" y="6670925"/>
                  <a:pt x="1201880" y="6759768"/>
                  <a:pt x="1108685" y="6824788"/>
                </a:cubicBezTo>
                <a:lnTo>
                  <a:pt x="1051559" y="6857998"/>
                </a:lnTo>
                <a:lnTo>
                  <a:pt x="925940" y="6857998"/>
                </a:lnTo>
                <a:lnTo>
                  <a:pt x="949746" y="6745652"/>
                </a:lnTo>
                <a:cubicBezTo>
                  <a:pt x="977694" y="6600749"/>
                  <a:pt x="1000382" y="6454800"/>
                  <a:pt x="1017902" y="6308216"/>
                </a:cubicBezTo>
                <a:cubicBezTo>
                  <a:pt x="1015769" y="6305964"/>
                  <a:pt x="1013539" y="6304343"/>
                  <a:pt x="1012614" y="6302278"/>
                </a:cubicBezTo>
                <a:cubicBezTo>
                  <a:pt x="921548" y="6120471"/>
                  <a:pt x="798037" y="5964433"/>
                  <a:pt x="644615" y="5837768"/>
                </a:cubicBezTo>
                <a:cubicBezTo>
                  <a:pt x="639869" y="5836403"/>
                  <a:pt x="633910" y="5834843"/>
                  <a:pt x="627546" y="5831943"/>
                </a:cubicBezTo>
                <a:cubicBezTo>
                  <a:pt x="440473" y="5751050"/>
                  <a:pt x="281887" y="5620709"/>
                  <a:pt x="128963" y="5481226"/>
                </a:cubicBezTo>
                <a:lnTo>
                  <a:pt x="0" y="5361850"/>
                </a:lnTo>
                <a:lnTo>
                  <a:pt x="0" y="5297634"/>
                </a:lnTo>
                <a:lnTo>
                  <a:pt x="40861" y="5333413"/>
                </a:lnTo>
                <a:cubicBezTo>
                  <a:pt x="193141" y="5476012"/>
                  <a:pt x="339724" y="5631340"/>
                  <a:pt x="514278" y="5738345"/>
                </a:cubicBezTo>
                <a:cubicBezTo>
                  <a:pt x="449538" y="5691903"/>
                  <a:pt x="392547" y="5631267"/>
                  <a:pt x="337180" y="5572174"/>
                </a:cubicBezTo>
                <a:cubicBezTo>
                  <a:pt x="326006" y="5560210"/>
                  <a:pt x="314833" y="5548247"/>
                  <a:pt x="303564" y="5536908"/>
                </a:cubicBezTo>
                <a:cubicBezTo>
                  <a:pt x="236878" y="5466783"/>
                  <a:pt x="163817" y="5402889"/>
                  <a:pt x="88496" y="5343132"/>
                </a:cubicBezTo>
                <a:lnTo>
                  <a:pt x="0" y="5277736"/>
                </a:lnTo>
                <a:lnTo>
                  <a:pt x="0" y="5241225"/>
                </a:lnTo>
                <a:lnTo>
                  <a:pt x="106479" y="5319780"/>
                </a:lnTo>
                <a:cubicBezTo>
                  <a:pt x="182485" y="5380123"/>
                  <a:pt x="256358" y="5444782"/>
                  <a:pt x="324159" y="5515717"/>
                </a:cubicBezTo>
                <a:lnTo>
                  <a:pt x="357680" y="5551608"/>
                </a:lnTo>
                <a:cubicBezTo>
                  <a:pt x="407763" y="5604773"/>
                  <a:pt x="458863" y="5659374"/>
                  <a:pt x="514810" y="5702551"/>
                </a:cubicBezTo>
                <a:cubicBezTo>
                  <a:pt x="497209" y="5679989"/>
                  <a:pt x="481008" y="5656366"/>
                  <a:pt x="464808" y="5632736"/>
                </a:cubicBezTo>
                <a:cubicBezTo>
                  <a:pt x="449112" y="5609836"/>
                  <a:pt x="433420" y="5586930"/>
                  <a:pt x="416327" y="5565087"/>
                </a:cubicBezTo>
                <a:cubicBezTo>
                  <a:pt x="361064" y="5493188"/>
                  <a:pt x="289546" y="5430331"/>
                  <a:pt x="232232" y="5379904"/>
                </a:cubicBezTo>
                <a:cubicBezTo>
                  <a:pt x="153617" y="5310828"/>
                  <a:pt x="82516" y="5249322"/>
                  <a:pt x="2640" y="5200559"/>
                </a:cubicBezTo>
                <a:lnTo>
                  <a:pt x="0" y="5199146"/>
                </a:lnTo>
                <a:lnTo>
                  <a:pt x="0" y="5164774"/>
                </a:lnTo>
                <a:lnTo>
                  <a:pt x="18363" y="5174783"/>
                </a:lnTo>
                <a:cubicBezTo>
                  <a:pt x="99860" y="5225071"/>
                  <a:pt x="172172" y="5286770"/>
                  <a:pt x="251810" y="5357281"/>
                </a:cubicBezTo>
                <a:cubicBezTo>
                  <a:pt x="310235" y="5408518"/>
                  <a:pt x="382775" y="5472816"/>
                  <a:pt x="439563" y="5546863"/>
                </a:cubicBezTo>
                <a:cubicBezTo>
                  <a:pt x="456560" y="5569331"/>
                  <a:pt x="472857" y="5592330"/>
                  <a:pt x="489056" y="5615961"/>
                </a:cubicBezTo>
                <a:cubicBezTo>
                  <a:pt x="510864" y="5647485"/>
                  <a:pt x="532257" y="5677676"/>
                  <a:pt x="555845" y="5705642"/>
                </a:cubicBezTo>
                <a:cubicBezTo>
                  <a:pt x="488800" y="5569150"/>
                  <a:pt x="394131" y="5443166"/>
                  <a:pt x="287056" y="5341546"/>
                </a:cubicBezTo>
                <a:cubicBezTo>
                  <a:pt x="222125" y="5280178"/>
                  <a:pt x="138844" y="5220320"/>
                  <a:pt x="49874" y="5178238"/>
                </a:cubicBezTo>
                <a:lnTo>
                  <a:pt x="0" y="5158623"/>
                </a:lnTo>
                <a:close/>
                <a:moveTo>
                  <a:pt x="4076694" y="4944364"/>
                </a:moveTo>
                <a:cubicBezTo>
                  <a:pt x="4092586" y="5180994"/>
                  <a:pt x="4134286" y="5476223"/>
                  <a:pt x="4287610" y="5588157"/>
                </a:cubicBezTo>
                <a:cubicBezTo>
                  <a:pt x="4171130" y="5382912"/>
                  <a:pt x="4114497" y="5153179"/>
                  <a:pt x="4076694" y="4944364"/>
                </a:cubicBezTo>
                <a:close/>
                <a:moveTo>
                  <a:pt x="4103808" y="4918599"/>
                </a:moveTo>
                <a:cubicBezTo>
                  <a:pt x="4140363" y="5126676"/>
                  <a:pt x="4195478" y="5358905"/>
                  <a:pt x="4310650" y="5565760"/>
                </a:cubicBezTo>
                <a:cubicBezTo>
                  <a:pt x="4272496" y="5335710"/>
                  <a:pt x="4217566" y="5117152"/>
                  <a:pt x="4103808" y="4918599"/>
                </a:cubicBezTo>
                <a:close/>
                <a:moveTo>
                  <a:pt x="4072554" y="4867303"/>
                </a:moveTo>
                <a:cubicBezTo>
                  <a:pt x="4072702" y="4868748"/>
                  <a:pt x="4072843" y="4870186"/>
                  <a:pt x="4072780" y="4872526"/>
                </a:cubicBezTo>
                <a:lnTo>
                  <a:pt x="4074990" y="4871112"/>
                </a:lnTo>
                <a:close/>
                <a:moveTo>
                  <a:pt x="3100062" y="4866948"/>
                </a:moveTo>
                <a:cubicBezTo>
                  <a:pt x="3054598" y="4867672"/>
                  <a:pt x="3008663" y="4872522"/>
                  <a:pt x="2963625" y="4877568"/>
                </a:cubicBezTo>
                <a:cubicBezTo>
                  <a:pt x="2913679" y="4883457"/>
                  <a:pt x="2861381" y="4889314"/>
                  <a:pt x="2809956" y="4889247"/>
                </a:cubicBezTo>
                <a:cubicBezTo>
                  <a:pt x="2768849" y="4889475"/>
                  <a:pt x="2727662" y="4885932"/>
                  <a:pt x="2688275" y="4882769"/>
                </a:cubicBezTo>
                <a:cubicBezTo>
                  <a:pt x="2660443" y="4880639"/>
                  <a:pt x="2632820" y="4877611"/>
                  <a:pt x="2605133" y="4876924"/>
                </a:cubicBezTo>
                <a:cubicBezTo>
                  <a:pt x="2542005" y="4874377"/>
                  <a:pt x="2477453" y="4878112"/>
                  <a:pt x="2414900" y="4881330"/>
                </a:cubicBezTo>
                <a:cubicBezTo>
                  <a:pt x="2350347" y="4885065"/>
                  <a:pt x="2283431" y="4888772"/>
                  <a:pt x="2217605" y="4885650"/>
                </a:cubicBezTo>
                <a:lnTo>
                  <a:pt x="2199332" y="4885075"/>
                </a:lnTo>
                <a:cubicBezTo>
                  <a:pt x="2179813" y="4883768"/>
                  <a:pt x="2160089" y="4883349"/>
                  <a:pt x="2141062" y="4884027"/>
                </a:cubicBezTo>
                <a:cubicBezTo>
                  <a:pt x="2279340" y="4906717"/>
                  <a:pt x="2418587" y="4927258"/>
                  <a:pt x="2558630" y="4938088"/>
                </a:cubicBezTo>
                <a:cubicBezTo>
                  <a:pt x="2750317" y="4954217"/>
                  <a:pt x="2921561" y="4921336"/>
                  <a:pt x="3100062" y="4866948"/>
                </a:cubicBezTo>
                <a:close/>
                <a:moveTo>
                  <a:pt x="2753415" y="4783657"/>
                </a:moveTo>
                <a:cubicBezTo>
                  <a:pt x="2715812" y="4782731"/>
                  <a:pt x="2677745" y="4783278"/>
                  <a:pt x="2639521" y="4785091"/>
                </a:cubicBezTo>
                <a:cubicBezTo>
                  <a:pt x="2486624" y="4792347"/>
                  <a:pt x="2331226" y="4819883"/>
                  <a:pt x="2193068" y="4854595"/>
                </a:cubicBezTo>
                <a:cubicBezTo>
                  <a:pt x="2196324" y="4854814"/>
                  <a:pt x="2198676" y="4854838"/>
                  <a:pt x="2201931" y="4855057"/>
                </a:cubicBezTo>
                <a:lnTo>
                  <a:pt x="2219654" y="4855986"/>
                </a:lnTo>
                <a:cubicBezTo>
                  <a:pt x="2283679" y="4858722"/>
                  <a:pt x="2350037" y="4855370"/>
                  <a:pt x="2413690" y="4851445"/>
                </a:cubicBezTo>
                <a:cubicBezTo>
                  <a:pt x="2476795" y="4847874"/>
                  <a:pt x="2542257" y="4844334"/>
                  <a:pt x="2606832" y="4846715"/>
                </a:cubicBezTo>
                <a:cubicBezTo>
                  <a:pt x="2634866" y="4847944"/>
                  <a:pt x="2663590" y="4850269"/>
                  <a:pt x="2691769" y="4852935"/>
                </a:cubicBezTo>
                <a:cubicBezTo>
                  <a:pt x="2730608" y="4856456"/>
                  <a:pt x="2771445" y="4859459"/>
                  <a:pt x="2811106" y="4859393"/>
                </a:cubicBezTo>
                <a:cubicBezTo>
                  <a:pt x="2860724" y="4859079"/>
                  <a:pt x="2912124" y="4853023"/>
                  <a:pt x="2961520" y="4847493"/>
                </a:cubicBezTo>
                <a:cubicBezTo>
                  <a:pt x="2997835" y="4843425"/>
                  <a:pt x="3034156" y="4839354"/>
                  <a:pt x="3070965" y="4837270"/>
                </a:cubicBezTo>
                <a:cubicBezTo>
                  <a:pt x="2974850" y="4802463"/>
                  <a:pt x="2866224" y="4786435"/>
                  <a:pt x="2753415" y="4783657"/>
                </a:cubicBezTo>
                <a:close/>
                <a:moveTo>
                  <a:pt x="2389654" y="4275904"/>
                </a:moveTo>
                <a:cubicBezTo>
                  <a:pt x="2058380" y="4300770"/>
                  <a:pt x="1773879" y="4364703"/>
                  <a:pt x="1522266" y="4472742"/>
                </a:cubicBezTo>
                <a:lnTo>
                  <a:pt x="1464014" y="4498508"/>
                </a:lnTo>
                <a:cubicBezTo>
                  <a:pt x="1435059" y="4511659"/>
                  <a:pt x="1405759" y="4524268"/>
                  <a:pt x="1376111" y="4536334"/>
                </a:cubicBezTo>
                <a:cubicBezTo>
                  <a:pt x="1422294" y="4522124"/>
                  <a:pt x="1470274" y="4508296"/>
                  <a:pt x="1498493" y="4502509"/>
                </a:cubicBezTo>
                <a:cubicBezTo>
                  <a:pt x="1608595" y="4481142"/>
                  <a:pt x="1719912" y="4468967"/>
                  <a:pt x="1831627" y="4454994"/>
                </a:cubicBezTo>
                <a:cubicBezTo>
                  <a:pt x="2034733" y="4429326"/>
                  <a:pt x="2186680" y="4317586"/>
                  <a:pt x="2389654" y="4275904"/>
                </a:cubicBezTo>
                <a:close/>
                <a:moveTo>
                  <a:pt x="2147582" y="4220499"/>
                </a:moveTo>
                <a:cubicBezTo>
                  <a:pt x="1947585" y="4228027"/>
                  <a:pt x="1746826" y="4329700"/>
                  <a:pt x="1556088" y="4425819"/>
                </a:cubicBezTo>
                <a:cubicBezTo>
                  <a:pt x="1788857" y="4332127"/>
                  <a:pt x="2048945" y="4273854"/>
                  <a:pt x="2346927" y="4248048"/>
                </a:cubicBezTo>
                <a:cubicBezTo>
                  <a:pt x="2280831" y="4225943"/>
                  <a:pt x="2214248" y="4217991"/>
                  <a:pt x="2147582" y="4220499"/>
                </a:cubicBezTo>
                <a:close/>
                <a:moveTo>
                  <a:pt x="1790494" y="3958602"/>
                </a:moveTo>
                <a:cubicBezTo>
                  <a:pt x="1546078" y="4006086"/>
                  <a:pt x="1301131" y="4060051"/>
                  <a:pt x="1059112" y="4119804"/>
                </a:cubicBezTo>
                <a:cubicBezTo>
                  <a:pt x="1314148" y="4123003"/>
                  <a:pt x="1558894" y="4069940"/>
                  <a:pt x="1790494" y="3958602"/>
                </a:cubicBezTo>
                <a:close/>
                <a:moveTo>
                  <a:pt x="3757613" y="3936722"/>
                </a:moveTo>
                <a:cubicBezTo>
                  <a:pt x="3739428" y="4022695"/>
                  <a:pt x="3726993" y="4110355"/>
                  <a:pt x="3715314" y="4196771"/>
                </a:cubicBezTo>
                <a:cubicBezTo>
                  <a:pt x="3696476" y="4335276"/>
                  <a:pt x="3677516" y="4478465"/>
                  <a:pt x="3631611" y="4613594"/>
                </a:cubicBezTo>
                <a:cubicBezTo>
                  <a:pt x="3620645" y="4645134"/>
                  <a:pt x="3608778" y="4676477"/>
                  <a:pt x="3596909" y="4707830"/>
                </a:cubicBezTo>
                <a:lnTo>
                  <a:pt x="3581749" y="4747418"/>
                </a:lnTo>
                <a:cubicBezTo>
                  <a:pt x="3554523" y="4819250"/>
                  <a:pt x="3531238" y="4892390"/>
                  <a:pt x="3510660" y="4966094"/>
                </a:cubicBezTo>
                <a:cubicBezTo>
                  <a:pt x="3748857" y="4678857"/>
                  <a:pt x="3755323" y="4300706"/>
                  <a:pt x="3757613" y="3936722"/>
                </a:cubicBezTo>
                <a:close/>
                <a:moveTo>
                  <a:pt x="1701387" y="3919232"/>
                </a:moveTo>
                <a:cubicBezTo>
                  <a:pt x="1507766" y="3912045"/>
                  <a:pt x="1320741" y="3989836"/>
                  <a:pt x="1136310" y="4068895"/>
                </a:cubicBezTo>
                <a:cubicBezTo>
                  <a:pt x="1350954" y="4017452"/>
                  <a:pt x="1568376" y="3970366"/>
                  <a:pt x="1784782" y="3927759"/>
                </a:cubicBezTo>
                <a:cubicBezTo>
                  <a:pt x="1756841" y="3923020"/>
                  <a:pt x="1729046" y="3920259"/>
                  <a:pt x="1701387" y="3919232"/>
                </a:cubicBezTo>
                <a:close/>
                <a:moveTo>
                  <a:pt x="3733405" y="3900089"/>
                </a:moveTo>
                <a:cubicBezTo>
                  <a:pt x="3597105" y="4216426"/>
                  <a:pt x="3490805" y="4541932"/>
                  <a:pt x="3500832" y="4885010"/>
                </a:cubicBezTo>
                <a:cubicBezTo>
                  <a:pt x="3516996" y="4834817"/>
                  <a:pt x="3533505" y="4785171"/>
                  <a:pt x="3552367" y="4735553"/>
                </a:cubicBezTo>
                <a:lnTo>
                  <a:pt x="3567525" y="4695966"/>
                </a:lnTo>
                <a:cubicBezTo>
                  <a:pt x="3579742" y="4665154"/>
                  <a:pt x="3591404" y="4634706"/>
                  <a:pt x="3602372" y="4603168"/>
                </a:cubicBezTo>
                <a:cubicBezTo>
                  <a:pt x="3647108" y="4471083"/>
                  <a:pt x="3666211" y="4329343"/>
                  <a:pt x="3684639" y="4192628"/>
                </a:cubicBezTo>
                <a:cubicBezTo>
                  <a:pt x="3697672" y="4096160"/>
                  <a:pt x="3710761" y="3997344"/>
                  <a:pt x="3733405" y="3900089"/>
                </a:cubicBezTo>
                <a:close/>
                <a:moveTo>
                  <a:pt x="2800959" y="3871054"/>
                </a:moveTo>
                <a:cubicBezTo>
                  <a:pt x="2809421" y="4100939"/>
                  <a:pt x="2907977" y="4306148"/>
                  <a:pt x="3026569" y="4520780"/>
                </a:cubicBezTo>
                <a:cubicBezTo>
                  <a:pt x="2979577" y="4399850"/>
                  <a:pt x="2933143" y="4278562"/>
                  <a:pt x="2889061" y="4157302"/>
                </a:cubicBezTo>
                <a:cubicBezTo>
                  <a:pt x="2854271" y="4061517"/>
                  <a:pt x="2821632" y="3966669"/>
                  <a:pt x="2800959" y="3871054"/>
                </a:cubicBezTo>
                <a:close/>
                <a:moveTo>
                  <a:pt x="2809929" y="3701307"/>
                </a:moveTo>
                <a:cubicBezTo>
                  <a:pt x="2809867" y="3703640"/>
                  <a:pt x="2809253" y="3706334"/>
                  <a:pt x="2809197" y="3708672"/>
                </a:cubicBezTo>
                <a:cubicBezTo>
                  <a:pt x="2816609" y="3854149"/>
                  <a:pt x="2864235" y="3999199"/>
                  <a:pt x="2918306" y="4147031"/>
                </a:cubicBezTo>
                <a:cubicBezTo>
                  <a:pt x="2966436" y="4279493"/>
                  <a:pt x="3017273" y="4412529"/>
                  <a:pt x="3068858" y="4544310"/>
                </a:cubicBezTo>
                <a:cubicBezTo>
                  <a:pt x="3069715" y="4408107"/>
                  <a:pt x="3008952" y="4266858"/>
                  <a:pt x="2968879" y="4144570"/>
                </a:cubicBezTo>
                <a:cubicBezTo>
                  <a:pt x="2919376" y="3995354"/>
                  <a:pt x="2865655" y="3848072"/>
                  <a:pt x="2809929" y="3701307"/>
                </a:cubicBezTo>
                <a:close/>
                <a:moveTo>
                  <a:pt x="1867196" y="3456584"/>
                </a:moveTo>
                <a:cubicBezTo>
                  <a:pt x="1939275" y="3608228"/>
                  <a:pt x="2036188" y="3758542"/>
                  <a:pt x="2183970" y="3826505"/>
                </a:cubicBezTo>
                <a:cubicBezTo>
                  <a:pt x="2092208" y="3686686"/>
                  <a:pt x="1989300" y="3564734"/>
                  <a:pt x="1867196" y="3456584"/>
                </a:cubicBezTo>
                <a:close/>
                <a:moveTo>
                  <a:pt x="2322880" y="3078533"/>
                </a:moveTo>
                <a:cubicBezTo>
                  <a:pt x="2314902" y="3134217"/>
                  <a:pt x="2306026" y="3189710"/>
                  <a:pt x="2295695" y="3245370"/>
                </a:cubicBezTo>
                <a:cubicBezTo>
                  <a:pt x="2262659" y="3421320"/>
                  <a:pt x="2225570" y="3586065"/>
                  <a:pt x="2268858" y="3758413"/>
                </a:cubicBezTo>
                <a:cubicBezTo>
                  <a:pt x="2273785" y="3680922"/>
                  <a:pt x="2284872" y="3603320"/>
                  <a:pt x="2295899" y="3528057"/>
                </a:cubicBezTo>
                <a:cubicBezTo>
                  <a:pt x="2310584" y="3430521"/>
                  <a:pt x="2325878" y="3330298"/>
                  <a:pt x="2326306" y="3231157"/>
                </a:cubicBezTo>
                <a:cubicBezTo>
                  <a:pt x="2326349" y="3202011"/>
                  <a:pt x="2325135" y="3172131"/>
                  <a:pt x="2324274" y="3142788"/>
                </a:cubicBezTo>
                <a:cubicBezTo>
                  <a:pt x="2323575" y="3121009"/>
                  <a:pt x="2323232" y="3099770"/>
                  <a:pt x="2322880" y="3078533"/>
                </a:cubicBezTo>
                <a:close/>
                <a:moveTo>
                  <a:pt x="912797" y="2896659"/>
                </a:moveTo>
                <a:cubicBezTo>
                  <a:pt x="987675" y="3038078"/>
                  <a:pt x="1077553" y="3173735"/>
                  <a:pt x="1167201" y="3304169"/>
                </a:cubicBezTo>
                <a:cubicBezTo>
                  <a:pt x="1258595" y="3437326"/>
                  <a:pt x="1353896" y="3600936"/>
                  <a:pt x="1503848" y="3675946"/>
                </a:cubicBezTo>
                <a:cubicBezTo>
                  <a:pt x="1443175" y="3621244"/>
                  <a:pt x="1397337" y="3553231"/>
                  <a:pt x="1353091" y="3486482"/>
                </a:cubicBezTo>
                <a:cubicBezTo>
                  <a:pt x="1348731" y="3480073"/>
                  <a:pt x="1344372" y="3473665"/>
                  <a:pt x="1340012" y="3467256"/>
                </a:cubicBezTo>
                <a:cubicBezTo>
                  <a:pt x="1259674" y="3347730"/>
                  <a:pt x="1172762" y="3230102"/>
                  <a:pt x="1089196" y="3116474"/>
                </a:cubicBezTo>
                <a:cubicBezTo>
                  <a:pt x="1048102" y="3060746"/>
                  <a:pt x="1005067" y="3003195"/>
                  <a:pt x="959418" y="2948853"/>
                </a:cubicBezTo>
                <a:cubicBezTo>
                  <a:pt x="944128" y="2931040"/>
                  <a:pt x="928639" y="2914119"/>
                  <a:pt x="912797" y="2896659"/>
                </a:cubicBezTo>
                <a:close/>
                <a:moveTo>
                  <a:pt x="2363420" y="2871730"/>
                </a:moveTo>
                <a:lnTo>
                  <a:pt x="2360107" y="2915231"/>
                </a:lnTo>
                <a:cubicBezTo>
                  <a:pt x="2356940" y="2960178"/>
                  <a:pt x="2353568" y="3006017"/>
                  <a:pt x="2353099" y="3051540"/>
                </a:cubicBezTo>
                <a:cubicBezTo>
                  <a:pt x="2352858" y="3081589"/>
                  <a:pt x="2354064" y="3111470"/>
                  <a:pt x="2354925" y="3140814"/>
                </a:cubicBezTo>
                <a:cubicBezTo>
                  <a:pt x="2356138" y="3170696"/>
                  <a:pt x="2357347" y="3200579"/>
                  <a:pt x="2357104" y="3230628"/>
                </a:cubicBezTo>
                <a:cubicBezTo>
                  <a:pt x="2356269" y="3331557"/>
                  <a:pt x="2341112" y="3433224"/>
                  <a:pt x="2326221" y="3531652"/>
                </a:cubicBezTo>
                <a:cubicBezTo>
                  <a:pt x="2315466" y="3603683"/>
                  <a:pt x="2304846" y="3677150"/>
                  <a:pt x="2299836" y="3750864"/>
                </a:cubicBezTo>
                <a:cubicBezTo>
                  <a:pt x="2315186" y="3724954"/>
                  <a:pt x="2331840" y="3697443"/>
                  <a:pt x="2346877" y="3662531"/>
                </a:cubicBezTo>
                <a:cubicBezTo>
                  <a:pt x="2459154" y="3406015"/>
                  <a:pt x="2424454" y="3133900"/>
                  <a:pt x="2363420" y="2871730"/>
                </a:cubicBezTo>
                <a:close/>
                <a:moveTo>
                  <a:pt x="912921" y="2850596"/>
                </a:moveTo>
                <a:cubicBezTo>
                  <a:pt x="936881" y="2875897"/>
                  <a:pt x="961194" y="2901731"/>
                  <a:pt x="983846" y="2928627"/>
                </a:cubicBezTo>
                <a:cubicBezTo>
                  <a:pt x="1029846" y="2983517"/>
                  <a:pt x="1073228" y="3041610"/>
                  <a:pt x="1114669" y="3097880"/>
                </a:cubicBezTo>
                <a:cubicBezTo>
                  <a:pt x="1199144" y="3211700"/>
                  <a:pt x="1286398" y="3329876"/>
                  <a:pt x="1366183" y="3449753"/>
                </a:cubicBezTo>
                <a:cubicBezTo>
                  <a:pt x="1370543" y="3456162"/>
                  <a:pt x="1374903" y="3462572"/>
                  <a:pt x="1379263" y="3468981"/>
                </a:cubicBezTo>
                <a:cubicBezTo>
                  <a:pt x="1414114" y="3521040"/>
                  <a:pt x="1450010" y="3574725"/>
                  <a:pt x="1492446" y="3620389"/>
                </a:cubicBezTo>
                <a:cubicBezTo>
                  <a:pt x="1379640" y="3316219"/>
                  <a:pt x="1197433" y="3014288"/>
                  <a:pt x="912921" y="2850596"/>
                </a:cubicBezTo>
                <a:close/>
                <a:moveTo>
                  <a:pt x="2386551" y="2642862"/>
                </a:moveTo>
                <a:cubicBezTo>
                  <a:pt x="2394776" y="2644690"/>
                  <a:pt x="2401148" y="2649859"/>
                  <a:pt x="2403741" y="2659697"/>
                </a:cubicBezTo>
                <a:cubicBezTo>
                  <a:pt x="2468949" y="2907705"/>
                  <a:pt x="2536818" y="3164740"/>
                  <a:pt x="2499078" y="3423399"/>
                </a:cubicBezTo>
                <a:cubicBezTo>
                  <a:pt x="2484124" y="3524170"/>
                  <a:pt x="2447241" y="3605244"/>
                  <a:pt x="2413232" y="3700562"/>
                </a:cubicBezTo>
                <a:cubicBezTo>
                  <a:pt x="2350039" y="3880472"/>
                  <a:pt x="2357716" y="4002022"/>
                  <a:pt x="2428424" y="4178295"/>
                </a:cubicBezTo>
                <a:cubicBezTo>
                  <a:pt x="2600434" y="4289020"/>
                  <a:pt x="2768104" y="4406341"/>
                  <a:pt x="2927779" y="4531843"/>
                </a:cubicBezTo>
                <a:cubicBezTo>
                  <a:pt x="2760215" y="4223610"/>
                  <a:pt x="2637267" y="3926696"/>
                  <a:pt x="2758380" y="3561061"/>
                </a:cubicBezTo>
                <a:cubicBezTo>
                  <a:pt x="2765639" y="3539559"/>
                  <a:pt x="2835782" y="3509255"/>
                  <a:pt x="2846610" y="3538353"/>
                </a:cubicBezTo>
                <a:cubicBezTo>
                  <a:pt x="2941134" y="3779872"/>
                  <a:pt x="3029996" y="4023472"/>
                  <a:pt x="3106063" y="4271430"/>
                </a:cubicBezTo>
                <a:cubicBezTo>
                  <a:pt x="3150638" y="4415363"/>
                  <a:pt x="3185704" y="4549296"/>
                  <a:pt x="3116136" y="4688819"/>
                </a:cubicBezTo>
                <a:cubicBezTo>
                  <a:pt x="3218309" y="4776757"/>
                  <a:pt x="3317100" y="4869157"/>
                  <a:pt x="3412872" y="4966558"/>
                </a:cubicBezTo>
                <a:cubicBezTo>
                  <a:pt x="3381456" y="4499967"/>
                  <a:pt x="3566630" y="4066538"/>
                  <a:pt x="3763612" y="3645474"/>
                </a:cubicBezTo>
                <a:cubicBezTo>
                  <a:pt x="3774538" y="3622394"/>
                  <a:pt x="3852109" y="3598841"/>
                  <a:pt x="3850165" y="3638405"/>
                </a:cubicBezTo>
                <a:cubicBezTo>
                  <a:pt x="3828358" y="4125233"/>
                  <a:pt x="3904636" y="4676562"/>
                  <a:pt x="3515311" y="5051260"/>
                </a:cubicBezTo>
                <a:cubicBezTo>
                  <a:pt x="3511789" y="5054277"/>
                  <a:pt x="3506819" y="5057456"/>
                  <a:pt x="3501147" y="5059552"/>
                </a:cubicBezTo>
                <a:cubicBezTo>
                  <a:pt x="3601520" y="5167803"/>
                  <a:pt x="3698516" y="5280511"/>
                  <a:pt x="3790420" y="5401078"/>
                </a:cubicBezTo>
                <a:cubicBezTo>
                  <a:pt x="3946901" y="5606795"/>
                  <a:pt x="4090825" y="5822089"/>
                  <a:pt x="4221141" y="6045312"/>
                </a:cubicBezTo>
                <a:cubicBezTo>
                  <a:pt x="4260726" y="5923422"/>
                  <a:pt x="4276533" y="5789920"/>
                  <a:pt x="4326825" y="5681109"/>
                </a:cubicBezTo>
                <a:cubicBezTo>
                  <a:pt x="4326185" y="5677682"/>
                  <a:pt x="4325759" y="5673360"/>
                  <a:pt x="4325127" y="5669934"/>
                </a:cubicBezTo>
                <a:cubicBezTo>
                  <a:pt x="4319106" y="5671483"/>
                  <a:pt x="4312744" y="5672486"/>
                  <a:pt x="4309144" y="5671723"/>
                </a:cubicBezTo>
                <a:cubicBezTo>
                  <a:pt x="3975286" y="5608574"/>
                  <a:pt x="3989836" y="4983823"/>
                  <a:pt x="3974946" y="4736592"/>
                </a:cubicBezTo>
                <a:cubicBezTo>
                  <a:pt x="3973555" y="4713728"/>
                  <a:pt x="4046476" y="4687776"/>
                  <a:pt x="4060171" y="4704317"/>
                </a:cubicBezTo>
                <a:cubicBezTo>
                  <a:pt x="4248204" y="4928943"/>
                  <a:pt x="4331788" y="5187422"/>
                  <a:pt x="4383942" y="5463703"/>
                </a:cubicBezTo>
                <a:cubicBezTo>
                  <a:pt x="4445404" y="5353500"/>
                  <a:pt x="4548377" y="5250086"/>
                  <a:pt x="4654905" y="5156948"/>
                </a:cubicBezTo>
                <a:lnTo>
                  <a:pt x="4724400" y="5098975"/>
                </a:lnTo>
                <a:lnTo>
                  <a:pt x="4724400" y="5160063"/>
                </a:lnTo>
                <a:lnTo>
                  <a:pt x="4687505" y="5191181"/>
                </a:lnTo>
                <a:cubicBezTo>
                  <a:pt x="4588452" y="5282318"/>
                  <a:pt x="4497898" y="5385071"/>
                  <a:pt x="4451303" y="5491132"/>
                </a:cubicBezTo>
                <a:cubicBezTo>
                  <a:pt x="4493091" y="5426848"/>
                  <a:pt x="4544370" y="5370101"/>
                  <a:pt x="4599954" y="5317498"/>
                </a:cubicBezTo>
                <a:lnTo>
                  <a:pt x="4724400" y="5211392"/>
                </a:lnTo>
                <a:lnTo>
                  <a:pt x="4724400" y="5251559"/>
                </a:lnTo>
                <a:lnTo>
                  <a:pt x="4619898" y="5340764"/>
                </a:lnTo>
                <a:cubicBezTo>
                  <a:pt x="4564729" y="5393102"/>
                  <a:pt x="4514142" y="5449408"/>
                  <a:pt x="4473735" y="5512809"/>
                </a:cubicBezTo>
                <a:cubicBezTo>
                  <a:pt x="4457482" y="5538523"/>
                  <a:pt x="4443385" y="5565169"/>
                  <a:pt x="4430539" y="5592553"/>
                </a:cubicBezTo>
                <a:cubicBezTo>
                  <a:pt x="4478314" y="5558922"/>
                  <a:pt x="4525254" y="5522778"/>
                  <a:pt x="4569759" y="5482816"/>
                </a:cubicBezTo>
                <a:lnTo>
                  <a:pt x="4724400" y="5330891"/>
                </a:lnTo>
                <a:lnTo>
                  <a:pt x="4724400" y="5402912"/>
                </a:lnTo>
                <a:lnTo>
                  <a:pt x="4586888" y="5533939"/>
                </a:lnTo>
                <a:cubicBezTo>
                  <a:pt x="4539970" y="5576210"/>
                  <a:pt x="4452025" y="5622495"/>
                  <a:pt x="4413377" y="5674040"/>
                </a:cubicBezTo>
                <a:cubicBezTo>
                  <a:pt x="4412828" y="5674391"/>
                  <a:pt x="4412623" y="5675288"/>
                  <a:pt x="4412066" y="5675644"/>
                </a:cubicBezTo>
                <a:cubicBezTo>
                  <a:pt x="4409999" y="5678494"/>
                  <a:pt x="4407586" y="5680803"/>
                  <a:pt x="4406074" y="5683306"/>
                </a:cubicBezTo>
                <a:cubicBezTo>
                  <a:pt x="4338963" y="5791374"/>
                  <a:pt x="4334247" y="5992131"/>
                  <a:pt x="4271008" y="6118417"/>
                </a:cubicBezTo>
                <a:cubicBezTo>
                  <a:pt x="4270042" y="6120562"/>
                  <a:pt x="4267634" y="6122876"/>
                  <a:pt x="4265220" y="6125184"/>
                </a:cubicBezTo>
                <a:cubicBezTo>
                  <a:pt x="4388620" y="6344593"/>
                  <a:pt x="4497559" y="6571523"/>
                  <a:pt x="4590463" y="6805045"/>
                </a:cubicBezTo>
                <a:lnTo>
                  <a:pt x="4610122" y="6857999"/>
                </a:lnTo>
                <a:lnTo>
                  <a:pt x="4513231" y="6857999"/>
                </a:lnTo>
                <a:lnTo>
                  <a:pt x="4374770" y="6532596"/>
                </a:lnTo>
                <a:lnTo>
                  <a:pt x="4339518" y="6461642"/>
                </a:lnTo>
                <a:cubicBezTo>
                  <a:pt x="4208274" y="6190726"/>
                  <a:pt x="4055763" y="5930353"/>
                  <a:pt x="3884810" y="5682534"/>
                </a:cubicBezTo>
                <a:cubicBezTo>
                  <a:pt x="3881554" y="5682314"/>
                  <a:pt x="3878648" y="5682642"/>
                  <a:pt x="3876498" y="5681717"/>
                </a:cubicBezTo>
                <a:cubicBezTo>
                  <a:pt x="3679284" y="5607050"/>
                  <a:pt x="3473354" y="5574737"/>
                  <a:pt x="3263209" y="5585749"/>
                </a:cubicBezTo>
                <a:cubicBezTo>
                  <a:pt x="3258445" y="5588034"/>
                  <a:pt x="3252566" y="5591021"/>
                  <a:pt x="3245450" y="5593271"/>
                </a:cubicBezTo>
                <a:cubicBezTo>
                  <a:pt x="2832970" y="5732161"/>
                  <a:pt x="2378174" y="5640588"/>
                  <a:pt x="1952592" y="5692050"/>
                </a:cubicBezTo>
                <a:cubicBezTo>
                  <a:pt x="1937512" y="5694029"/>
                  <a:pt x="1912708" y="5686903"/>
                  <a:pt x="1936466" y="5671708"/>
                </a:cubicBezTo>
                <a:cubicBezTo>
                  <a:pt x="2343705" y="5415077"/>
                  <a:pt x="2802129" y="5333413"/>
                  <a:pt x="3244709" y="5538562"/>
                </a:cubicBezTo>
                <a:cubicBezTo>
                  <a:pt x="3441959" y="5522006"/>
                  <a:pt x="3636288" y="5541041"/>
                  <a:pt x="3823886" y="5595804"/>
                </a:cubicBezTo>
                <a:cubicBezTo>
                  <a:pt x="3786337" y="5543176"/>
                  <a:pt x="3748232" y="5490905"/>
                  <a:pt x="3709024" y="5439340"/>
                </a:cubicBezTo>
                <a:cubicBezTo>
                  <a:pt x="3551844" y="5232532"/>
                  <a:pt x="3380544" y="5046247"/>
                  <a:pt x="3198362" y="4874588"/>
                </a:cubicBezTo>
                <a:cubicBezTo>
                  <a:pt x="3191800" y="4876493"/>
                  <a:pt x="3185778" y="4878043"/>
                  <a:pt x="3179417" y="4879047"/>
                </a:cubicBezTo>
                <a:cubicBezTo>
                  <a:pt x="3002241" y="4937947"/>
                  <a:pt x="2827252" y="4989315"/>
                  <a:pt x="2639496" y="4989072"/>
                </a:cubicBezTo>
                <a:cubicBezTo>
                  <a:pt x="2416792" y="4988955"/>
                  <a:pt x="2191177" y="4947776"/>
                  <a:pt x="1972353" y="4909921"/>
                </a:cubicBezTo>
                <a:cubicBezTo>
                  <a:pt x="1940984" y="4904693"/>
                  <a:pt x="1996456" y="4874580"/>
                  <a:pt x="2002679" y="4872131"/>
                </a:cubicBezTo>
                <a:cubicBezTo>
                  <a:pt x="2309478" y="4772480"/>
                  <a:pt x="2760385" y="4680296"/>
                  <a:pt x="3097424" y="4781269"/>
                </a:cubicBezTo>
                <a:cubicBezTo>
                  <a:pt x="2895349" y="4601638"/>
                  <a:pt x="2680528" y="4438593"/>
                  <a:pt x="2454890" y="4287833"/>
                </a:cubicBezTo>
                <a:cubicBezTo>
                  <a:pt x="2454338" y="4288186"/>
                  <a:pt x="2453432" y="4287993"/>
                  <a:pt x="2452881" y="4288346"/>
                </a:cubicBezTo>
                <a:cubicBezTo>
                  <a:pt x="2451433" y="4288508"/>
                  <a:pt x="2449426" y="4289026"/>
                  <a:pt x="2448527" y="4288836"/>
                </a:cubicBezTo>
                <a:cubicBezTo>
                  <a:pt x="2435306" y="4288860"/>
                  <a:pt x="2328295" y="4364971"/>
                  <a:pt x="2323525" y="4367248"/>
                </a:cubicBezTo>
                <a:cubicBezTo>
                  <a:pt x="2239575" y="4406384"/>
                  <a:pt x="2150175" y="4432133"/>
                  <a:pt x="2060764" y="4451767"/>
                </a:cubicBezTo>
                <a:cubicBezTo>
                  <a:pt x="1760632" y="4518029"/>
                  <a:pt x="1460022" y="4526349"/>
                  <a:pt x="1162250" y="4613329"/>
                </a:cubicBezTo>
                <a:cubicBezTo>
                  <a:pt x="1141991" y="4619390"/>
                  <a:pt x="1086625" y="4618011"/>
                  <a:pt x="1132639" y="4596243"/>
                </a:cubicBezTo>
                <a:cubicBezTo>
                  <a:pt x="1461250" y="4438196"/>
                  <a:pt x="1900100" y="4136057"/>
                  <a:pt x="2293970" y="4182283"/>
                </a:cubicBezTo>
                <a:cubicBezTo>
                  <a:pt x="2166077" y="4101602"/>
                  <a:pt x="2034669" y="4023929"/>
                  <a:pt x="1900637" y="3949470"/>
                </a:cubicBezTo>
                <a:cubicBezTo>
                  <a:pt x="1896077" y="3950852"/>
                  <a:pt x="1891168" y="3951697"/>
                  <a:pt x="1887014" y="3951288"/>
                </a:cubicBezTo>
                <a:cubicBezTo>
                  <a:pt x="1578066" y="4112095"/>
                  <a:pt x="1243908" y="4184792"/>
                  <a:pt x="896751" y="4159267"/>
                </a:cubicBezTo>
                <a:cubicBezTo>
                  <a:pt x="855005" y="4156073"/>
                  <a:pt x="905428" y="4125362"/>
                  <a:pt x="918967" y="4119760"/>
                </a:cubicBezTo>
                <a:cubicBezTo>
                  <a:pt x="1194342" y="4017222"/>
                  <a:pt x="1471034" y="3857115"/>
                  <a:pt x="1764113" y="3873539"/>
                </a:cubicBezTo>
                <a:cubicBezTo>
                  <a:pt x="1695196" y="3836374"/>
                  <a:pt x="1625724" y="3799562"/>
                  <a:pt x="1555701" y="3763109"/>
                </a:cubicBezTo>
                <a:cubicBezTo>
                  <a:pt x="1550645" y="3762512"/>
                  <a:pt x="1546699" y="3761207"/>
                  <a:pt x="1542956" y="3758998"/>
                </a:cubicBezTo>
                <a:cubicBezTo>
                  <a:pt x="1350426" y="3719652"/>
                  <a:pt x="1247288" y="3571783"/>
                  <a:pt x="1136724" y="3417171"/>
                </a:cubicBezTo>
                <a:cubicBezTo>
                  <a:pt x="993337" y="3216099"/>
                  <a:pt x="846020" y="2999153"/>
                  <a:pt x="750977" y="2770227"/>
                </a:cubicBezTo>
                <a:cubicBezTo>
                  <a:pt x="747611" y="2762227"/>
                  <a:pt x="749771" y="2755481"/>
                  <a:pt x="755174" y="2749954"/>
                </a:cubicBezTo>
                <a:cubicBezTo>
                  <a:pt x="771390" y="2733370"/>
                  <a:pt x="816824" y="2727735"/>
                  <a:pt x="830023" y="2731935"/>
                </a:cubicBezTo>
                <a:cubicBezTo>
                  <a:pt x="1258787" y="2883841"/>
                  <a:pt x="1497280" y="3311498"/>
                  <a:pt x="1623018" y="3716225"/>
                </a:cubicBezTo>
                <a:cubicBezTo>
                  <a:pt x="1853470" y="3835548"/>
                  <a:pt x="2078531" y="3959850"/>
                  <a:pt x="2294841" y="4093587"/>
                </a:cubicBezTo>
                <a:cubicBezTo>
                  <a:pt x="2272291" y="4035197"/>
                  <a:pt x="2253055" y="3974696"/>
                  <a:pt x="2250226" y="3916719"/>
                </a:cubicBezTo>
                <a:cubicBezTo>
                  <a:pt x="2248779" y="3916883"/>
                  <a:pt x="2246771" y="3917401"/>
                  <a:pt x="2245523" y="3916663"/>
                </a:cubicBezTo>
                <a:cubicBezTo>
                  <a:pt x="1951808" y="3876118"/>
                  <a:pt x="1808968" y="3571232"/>
                  <a:pt x="1707994" y="3326950"/>
                </a:cubicBezTo>
                <a:cubicBezTo>
                  <a:pt x="1694877" y="3295477"/>
                  <a:pt x="1766980" y="3273123"/>
                  <a:pt x="1786341" y="3287566"/>
                </a:cubicBezTo>
                <a:cubicBezTo>
                  <a:pt x="1929395" y="3390749"/>
                  <a:pt x="2051663" y="3506453"/>
                  <a:pt x="2158071" y="3639960"/>
                </a:cubicBezTo>
                <a:cubicBezTo>
                  <a:pt x="2154892" y="3540061"/>
                  <a:pt x="2170197" y="3439839"/>
                  <a:pt x="2189281" y="3333361"/>
                </a:cubicBezTo>
                <a:cubicBezTo>
                  <a:pt x="2229372" y="3116116"/>
                  <a:pt x="2246120" y="2891570"/>
                  <a:pt x="2314466" y="2680771"/>
                </a:cubicBezTo>
                <a:cubicBezTo>
                  <a:pt x="2320529" y="2661952"/>
                  <a:pt x="2361878" y="2637374"/>
                  <a:pt x="2386551" y="2642862"/>
                </a:cubicBezTo>
                <a:close/>
                <a:moveTo>
                  <a:pt x="3646699" y="2390555"/>
                </a:moveTo>
                <a:lnTo>
                  <a:pt x="3645773" y="2392739"/>
                </a:lnTo>
                <a:lnTo>
                  <a:pt x="3649597" y="2394358"/>
                </a:lnTo>
                <a:cubicBezTo>
                  <a:pt x="3648733" y="2393349"/>
                  <a:pt x="3647874" y="2392343"/>
                  <a:pt x="3646699" y="2390555"/>
                </a:cubicBezTo>
                <a:close/>
                <a:moveTo>
                  <a:pt x="3038676" y="2118977"/>
                </a:moveTo>
                <a:cubicBezTo>
                  <a:pt x="3042950" y="2257918"/>
                  <a:pt x="3002907" y="2393544"/>
                  <a:pt x="2963942" y="2525128"/>
                </a:cubicBezTo>
                <a:cubicBezTo>
                  <a:pt x="2949902" y="2571972"/>
                  <a:pt x="2935948" y="2620144"/>
                  <a:pt x="2923775" y="2667145"/>
                </a:cubicBezTo>
                <a:cubicBezTo>
                  <a:pt x="2909690" y="2721696"/>
                  <a:pt x="2898881" y="2777642"/>
                  <a:pt x="2887447" y="2832031"/>
                </a:cubicBezTo>
                <a:lnTo>
                  <a:pt x="2868480" y="2927011"/>
                </a:lnTo>
                <a:cubicBezTo>
                  <a:pt x="2882036" y="2893472"/>
                  <a:pt x="2900043" y="2846374"/>
                  <a:pt x="2921794" y="2782834"/>
                </a:cubicBezTo>
                <a:cubicBezTo>
                  <a:pt x="2980827" y="2611467"/>
                  <a:pt x="3079367" y="2325483"/>
                  <a:pt x="3038676" y="2118977"/>
                </a:cubicBezTo>
                <a:close/>
                <a:moveTo>
                  <a:pt x="4070579" y="2090376"/>
                </a:moveTo>
                <a:cubicBezTo>
                  <a:pt x="4084637" y="2136248"/>
                  <a:pt x="4098150" y="2181883"/>
                  <a:pt x="4109879" y="2228695"/>
                </a:cubicBezTo>
                <a:lnTo>
                  <a:pt x="4119154" y="2266098"/>
                </a:lnTo>
                <a:cubicBezTo>
                  <a:pt x="4126056" y="2295423"/>
                  <a:pt x="4133187" y="2324193"/>
                  <a:pt x="4141411" y="2353427"/>
                </a:cubicBezTo>
                <a:cubicBezTo>
                  <a:pt x="4176749" y="2475257"/>
                  <a:pt x="4236423" y="2591295"/>
                  <a:pt x="4293979" y="2703223"/>
                </a:cubicBezTo>
                <a:cubicBezTo>
                  <a:pt x="4334570" y="2782214"/>
                  <a:pt x="4376344" y="2862994"/>
                  <a:pt x="4410111" y="2947465"/>
                </a:cubicBezTo>
                <a:cubicBezTo>
                  <a:pt x="4347417" y="2640863"/>
                  <a:pt x="4257356" y="2342636"/>
                  <a:pt x="4070579" y="2090376"/>
                </a:cubicBezTo>
                <a:close/>
                <a:moveTo>
                  <a:pt x="4020821" y="2034549"/>
                </a:moveTo>
                <a:cubicBezTo>
                  <a:pt x="3991634" y="2371132"/>
                  <a:pt x="4184325" y="2658088"/>
                  <a:pt x="4372756" y="2932293"/>
                </a:cubicBezTo>
                <a:cubicBezTo>
                  <a:pt x="4341528" y="2858555"/>
                  <a:pt x="4305088" y="2786473"/>
                  <a:pt x="4268731" y="2715710"/>
                </a:cubicBezTo>
                <a:cubicBezTo>
                  <a:pt x="4210547" y="2602235"/>
                  <a:pt x="4150011" y="2485181"/>
                  <a:pt x="4113960" y="2360474"/>
                </a:cubicBezTo>
                <a:cubicBezTo>
                  <a:pt x="4105734" y="2331239"/>
                  <a:pt x="4098289" y="2301693"/>
                  <a:pt x="4090842" y="2272139"/>
                </a:cubicBezTo>
                <a:lnTo>
                  <a:pt x="4081569" y="2234734"/>
                </a:lnTo>
                <a:cubicBezTo>
                  <a:pt x="4064530" y="2167007"/>
                  <a:pt x="4043843" y="2100302"/>
                  <a:pt x="4020821" y="2034549"/>
                </a:cubicBezTo>
                <a:close/>
                <a:moveTo>
                  <a:pt x="3001316" y="2032338"/>
                </a:moveTo>
                <a:cubicBezTo>
                  <a:pt x="2982933" y="2081859"/>
                  <a:pt x="2966493" y="2132840"/>
                  <a:pt x="2953880" y="2185446"/>
                </a:cubicBezTo>
                <a:cubicBezTo>
                  <a:pt x="2921068" y="2317695"/>
                  <a:pt x="2906505" y="2457032"/>
                  <a:pt x="2883664" y="2591574"/>
                </a:cubicBezTo>
                <a:cubicBezTo>
                  <a:pt x="2864755" y="2700098"/>
                  <a:pt x="2813661" y="2959166"/>
                  <a:pt x="2826885" y="2991809"/>
                </a:cubicBezTo>
                <a:lnTo>
                  <a:pt x="2860250" y="2826310"/>
                </a:lnTo>
                <a:cubicBezTo>
                  <a:pt x="2871141" y="2771690"/>
                  <a:pt x="2882731" y="2715434"/>
                  <a:pt x="2896499" y="2660098"/>
                </a:cubicBezTo>
                <a:cubicBezTo>
                  <a:pt x="2908585" y="2611783"/>
                  <a:pt x="2923082" y="2563843"/>
                  <a:pt x="2937125" y="2516991"/>
                </a:cubicBezTo>
                <a:cubicBezTo>
                  <a:pt x="2975863" y="2385961"/>
                  <a:pt x="3015900" y="2250332"/>
                  <a:pt x="3010471" y="2114122"/>
                </a:cubicBezTo>
                <a:cubicBezTo>
                  <a:pt x="3009267" y="2086568"/>
                  <a:pt x="3005955" y="2059413"/>
                  <a:pt x="3001316" y="2032338"/>
                </a:cubicBezTo>
                <a:close/>
                <a:moveTo>
                  <a:pt x="3105532" y="1991479"/>
                </a:moveTo>
                <a:cubicBezTo>
                  <a:pt x="3254427" y="2144650"/>
                  <a:pt x="3409943" y="2280670"/>
                  <a:pt x="3599280" y="2371770"/>
                </a:cubicBezTo>
                <a:cubicBezTo>
                  <a:pt x="3463064" y="2234271"/>
                  <a:pt x="3300266" y="2088089"/>
                  <a:pt x="3105532" y="1991479"/>
                </a:cubicBezTo>
                <a:close/>
                <a:moveTo>
                  <a:pt x="3111169" y="1962963"/>
                </a:moveTo>
                <a:cubicBezTo>
                  <a:pt x="3306049" y="2057701"/>
                  <a:pt x="3468685" y="2201237"/>
                  <a:pt x="3606223" y="2338658"/>
                </a:cubicBezTo>
                <a:cubicBezTo>
                  <a:pt x="3470641" y="2169232"/>
                  <a:pt x="3285027" y="1968969"/>
                  <a:pt x="3111169" y="1962963"/>
                </a:cubicBezTo>
                <a:close/>
                <a:moveTo>
                  <a:pt x="2050698" y="1338235"/>
                </a:moveTo>
                <a:cubicBezTo>
                  <a:pt x="2064377" y="1651120"/>
                  <a:pt x="2209927" y="1999242"/>
                  <a:pt x="2370409" y="2272553"/>
                </a:cubicBezTo>
                <a:cubicBezTo>
                  <a:pt x="2357712" y="2235634"/>
                  <a:pt x="2347580" y="2197225"/>
                  <a:pt x="2338306" y="2159819"/>
                </a:cubicBezTo>
                <a:lnTo>
                  <a:pt x="2334023" y="2142555"/>
                </a:lnTo>
                <a:cubicBezTo>
                  <a:pt x="2289026" y="1964482"/>
                  <a:pt x="2230790" y="1787247"/>
                  <a:pt x="2161071" y="1617375"/>
                </a:cubicBezTo>
                <a:cubicBezTo>
                  <a:pt x="2150764" y="1593060"/>
                  <a:pt x="2141003" y="1568967"/>
                  <a:pt x="2130699" y="1544643"/>
                </a:cubicBezTo>
                <a:cubicBezTo>
                  <a:pt x="2102533" y="1477354"/>
                  <a:pt x="2073739" y="1408510"/>
                  <a:pt x="2050698" y="1338235"/>
                </a:cubicBezTo>
                <a:close/>
                <a:moveTo>
                  <a:pt x="2060478" y="1278636"/>
                </a:moveTo>
                <a:cubicBezTo>
                  <a:pt x="2085382" y="1365794"/>
                  <a:pt x="2121337" y="1451189"/>
                  <a:pt x="2156346" y="1534260"/>
                </a:cubicBezTo>
                <a:lnTo>
                  <a:pt x="2187258" y="1607218"/>
                </a:lnTo>
                <a:cubicBezTo>
                  <a:pt x="2256583" y="1774989"/>
                  <a:pt x="2314102" y="1949347"/>
                  <a:pt x="2358704" y="2125320"/>
                </a:cubicBezTo>
                <a:cubicBezTo>
                  <a:pt x="2326696" y="1963695"/>
                  <a:pt x="2286060" y="1804203"/>
                  <a:pt x="2233598" y="1646797"/>
                </a:cubicBezTo>
                <a:cubicBezTo>
                  <a:pt x="2188082" y="1511000"/>
                  <a:pt x="2118450" y="1397178"/>
                  <a:pt x="2060478" y="1278636"/>
                </a:cubicBezTo>
                <a:close/>
                <a:moveTo>
                  <a:pt x="1974152" y="1245311"/>
                </a:moveTo>
                <a:cubicBezTo>
                  <a:pt x="1899849" y="1271794"/>
                  <a:pt x="1845607" y="1329954"/>
                  <a:pt x="1811379" y="1406236"/>
                </a:cubicBezTo>
                <a:cubicBezTo>
                  <a:pt x="1793417" y="1445630"/>
                  <a:pt x="1774985" y="1502850"/>
                  <a:pt x="1767940" y="1546869"/>
                </a:cubicBezTo>
                <a:cubicBezTo>
                  <a:pt x="1756267" y="1618535"/>
                  <a:pt x="1762401" y="1614698"/>
                  <a:pt x="1796474" y="1557016"/>
                </a:cubicBezTo>
                <a:cubicBezTo>
                  <a:pt x="1857987" y="1454296"/>
                  <a:pt x="1917005" y="1349880"/>
                  <a:pt x="1974152" y="1245311"/>
                </a:cubicBezTo>
                <a:close/>
                <a:moveTo>
                  <a:pt x="4681531" y="959050"/>
                </a:moveTo>
                <a:cubicBezTo>
                  <a:pt x="4667665" y="975072"/>
                  <a:pt x="4653801" y="991089"/>
                  <a:pt x="4638064" y="1006960"/>
                </a:cubicBezTo>
                <a:cubicBezTo>
                  <a:pt x="4572574" y="1071943"/>
                  <a:pt x="4498932" y="1125748"/>
                  <a:pt x="4415502" y="1184424"/>
                </a:cubicBezTo>
                <a:cubicBezTo>
                  <a:pt x="4354739" y="1227583"/>
                  <a:pt x="4278681" y="1281016"/>
                  <a:pt x="4197574" y="1317493"/>
                </a:cubicBezTo>
                <a:cubicBezTo>
                  <a:pt x="4173020" y="1328342"/>
                  <a:pt x="4148153" y="1338416"/>
                  <a:pt x="4122737" y="1348256"/>
                </a:cubicBezTo>
                <a:cubicBezTo>
                  <a:pt x="4088783" y="1361567"/>
                  <a:pt x="4056139" y="1374791"/>
                  <a:pt x="4024988" y="1390573"/>
                </a:cubicBezTo>
                <a:cubicBezTo>
                  <a:pt x="4165369" y="1358579"/>
                  <a:pt x="4302892" y="1298342"/>
                  <a:pt x="4421265" y="1220988"/>
                </a:cubicBezTo>
                <a:cubicBezTo>
                  <a:pt x="4516666" y="1158366"/>
                  <a:pt x="4617535" y="1064584"/>
                  <a:pt x="4681531" y="959050"/>
                </a:cubicBezTo>
                <a:close/>
                <a:moveTo>
                  <a:pt x="4722484" y="854709"/>
                </a:moveTo>
                <a:cubicBezTo>
                  <a:pt x="4713724" y="863235"/>
                  <a:pt x="4704652" y="870980"/>
                  <a:pt x="4695347" y="879275"/>
                </a:cubicBezTo>
                <a:cubicBezTo>
                  <a:pt x="4560726" y="998039"/>
                  <a:pt x="4415771" y="1121443"/>
                  <a:pt x="4253878" y="1216434"/>
                </a:cubicBezTo>
                <a:lnTo>
                  <a:pt x="4213112" y="1239730"/>
                </a:lnTo>
                <a:cubicBezTo>
                  <a:pt x="4152620" y="1274640"/>
                  <a:pt x="4090577" y="1310180"/>
                  <a:pt x="4037747" y="1352837"/>
                </a:cubicBezTo>
                <a:cubicBezTo>
                  <a:pt x="4062533" y="1341442"/>
                  <a:pt x="4087944" y="1331600"/>
                  <a:pt x="4113362" y="1321759"/>
                </a:cubicBezTo>
                <a:cubicBezTo>
                  <a:pt x="4137990" y="1312227"/>
                  <a:pt x="4162627" y="1302697"/>
                  <a:pt x="4186634" y="1291618"/>
                </a:cubicBezTo>
                <a:cubicBezTo>
                  <a:pt x="4265418" y="1256083"/>
                  <a:pt x="4339921" y="1203284"/>
                  <a:pt x="4399674" y="1160983"/>
                </a:cubicBezTo>
                <a:cubicBezTo>
                  <a:pt x="4481551" y="1102940"/>
                  <a:pt x="4554724" y="1050225"/>
                  <a:pt x="4618435" y="986418"/>
                </a:cubicBezTo>
                <a:cubicBezTo>
                  <a:pt x="4660678" y="944429"/>
                  <a:pt x="4695591" y="899980"/>
                  <a:pt x="4722484" y="854709"/>
                </a:cubicBezTo>
                <a:close/>
                <a:moveTo>
                  <a:pt x="1456504" y="777000"/>
                </a:moveTo>
                <a:cubicBezTo>
                  <a:pt x="1456064" y="782606"/>
                  <a:pt x="1455073" y="787979"/>
                  <a:pt x="1454399" y="794136"/>
                </a:cubicBezTo>
                <a:cubicBezTo>
                  <a:pt x="1451982" y="810498"/>
                  <a:pt x="1450340" y="826538"/>
                  <a:pt x="1448466" y="843129"/>
                </a:cubicBezTo>
                <a:cubicBezTo>
                  <a:pt x="1443098" y="896870"/>
                  <a:pt x="1442326" y="951907"/>
                  <a:pt x="1442252" y="1005313"/>
                </a:cubicBezTo>
                <a:cubicBezTo>
                  <a:pt x="1440336" y="1206014"/>
                  <a:pt x="1438833" y="1413328"/>
                  <a:pt x="1469382" y="1614896"/>
                </a:cubicBezTo>
                <a:lnTo>
                  <a:pt x="1472106" y="1632791"/>
                </a:lnTo>
                <a:lnTo>
                  <a:pt x="1479091" y="1680170"/>
                </a:lnTo>
                <a:cubicBezTo>
                  <a:pt x="1479741" y="1669501"/>
                  <a:pt x="1479617" y="1659149"/>
                  <a:pt x="1480043" y="1649028"/>
                </a:cubicBezTo>
                <a:cubicBezTo>
                  <a:pt x="1483046" y="1394060"/>
                  <a:pt x="1486555" y="1130296"/>
                  <a:pt x="1464087" y="871628"/>
                </a:cubicBezTo>
                <a:lnTo>
                  <a:pt x="1462204" y="850229"/>
                </a:lnTo>
                <a:cubicBezTo>
                  <a:pt x="1460150" y="826182"/>
                  <a:pt x="1458096" y="802134"/>
                  <a:pt x="1456504" y="777000"/>
                </a:cubicBezTo>
                <a:close/>
                <a:moveTo>
                  <a:pt x="1483619" y="764662"/>
                </a:moveTo>
                <a:cubicBezTo>
                  <a:pt x="1484834" y="792211"/>
                  <a:pt x="1487677" y="820458"/>
                  <a:pt x="1489670" y="847698"/>
                </a:cubicBezTo>
                <a:lnTo>
                  <a:pt x="1491553" y="869097"/>
                </a:lnTo>
                <a:cubicBezTo>
                  <a:pt x="1513754" y="1119277"/>
                  <a:pt x="1511208" y="1373147"/>
                  <a:pt x="1508481" y="1619865"/>
                </a:cubicBezTo>
                <a:cubicBezTo>
                  <a:pt x="1576046" y="1335574"/>
                  <a:pt x="1567527" y="1045475"/>
                  <a:pt x="1483619" y="764662"/>
                </a:cubicBezTo>
                <a:close/>
                <a:moveTo>
                  <a:pt x="1430481" y="630137"/>
                </a:moveTo>
                <a:cubicBezTo>
                  <a:pt x="1267590" y="940376"/>
                  <a:pt x="1333252" y="1302315"/>
                  <a:pt x="1442495" y="1626691"/>
                </a:cubicBezTo>
                <a:lnTo>
                  <a:pt x="1441222" y="1619067"/>
                </a:lnTo>
                <a:cubicBezTo>
                  <a:pt x="1410273" y="1415398"/>
                  <a:pt x="1411692" y="1206762"/>
                  <a:pt x="1414069" y="1004967"/>
                </a:cubicBezTo>
                <a:cubicBezTo>
                  <a:pt x="1414375" y="951016"/>
                  <a:pt x="1414834" y="895204"/>
                  <a:pt x="1420665" y="840369"/>
                </a:cubicBezTo>
                <a:cubicBezTo>
                  <a:pt x="1422537" y="823783"/>
                  <a:pt x="1424411" y="807192"/>
                  <a:pt x="1426829" y="790831"/>
                </a:cubicBezTo>
                <a:cubicBezTo>
                  <a:pt x="1433522" y="737010"/>
                  <a:pt x="1440125" y="681866"/>
                  <a:pt x="1430481" y="630137"/>
                </a:cubicBezTo>
                <a:close/>
                <a:moveTo>
                  <a:pt x="4023796" y="623931"/>
                </a:moveTo>
                <a:cubicBezTo>
                  <a:pt x="3998086" y="637515"/>
                  <a:pt x="3972609" y="650546"/>
                  <a:pt x="3945729" y="662344"/>
                </a:cubicBezTo>
                <a:cubicBezTo>
                  <a:pt x="3801060" y="727282"/>
                  <a:pt x="3645502" y="758642"/>
                  <a:pt x="3498947" y="818916"/>
                </a:cubicBezTo>
                <a:cubicBezTo>
                  <a:pt x="3325974" y="889896"/>
                  <a:pt x="3184420" y="1008307"/>
                  <a:pt x="3031283" y="1111507"/>
                </a:cubicBezTo>
                <a:cubicBezTo>
                  <a:pt x="3091555" y="1098395"/>
                  <a:pt x="3148558" y="1067158"/>
                  <a:pt x="3203692" y="1035777"/>
                </a:cubicBezTo>
                <a:lnTo>
                  <a:pt x="3218294" y="1027151"/>
                </a:lnTo>
                <a:cubicBezTo>
                  <a:pt x="3353948" y="950027"/>
                  <a:pt x="3497672" y="882756"/>
                  <a:pt x="3636737" y="817377"/>
                </a:cubicBezTo>
                <a:cubicBezTo>
                  <a:pt x="3765775" y="757414"/>
                  <a:pt x="3897289" y="694633"/>
                  <a:pt x="4023796" y="623931"/>
                </a:cubicBezTo>
                <a:close/>
                <a:moveTo>
                  <a:pt x="3311704" y="584486"/>
                </a:moveTo>
                <a:cubicBezTo>
                  <a:pt x="3272983" y="648568"/>
                  <a:pt x="3231536" y="711502"/>
                  <a:pt x="3190778" y="772788"/>
                </a:cubicBezTo>
                <a:cubicBezTo>
                  <a:pt x="3126979" y="868744"/>
                  <a:pt x="3062020" y="967431"/>
                  <a:pt x="3007981" y="1070739"/>
                </a:cubicBezTo>
                <a:cubicBezTo>
                  <a:pt x="3110594" y="966751"/>
                  <a:pt x="3204922" y="819977"/>
                  <a:pt x="3267578" y="693281"/>
                </a:cubicBezTo>
                <a:close/>
                <a:moveTo>
                  <a:pt x="2664888" y="518596"/>
                </a:moveTo>
                <a:cubicBezTo>
                  <a:pt x="2580256" y="532980"/>
                  <a:pt x="2495702" y="548687"/>
                  <a:pt x="2411865" y="567273"/>
                </a:cubicBezTo>
                <a:cubicBezTo>
                  <a:pt x="2215416" y="611580"/>
                  <a:pt x="2055895" y="697916"/>
                  <a:pt x="1896643" y="809468"/>
                </a:cubicBezTo>
                <a:cubicBezTo>
                  <a:pt x="1897193" y="809701"/>
                  <a:pt x="1897736" y="809931"/>
                  <a:pt x="1899055" y="809848"/>
                </a:cubicBezTo>
                <a:cubicBezTo>
                  <a:pt x="2091065" y="728900"/>
                  <a:pt x="2275399" y="656935"/>
                  <a:pt x="2446633" y="596159"/>
                </a:cubicBezTo>
                <a:close/>
                <a:moveTo>
                  <a:pt x="2796924" y="501747"/>
                </a:moveTo>
                <a:lnTo>
                  <a:pt x="2455237" y="622979"/>
                </a:lnTo>
                <a:cubicBezTo>
                  <a:pt x="2296206" y="679263"/>
                  <a:pt x="2126634" y="745243"/>
                  <a:pt x="1949308" y="818889"/>
                </a:cubicBezTo>
                <a:cubicBezTo>
                  <a:pt x="1950089" y="818579"/>
                  <a:pt x="1950089" y="818579"/>
                  <a:pt x="1950634" y="818810"/>
                </a:cubicBezTo>
                <a:cubicBezTo>
                  <a:pt x="2249794" y="764555"/>
                  <a:pt x="2535304" y="633058"/>
                  <a:pt x="2796924" y="501747"/>
                </a:cubicBezTo>
                <a:close/>
                <a:moveTo>
                  <a:pt x="3335099" y="488163"/>
                </a:moveTo>
                <a:lnTo>
                  <a:pt x="3151139" y="734118"/>
                </a:lnTo>
                <a:lnTo>
                  <a:pt x="3136980" y="753877"/>
                </a:lnTo>
                <a:cubicBezTo>
                  <a:pt x="3108114" y="793161"/>
                  <a:pt x="3082736" y="828772"/>
                  <a:pt x="3062043" y="867004"/>
                </a:cubicBezTo>
                <a:cubicBezTo>
                  <a:pt x="3033701" y="918746"/>
                  <a:pt x="3011684" y="973805"/>
                  <a:pt x="2994594" y="1035452"/>
                </a:cubicBezTo>
                <a:cubicBezTo>
                  <a:pt x="3046947" y="939156"/>
                  <a:pt x="3107576" y="847655"/>
                  <a:pt x="3167517" y="757788"/>
                </a:cubicBezTo>
                <a:cubicBezTo>
                  <a:pt x="3225200" y="670189"/>
                  <a:pt x="3284135" y="581180"/>
                  <a:pt x="3335099" y="488163"/>
                </a:cubicBezTo>
                <a:close/>
                <a:moveTo>
                  <a:pt x="2891507" y="485136"/>
                </a:moveTo>
                <a:cubicBezTo>
                  <a:pt x="2633092" y="616512"/>
                  <a:pt x="2348081" y="755947"/>
                  <a:pt x="2047508" y="825701"/>
                </a:cubicBezTo>
                <a:cubicBezTo>
                  <a:pt x="2357909" y="831572"/>
                  <a:pt x="2636584" y="667562"/>
                  <a:pt x="2891507" y="485136"/>
                </a:cubicBezTo>
                <a:close/>
                <a:moveTo>
                  <a:pt x="4418489" y="483936"/>
                </a:moveTo>
                <a:cubicBezTo>
                  <a:pt x="4332433" y="547295"/>
                  <a:pt x="4242855" y="605296"/>
                  <a:pt x="4155290" y="661575"/>
                </a:cubicBezTo>
                <a:cubicBezTo>
                  <a:pt x="3969451" y="781189"/>
                  <a:pt x="3777243" y="905190"/>
                  <a:pt x="3571040" y="996875"/>
                </a:cubicBezTo>
                <a:cubicBezTo>
                  <a:pt x="3418056" y="1064725"/>
                  <a:pt x="3258062" y="1114166"/>
                  <a:pt x="3093710" y="1145020"/>
                </a:cubicBezTo>
                <a:cubicBezTo>
                  <a:pt x="3128860" y="1154752"/>
                  <a:pt x="3165333" y="1164394"/>
                  <a:pt x="3207527" y="1163586"/>
                </a:cubicBezTo>
                <a:cubicBezTo>
                  <a:pt x="3359545" y="1160350"/>
                  <a:pt x="3521798" y="1058435"/>
                  <a:pt x="3652751" y="990907"/>
                </a:cubicBezTo>
                <a:cubicBezTo>
                  <a:pt x="3834432" y="897860"/>
                  <a:pt x="4013510" y="797268"/>
                  <a:pt x="4180906" y="680145"/>
                </a:cubicBezTo>
                <a:cubicBezTo>
                  <a:pt x="4224133" y="649515"/>
                  <a:pt x="4353624" y="550475"/>
                  <a:pt x="4418489" y="483936"/>
                </a:cubicBezTo>
                <a:close/>
                <a:moveTo>
                  <a:pt x="3316944" y="465669"/>
                </a:moveTo>
                <a:cubicBezTo>
                  <a:pt x="3194809" y="521478"/>
                  <a:pt x="2954579" y="894258"/>
                  <a:pt x="2958819" y="1062158"/>
                </a:cubicBezTo>
                <a:cubicBezTo>
                  <a:pt x="2971057" y="1011968"/>
                  <a:pt x="2985641" y="965354"/>
                  <a:pt x="3004132" y="921679"/>
                </a:cubicBezTo>
                <a:cubicBezTo>
                  <a:pt x="3014072" y="898200"/>
                  <a:pt x="3025105" y="875187"/>
                  <a:pt x="3037224" y="852631"/>
                </a:cubicBezTo>
                <a:cubicBezTo>
                  <a:pt x="3058615" y="812759"/>
                  <a:pt x="3085004" y="776291"/>
                  <a:pt x="3114637" y="736692"/>
                </a:cubicBezTo>
                <a:lnTo>
                  <a:pt x="3128801" y="716935"/>
                </a:lnTo>
                <a:cubicBezTo>
                  <a:pt x="3193882" y="628604"/>
                  <a:pt x="3252848" y="548625"/>
                  <a:pt x="3316944" y="465669"/>
                </a:cubicBezTo>
                <a:close/>
                <a:moveTo>
                  <a:pt x="4448894" y="422768"/>
                </a:moveTo>
                <a:cubicBezTo>
                  <a:pt x="4372745" y="436884"/>
                  <a:pt x="4303112" y="482734"/>
                  <a:pt x="4235585" y="528178"/>
                </a:cubicBezTo>
                <a:lnTo>
                  <a:pt x="4213155" y="543149"/>
                </a:lnTo>
                <a:cubicBezTo>
                  <a:pt x="4035485" y="661715"/>
                  <a:pt x="3839402" y="753816"/>
                  <a:pt x="3649218" y="842623"/>
                </a:cubicBezTo>
                <a:cubicBezTo>
                  <a:pt x="3510392" y="907459"/>
                  <a:pt x="3367451" y="974411"/>
                  <a:pt x="3232564" y="1051220"/>
                </a:cubicBezTo>
                <a:lnTo>
                  <a:pt x="3217970" y="1059849"/>
                </a:lnTo>
                <a:cubicBezTo>
                  <a:pt x="3184886" y="1078679"/>
                  <a:pt x="3151576" y="1098052"/>
                  <a:pt x="3116688" y="1113543"/>
                </a:cubicBezTo>
                <a:cubicBezTo>
                  <a:pt x="3269055" y="1082118"/>
                  <a:pt x="3417223" y="1034762"/>
                  <a:pt x="3559098" y="971858"/>
                </a:cubicBezTo>
                <a:cubicBezTo>
                  <a:pt x="3763514" y="881353"/>
                  <a:pt x="3954942" y="757667"/>
                  <a:pt x="4140004" y="638368"/>
                </a:cubicBezTo>
                <a:cubicBezTo>
                  <a:pt x="4244649" y="570645"/>
                  <a:pt x="4351849" y="501435"/>
                  <a:pt x="4451852" y="423380"/>
                </a:cubicBezTo>
                <a:cubicBezTo>
                  <a:pt x="4450763" y="422918"/>
                  <a:pt x="4450211" y="422686"/>
                  <a:pt x="4448894" y="422768"/>
                </a:cubicBezTo>
                <a:close/>
                <a:moveTo>
                  <a:pt x="680568" y="416949"/>
                </a:moveTo>
                <a:cubicBezTo>
                  <a:pt x="573847" y="489578"/>
                  <a:pt x="483985" y="589312"/>
                  <a:pt x="394452" y="694330"/>
                </a:cubicBezTo>
                <a:lnTo>
                  <a:pt x="340402" y="759654"/>
                </a:lnTo>
                <a:close/>
                <a:moveTo>
                  <a:pt x="827699" y="416143"/>
                </a:moveTo>
                <a:cubicBezTo>
                  <a:pt x="835728" y="454953"/>
                  <a:pt x="841663" y="494162"/>
                  <a:pt x="841524" y="534021"/>
                </a:cubicBezTo>
                <a:cubicBezTo>
                  <a:pt x="841577" y="581042"/>
                  <a:pt x="833611" y="627240"/>
                  <a:pt x="825554" y="672115"/>
                </a:cubicBezTo>
                <a:cubicBezTo>
                  <a:pt x="819855" y="703824"/>
                  <a:pt x="814239" y="736857"/>
                  <a:pt x="811499" y="769176"/>
                </a:cubicBezTo>
                <a:cubicBezTo>
                  <a:pt x="803608" y="866910"/>
                  <a:pt x="822564" y="965070"/>
                  <a:pt x="841586" y="1060039"/>
                </a:cubicBezTo>
                <a:cubicBezTo>
                  <a:pt x="870658" y="1208834"/>
                  <a:pt x="901383" y="1362838"/>
                  <a:pt x="942912" y="1511108"/>
                </a:cubicBezTo>
                <a:cubicBezTo>
                  <a:pt x="977911" y="1186645"/>
                  <a:pt x="995896" y="815698"/>
                  <a:pt x="884057" y="521768"/>
                </a:cubicBezTo>
                <a:cubicBezTo>
                  <a:pt x="868776" y="481820"/>
                  <a:pt x="846755" y="448679"/>
                  <a:pt x="827699" y="416143"/>
                </a:cubicBezTo>
                <a:close/>
                <a:moveTo>
                  <a:pt x="798883" y="414244"/>
                </a:moveTo>
                <a:cubicBezTo>
                  <a:pt x="695211" y="736679"/>
                  <a:pt x="755992" y="1050836"/>
                  <a:pt x="875825" y="1357811"/>
                </a:cubicBezTo>
                <a:cubicBezTo>
                  <a:pt x="852896" y="1259904"/>
                  <a:pt x="833394" y="1161513"/>
                  <a:pt x="814514" y="1064671"/>
                </a:cubicBezTo>
                <a:cubicBezTo>
                  <a:pt x="795638" y="967838"/>
                  <a:pt x="775736" y="867346"/>
                  <a:pt x="783698" y="766414"/>
                </a:cubicBezTo>
                <a:cubicBezTo>
                  <a:pt x="786354" y="732777"/>
                  <a:pt x="792197" y="699198"/>
                  <a:pt x="798129" y="666939"/>
                </a:cubicBezTo>
                <a:cubicBezTo>
                  <a:pt x="805719" y="623158"/>
                  <a:pt x="813776" y="578281"/>
                  <a:pt x="813894" y="533909"/>
                </a:cubicBezTo>
                <a:cubicBezTo>
                  <a:pt x="813480" y="493822"/>
                  <a:pt x="807234" y="453832"/>
                  <a:pt x="798883" y="414244"/>
                </a:cubicBezTo>
                <a:close/>
                <a:moveTo>
                  <a:pt x="673202" y="388720"/>
                </a:moveTo>
                <a:cubicBezTo>
                  <a:pt x="560862" y="422924"/>
                  <a:pt x="473506" y="490876"/>
                  <a:pt x="392779" y="596411"/>
                </a:cubicBezTo>
                <a:cubicBezTo>
                  <a:pt x="345173" y="658663"/>
                  <a:pt x="304966" y="720182"/>
                  <a:pt x="270088" y="790400"/>
                </a:cubicBezTo>
                <a:cubicBezTo>
                  <a:pt x="265839" y="798902"/>
                  <a:pt x="262292" y="805767"/>
                  <a:pt x="259285" y="812869"/>
                </a:cubicBezTo>
                <a:cubicBezTo>
                  <a:pt x="297306" y="767160"/>
                  <a:pt x="334780" y="721219"/>
                  <a:pt x="372890" y="676832"/>
                </a:cubicBezTo>
                <a:cubicBezTo>
                  <a:pt x="466138" y="567590"/>
                  <a:pt x="560501" y="463327"/>
                  <a:pt x="673202" y="388720"/>
                </a:cubicBezTo>
                <a:close/>
                <a:moveTo>
                  <a:pt x="1628210" y="0"/>
                </a:moveTo>
                <a:lnTo>
                  <a:pt x="1748399" y="0"/>
                </a:lnTo>
                <a:lnTo>
                  <a:pt x="1783391" y="17650"/>
                </a:lnTo>
                <a:cubicBezTo>
                  <a:pt x="1878225" y="54329"/>
                  <a:pt x="1980824" y="64330"/>
                  <a:pt x="2084193" y="69947"/>
                </a:cubicBezTo>
                <a:cubicBezTo>
                  <a:pt x="2305723" y="81971"/>
                  <a:pt x="2525917" y="56091"/>
                  <a:pt x="2744101" y="15192"/>
                </a:cubicBezTo>
                <a:cubicBezTo>
                  <a:pt x="2562964" y="37013"/>
                  <a:pt x="2380220" y="45912"/>
                  <a:pt x="2197414" y="41266"/>
                </a:cubicBezTo>
                <a:cubicBezTo>
                  <a:pt x="2092695" y="38460"/>
                  <a:pt x="1999575" y="31066"/>
                  <a:pt x="1914967" y="18583"/>
                </a:cubicBezTo>
                <a:lnTo>
                  <a:pt x="1815559" y="0"/>
                </a:lnTo>
                <a:lnTo>
                  <a:pt x="2001666" y="0"/>
                </a:lnTo>
                <a:lnTo>
                  <a:pt x="2036517" y="4274"/>
                </a:lnTo>
                <a:cubicBezTo>
                  <a:pt x="2087672" y="8689"/>
                  <a:pt x="2141872" y="11637"/>
                  <a:pt x="2199623" y="13232"/>
                </a:cubicBezTo>
                <a:cubicBezTo>
                  <a:pt x="2273140" y="15225"/>
                  <a:pt x="2346666" y="15008"/>
                  <a:pt x="2420103" y="12601"/>
                </a:cubicBezTo>
                <a:lnTo>
                  <a:pt x="2621330" y="0"/>
                </a:lnTo>
                <a:lnTo>
                  <a:pt x="3076571" y="0"/>
                </a:lnTo>
                <a:lnTo>
                  <a:pt x="2924796" y="36772"/>
                </a:lnTo>
                <a:cubicBezTo>
                  <a:pt x="2603232" y="110795"/>
                  <a:pt x="2272273" y="167441"/>
                  <a:pt x="1946203" y="131277"/>
                </a:cubicBezTo>
                <a:cubicBezTo>
                  <a:pt x="1847872" y="120226"/>
                  <a:pt x="1775939" y="84460"/>
                  <a:pt x="1707026" y="44983"/>
                </a:cubicBezTo>
                <a:close/>
                <a:moveTo>
                  <a:pt x="1007398" y="0"/>
                </a:moveTo>
                <a:lnTo>
                  <a:pt x="1105902" y="0"/>
                </a:lnTo>
                <a:lnTo>
                  <a:pt x="1191939" y="117664"/>
                </a:lnTo>
                <a:cubicBezTo>
                  <a:pt x="1366125" y="341427"/>
                  <a:pt x="1562103" y="551148"/>
                  <a:pt x="1780907" y="743734"/>
                </a:cubicBezTo>
                <a:cubicBezTo>
                  <a:pt x="1801144" y="761313"/>
                  <a:pt x="1821617" y="778348"/>
                  <a:pt x="1841857" y="795932"/>
                </a:cubicBezTo>
                <a:cubicBezTo>
                  <a:pt x="1990610" y="686371"/>
                  <a:pt x="2139633" y="585288"/>
                  <a:pt x="2317896" y="530713"/>
                </a:cubicBezTo>
                <a:cubicBezTo>
                  <a:pt x="2542030" y="462073"/>
                  <a:pt x="2783392" y="434854"/>
                  <a:pt x="3015228" y="399738"/>
                </a:cubicBezTo>
                <a:cubicBezTo>
                  <a:pt x="3052333" y="394202"/>
                  <a:pt x="3010950" y="453937"/>
                  <a:pt x="3000782" y="461219"/>
                </a:cubicBezTo>
                <a:cubicBezTo>
                  <a:pt x="2693972" y="688641"/>
                  <a:pt x="2350770" y="924476"/>
                  <a:pt x="1963190" y="895589"/>
                </a:cubicBezTo>
                <a:cubicBezTo>
                  <a:pt x="2149512" y="1044003"/>
                  <a:pt x="2346363" y="1178199"/>
                  <a:pt x="2552180" y="1298815"/>
                </a:cubicBezTo>
                <a:cubicBezTo>
                  <a:pt x="2674551" y="1263712"/>
                  <a:pt x="2789192" y="1186061"/>
                  <a:pt x="2904618" y="1146081"/>
                </a:cubicBezTo>
                <a:cubicBezTo>
                  <a:pt x="2811839" y="901425"/>
                  <a:pt x="3283913" y="443317"/>
                  <a:pt x="3428829" y="310883"/>
                </a:cubicBezTo>
                <a:cubicBezTo>
                  <a:pt x="3440380" y="300321"/>
                  <a:pt x="3459741" y="295643"/>
                  <a:pt x="3452135" y="318176"/>
                </a:cubicBezTo>
                <a:cubicBezTo>
                  <a:pt x="3377952" y="531416"/>
                  <a:pt x="3301457" y="750112"/>
                  <a:pt x="3169464" y="935661"/>
                </a:cubicBezTo>
                <a:cubicBezTo>
                  <a:pt x="3150662" y="961821"/>
                  <a:pt x="3003773" y="1105010"/>
                  <a:pt x="3049395" y="1070245"/>
                </a:cubicBezTo>
                <a:cubicBezTo>
                  <a:pt x="3162985" y="984423"/>
                  <a:pt x="3272630" y="886628"/>
                  <a:pt x="3401235" y="815534"/>
                </a:cubicBezTo>
                <a:cubicBezTo>
                  <a:pt x="3665893" y="669415"/>
                  <a:pt x="3968082" y="612577"/>
                  <a:pt x="4236947" y="465665"/>
                </a:cubicBezTo>
                <a:cubicBezTo>
                  <a:pt x="4280594" y="441649"/>
                  <a:pt x="4494768" y="287033"/>
                  <a:pt x="4565962" y="350012"/>
                </a:cubicBezTo>
                <a:cubicBezTo>
                  <a:pt x="4574408" y="357446"/>
                  <a:pt x="4561570" y="377121"/>
                  <a:pt x="4557937" y="382666"/>
                </a:cubicBezTo>
                <a:cubicBezTo>
                  <a:pt x="4368036" y="694348"/>
                  <a:pt x="3934455" y="895784"/>
                  <a:pt x="3621049" y="1056676"/>
                </a:cubicBezTo>
                <a:cubicBezTo>
                  <a:pt x="3449155" y="1144851"/>
                  <a:pt x="3289873" y="1230645"/>
                  <a:pt x="3094000" y="1229477"/>
                </a:cubicBezTo>
                <a:cubicBezTo>
                  <a:pt x="2989297" y="1228927"/>
                  <a:pt x="2920834" y="1221837"/>
                  <a:pt x="2813197" y="1263181"/>
                </a:cubicBezTo>
                <a:cubicBezTo>
                  <a:pt x="2746514" y="1288380"/>
                  <a:pt x="2682165" y="1312641"/>
                  <a:pt x="2615776" y="1334114"/>
                </a:cubicBezTo>
                <a:cubicBezTo>
                  <a:pt x="2856074" y="1470609"/>
                  <a:pt x="3106867" y="1588379"/>
                  <a:pt x="3364982" y="1687356"/>
                </a:cubicBezTo>
                <a:cubicBezTo>
                  <a:pt x="3367545" y="1685866"/>
                  <a:pt x="3369560" y="1684144"/>
                  <a:pt x="3371663" y="1683743"/>
                </a:cubicBezTo>
                <a:cubicBezTo>
                  <a:pt x="3559080" y="1639479"/>
                  <a:pt x="3730923" y="1559010"/>
                  <a:pt x="3883310" y="1443899"/>
                </a:cubicBezTo>
                <a:cubicBezTo>
                  <a:pt x="3885702" y="1439761"/>
                  <a:pt x="3888566" y="1434532"/>
                  <a:pt x="3892746" y="1429225"/>
                </a:cubicBezTo>
                <a:cubicBezTo>
                  <a:pt x="4100854" y="1154547"/>
                  <a:pt x="4425526" y="995756"/>
                  <a:pt x="4699980" y="789523"/>
                </a:cubicBezTo>
                <a:lnTo>
                  <a:pt x="4724400" y="769876"/>
                </a:lnTo>
                <a:lnTo>
                  <a:pt x="4724400" y="802845"/>
                </a:lnTo>
                <a:lnTo>
                  <a:pt x="4705958" y="821317"/>
                </a:lnTo>
                <a:cubicBezTo>
                  <a:pt x="4688728" y="839775"/>
                  <a:pt x="4668259" y="862655"/>
                  <a:pt x="4649798" y="877374"/>
                </a:cubicBezTo>
                <a:cubicBezTo>
                  <a:pt x="4443742" y="1038644"/>
                  <a:pt x="4191500" y="1158472"/>
                  <a:pt x="4005326" y="1344259"/>
                </a:cubicBezTo>
                <a:cubicBezTo>
                  <a:pt x="4063256" y="1294104"/>
                  <a:pt x="4132215" y="1254410"/>
                  <a:pt x="4199378" y="1215889"/>
                </a:cubicBezTo>
                <a:cubicBezTo>
                  <a:pt x="4212968" y="1208123"/>
                  <a:pt x="4226555" y="1200357"/>
                  <a:pt x="4239600" y="1192361"/>
                </a:cubicBezTo>
                <a:cubicBezTo>
                  <a:pt x="4399481" y="1099094"/>
                  <a:pt x="4542878" y="976320"/>
                  <a:pt x="4677037" y="858646"/>
                </a:cubicBezTo>
                <a:lnTo>
                  <a:pt x="4724400" y="810414"/>
                </a:lnTo>
                <a:lnTo>
                  <a:pt x="4724400" y="916439"/>
                </a:lnTo>
                <a:lnTo>
                  <a:pt x="4683030" y="982925"/>
                </a:lnTo>
                <a:cubicBezTo>
                  <a:pt x="4504646" y="1237618"/>
                  <a:pt x="4252054" y="1416530"/>
                  <a:pt x="3921884" y="1469889"/>
                </a:cubicBezTo>
                <a:cubicBezTo>
                  <a:pt x="3782100" y="1582602"/>
                  <a:pt x="3625917" y="1667134"/>
                  <a:pt x="3456136" y="1721439"/>
                </a:cubicBezTo>
                <a:cubicBezTo>
                  <a:pt x="3511887" y="1741826"/>
                  <a:pt x="3567869" y="1761662"/>
                  <a:pt x="3624313" y="1780406"/>
                </a:cubicBezTo>
                <a:cubicBezTo>
                  <a:pt x="3850637" y="1855623"/>
                  <a:pt x="4076864" y="1908264"/>
                  <a:pt x="4303638" y="1944400"/>
                </a:cubicBezTo>
                <a:cubicBezTo>
                  <a:pt x="4307581" y="1939634"/>
                  <a:pt x="4311304" y="1935410"/>
                  <a:pt x="4315566" y="1931422"/>
                </a:cubicBezTo>
                <a:cubicBezTo>
                  <a:pt x="4418123" y="1797152"/>
                  <a:pt x="4522970" y="1669642"/>
                  <a:pt x="4664388" y="1574357"/>
                </a:cubicBezTo>
                <a:lnTo>
                  <a:pt x="4724400" y="1537429"/>
                </a:lnTo>
                <a:lnTo>
                  <a:pt x="4724400" y="1589108"/>
                </a:lnTo>
                <a:lnTo>
                  <a:pt x="4644505" y="1640352"/>
                </a:lnTo>
                <a:cubicBezTo>
                  <a:pt x="4543719" y="1713959"/>
                  <a:pt x="4461038" y="1801479"/>
                  <a:pt x="4381603" y="1900149"/>
                </a:cubicBezTo>
                <a:cubicBezTo>
                  <a:pt x="4415438" y="1876488"/>
                  <a:pt x="4447471" y="1849494"/>
                  <a:pt x="4478726" y="1822808"/>
                </a:cubicBezTo>
                <a:cubicBezTo>
                  <a:pt x="4513234" y="1792997"/>
                  <a:pt x="4549530" y="1762011"/>
                  <a:pt x="4588263" y="1735914"/>
                </a:cubicBezTo>
                <a:cubicBezTo>
                  <a:pt x="4619078" y="1714840"/>
                  <a:pt x="4651924" y="1696556"/>
                  <a:pt x="4683216" y="1678902"/>
                </a:cubicBezTo>
                <a:lnTo>
                  <a:pt x="4724400" y="1655121"/>
                </a:lnTo>
                <a:lnTo>
                  <a:pt x="4724400" y="1686869"/>
                </a:lnTo>
                <a:lnTo>
                  <a:pt x="4696172" y="1703058"/>
                </a:lnTo>
                <a:cubicBezTo>
                  <a:pt x="4665104" y="1720165"/>
                  <a:pt x="4632805" y="1738677"/>
                  <a:pt x="4602997" y="1758893"/>
                </a:cubicBezTo>
                <a:cubicBezTo>
                  <a:pt x="4565822" y="1784357"/>
                  <a:pt x="4530304" y="1815035"/>
                  <a:pt x="4496021" y="1844299"/>
                </a:cubicBezTo>
                <a:cubicBezTo>
                  <a:pt x="4470821" y="1865816"/>
                  <a:pt x="4445614" y="1887338"/>
                  <a:pt x="4419004" y="1907617"/>
                </a:cubicBezTo>
                <a:cubicBezTo>
                  <a:pt x="4509516" y="1884856"/>
                  <a:pt x="4599633" y="1841647"/>
                  <a:pt x="4685975" y="1786372"/>
                </a:cubicBezTo>
                <a:lnTo>
                  <a:pt x="4724400" y="1759693"/>
                </a:lnTo>
                <a:lnTo>
                  <a:pt x="4724400" y="1809459"/>
                </a:lnTo>
                <a:lnTo>
                  <a:pt x="4653762" y="1857561"/>
                </a:lnTo>
                <a:cubicBezTo>
                  <a:pt x="4580587" y="1902591"/>
                  <a:pt x="4504944" y="1939172"/>
                  <a:pt x="4428349" y="1963079"/>
                </a:cubicBezTo>
                <a:lnTo>
                  <a:pt x="4724400" y="1990579"/>
                </a:lnTo>
                <a:lnTo>
                  <a:pt x="4724400" y="2065582"/>
                </a:lnTo>
                <a:lnTo>
                  <a:pt x="4686318" y="2063926"/>
                </a:lnTo>
                <a:lnTo>
                  <a:pt x="4724400" y="2085104"/>
                </a:lnTo>
                <a:lnTo>
                  <a:pt x="4724400" y="2178471"/>
                </a:lnTo>
                <a:lnTo>
                  <a:pt x="4617755" y="2122457"/>
                </a:lnTo>
                <a:lnTo>
                  <a:pt x="4724400" y="2196158"/>
                </a:lnTo>
                <a:lnTo>
                  <a:pt x="4724400" y="2230374"/>
                </a:lnTo>
                <a:lnTo>
                  <a:pt x="4573637" y="2126309"/>
                </a:lnTo>
                <a:cubicBezTo>
                  <a:pt x="4608893" y="2177612"/>
                  <a:pt x="4656401" y="2222030"/>
                  <a:pt x="4706850" y="2262541"/>
                </a:cubicBezTo>
                <a:lnTo>
                  <a:pt x="4724400" y="2275857"/>
                </a:lnTo>
                <a:lnTo>
                  <a:pt x="4724400" y="2377131"/>
                </a:lnTo>
                <a:lnTo>
                  <a:pt x="4688201" y="2349925"/>
                </a:lnTo>
                <a:cubicBezTo>
                  <a:pt x="4579462" y="2264619"/>
                  <a:pt x="4483104" y="2181979"/>
                  <a:pt x="4462564" y="2041945"/>
                </a:cubicBezTo>
                <a:cubicBezTo>
                  <a:pt x="4339738" y="2027929"/>
                  <a:pt x="4217123" y="2008847"/>
                  <a:pt x="4094167" y="1984479"/>
                </a:cubicBezTo>
                <a:cubicBezTo>
                  <a:pt x="4361568" y="2318516"/>
                  <a:pt x="4448657" y="2737804"/>
                  <a:pt x="4520397" y="3153822"/>
                </a:cubicBezTo>
                <a:cubicBezTo>
                  <a:pt x="4524234" y="3176690"/>
                  <a:pt x="4478166" y="3233800"/>
                  <a:pt x="4458958" y="3203134"/>
                </a:cubicBezTo>
                <a:cubicBezTo>
                  <a:pt x="4221037" y="2826855"/>
                  <a:pt x="3875607" y="2452063"/>
                  <a:pt x="3972830" y="1973028"/>
                </a:cubicBezTo>
                <a:cubicBezTo>
                  <a:pt x="3973903" y="1968973"/>
                  <a:pt x="3975983" y="1964061"/>
                  <a:pt x="3979154" y="1959605"/>
                </a:cubicBezTo>
                <a:cubicBezTo>
                  <a:pt x="3847070" y="1929437"/>
                  <a:pt x="3715197" y="1894208"/>
                  <a:pt x="3583051" y="1850495"/>
                </a:cubicBezTo>
                <a:cubicBezTo>
                  <a:pt x="3357823" y="1775743"/>
                  <a:pt x="3137042" y="1687421"/>
                  <a:pt x="2922360" y="1586232"/>
                </a:cubicBezTo>
                <a:cubicBezTo>
                  <a:pt x="2956249" y="1697796"/>
                  <a:pt x="3014099" y="1805979"/>
                  <a:pt x="3033099" y="1913175"/>
                </a:cubicBezTo>
                <a:cubicBezTo>
                  <a:pt x="3035371" y="1915419"/>
                  <a:pt x="3037950" y="1918445"/>
                  <a:pt x="3040214" y="1920694"/>
                </a:cubicBezTo>
                <a:cubicBezTo>
                  <a:pt x="3043936" y="1916469"/>
                  <a:pt x="3048200" y="1912482"/>
                  <a:pt x="3051308" y="1911226"/>
                </a:cubicBezTo>
                <a:cubicBezTo>
                  <a:pt x="3335533" y="1788841"/>
                  <a:pt x="3650972" y="2264893"/>
                  <a:pt x="3791335" y="2442781"/>
                </a:cubicBezTo>
                <a:cubicBezTo>
                  <a:pt x="3804329" y="2459223"/>
                  <a:pt x="3763010" y="2515770"/>
                  <a:pt x="3744063" y="2510325"/>
                </a:cubicBezTo>
                <a:cubicBezTo>
                  <a:pt x="3485213" y="2437432"/>
                  <a:pt x="3287280" y="2286035"/>
                  <a:pt x="3103695" y="2105302"/>
                </a:cubicBezTo>
                <a:cubicBezTo>
                  <a:pt x="3126339" y="2333141"/>
                  <a:pt x="3009845" y="2625036"/>
                  <a:pt x="2968137" y="2805672"/>
                </a:cubicBezTo>
                <a:cubicBezTo>
                  <a:pt x="2930699" y="2965580"/>
                  <a:pt x="2891878" y="3078554"/>
                  <a:pt x="2739231" y="3151701"/>
                </a:cubicBezTo>
                <a:cubicBezTo>
                  <a:pt x="2726335" y="3157832"/>
                  <a:pt x="2726972" y="3142650"/>
                  <a:pt x="2728882" y="3135084"/>
                </a:cubicBezTo>
                <a:cubicBezTo>
                  <a:pt x="2806473" y="2811909"/>
                  <a:pt x="2836690" y="2478979"/>
                  <a:pt x="2914282" y="2155807"/>
                </a:cubicBezTo>
                <a:cubicBezTo>
                  <a:pt x="2927505" y="2100241"/>
                  <a:pt x="2969504" y="2020803"/>
                  <a:pt x="2971660" y="1962486"/>
                </a:cubicBezTo>
                <a:cubicBezTo>
                  <a:pt x="2971891" y="1961942"/>
                  <a:pt x="2971575" y="1961166"/>
                  <a:pt x="2971809" y="1960615"/>
                </a:cubicBezTo>
                <a:cubicBezTo>
                  <a:pt x="2971875" y="1957427"/>
                  <a:pt x="2972485" y="1954468"/>
                  <a:pt x="2972315" y="1951821"/>
                </a:cubicBezTo>
                <a:cubicBezTo>
                  <a:pt x="2966359" y="1836632"/>
                  <a:pt x="2865027" y="1683636"/>
                  <a:pt x="2846641" y="1556749"/>
                </a:cubicBezTo>
                <a:cubicBezTo>
                  <a:pt x="2846247" y="1554649"/>
                  <a:pt x="2846851" y="1551688"/>
                  <a:pt x="2847461" y="1548729"/>
                </a:cubicBezTo>
                <a:cubicBezTo>
                  <a:pt x="2570813" y="1412938"/>
                  <a:pt x="2306528" y="1254043"/>
                  <a:pt x="2058558" y="1071804"/>
                </a:cubicBezTo>
                <a:cubicBezTo>
                  <a:pt x="2118947" y="1245450"/>
                  <a:pt x="2231454" y="1407035"/>
                  <a:pt x="2291089" y="1585512"/>
                </a:cubicBezTo>
                <a:cubicBezTo>
                  <a:pt x="2383696" y="1860991"/>
                  <a:pt x="2441466" y="2144264"/>
                  <a:pt x="2473792" y="2432858"/>
                </a:cubicBezTo>
                <a:cubicBezTo>
                  <a:pt x="2475176" y="2446319"/>
                  <a:pt x="2431252" y="2512059"/>
                  <a:pt x="2420124" y="2495762"/>
                </a:cubicBezTo>
                <a:cubicBezTo>
                  <a:pt x="2291230" y="2305989"/>
                  <a:pt x="2208353" y="2083557"/>
                  <a:pt x="2119846" y="1872898"/>
                </a:cubicBezTo>
                <a:cubicBezTo>
                  <a:pt x="2037236" y="1675682"/>
                  <a:pt x="1982639" y="1492905"/>
                  <a:pt x="1995210" y="1288346"/>
                </a:cubicBezTo>
                <a:cubicBezTo>
                  <a:pt x="1948480" y="1372857"/>
                  <a:pt x="1900430" y="1457457"/>
                  <a:pt x="1850975" y="1540820"/>
                </a:cubicBezTo>
                <a:cubicBezTo>
                  <a:pt x="1816437" y="1599587"/>
                  <a:pt x="1789540" y="1661598"/>
                  <a:pt x="1723490" y="1688355"/>
                </a:cubicBezTo>
                <a:cubicBezTo>
                  <a:pt x="1718826" y="1690241"/>
                  <a:pt x="1711811" y="1688563"/>
                  <a:pt x="1710157" y="1683354"/>
                </a:cubicBezTo>
                <a:cubicBezTo>
                  <a:pt x="1675928" y="1583238"/>
                  <a:pt x="1752515" y="1420588"/>
                  <a:pt x="1807265" y="1336896"/>
                </a:cubicBezTo>
                <a:cubicBezTo>
                  <a:pt x="1856904" y="1260695"/>
                  <a:pt x="1925612" y="1200294"/>
                  <a:pt x="2011049" y="1173376"/>
                </a:cubicBezTo>
                <a:cubicBezTo>
                  <a:pt x="2011743" y="1171736"/>
                  <a:pt x="2013211" y="1169782"/>
                  <a:pt x="2014681" y="1167830"/>
                </a:cubicBezTo>
                <a:cubicBezTo>
                  <a:pt x="1995942" y="1119335"/>
                  <a:pt x="1980541" y="1069035"/>
                  <a:pt x="1971037" y="1015438"/>
                </a:cubicBezTo>
                <a:cubicBezTo>
                  <a:pt x="1970873" y="1012795"/>
                  <a:pt x="1971247" y="1010377"/>
                  <a:pt x="1971858" y="1007420"/>
                </a:cubicBezTo>
                <a:cubicBezTo>
                  <a:pt x="1889219" y="944106"/>
                  <a:pt x="1807963" y="877509"/>
                  <a:pt x="1729505" y="808882"/>
                </a:cubicBezTo>
                <a:cubicBezTo>
                  <a:pt x="1652132" y="740719"/>
                  <a:pt x="1577790" y="669969"/>
                  <a:pt x="1506007" y="597733"/>
                </a:cubicBezTo>
                <a:cubicBezTo>
                  <a:pt x="1650265" y="988437"/>
                  <a:pt x="1648039" y="1402749"/>
                  <a:pt x="1499912" y="1795211"/>
                </a:cubicBezTo>
                <a:cubicBezTo>
                  <a:pt x="1496995" y="1803635"/>
                  <a:pt x="1454455" y="1866099"/>
                  <a:pt x="1444926" y="1841464"/>
                </a:cubicBezTo>
                <a:cubicBezTo>
                  <a:pt x="1288444" y="1433999"/>
                  <a:pt x="1179507" y="967467"/>
                  <a:pt x="1425791" y="572788"/>
                </a:cubicBezTo>
                <a:cubicBezTo>
                  <a:pt x="1428418" y="568101"/>
                  <a:pt x="1431907" y="564428"/>
                  <a:pt x="1435390" y="560750"/>
                </a:cubicBezTo>
                <a:cubicBezTo>
                  <a:pt x="1440033" y="554349"/>
                  <a:pt x="1445996" y="547863"/>
                  <a:pt x="1451502" y="542471"/>
                </a:cubicBezTo>
                <a:cubicBezTo>
                  <a:pt x="1361214" y="448553"/>
                  <a:pt x="1275425" y="351231"/>
                  <a:pt x="1194128" y="250903"/>
                </a:cubicBezTo>
                <a:close/>
                <a:moveTo>
                  <a:pt x="890158" y="0"/>
                </a:moveTo>
                <a:lnTo>
                  <a:pt x="937892" y="0"/>
                </a:lnTo>
                <a:lnTo>
                  <a:pt x="924483" y="30495"/>
                </a:lnTo>
                <a:cubicBezTo>
                  <a:pt x="886566" y="121698"/>
                  <a:pt x="856718" y="217584"/>
                  <a:pt x="872288" y="306259"/>
                </a:cubicBezTo>
                <a:cubicBezTo>
                  <a:pt x="896800" y="446040"/>
                  <a:pt x="987449" y="577127"/>
                  <a:pt x="1006247" y="727373"/>
                </a:cubicBezTo>
                <a:cubicBezTo>
                  <a:pt x="1042700" y="1013846"/>
                  <a:pt x="1021035" y="1326579"/>
                  <a:pt x="986481" y="1611960"/>
                </a:cubicBezTo>
                <a:cubicBezTo>
                  <a:pt x="984668" y="1625361"/>
                  <a:pt x="941918" y="1692886"/>
                  <a:pt x="928400" y="1663986"/>
                </a:cubicBezTo>
                <a:cubicBezTo>
                  <a:pt x="723163" y="1233305"/>
                  <a:pt x="596239" y="818387"/>
                  <a:pt x="771281" y="368438"/>
                </a:cubicBezTo>
                <a:lnTo>
                  <a:pt x="200540" y="942511"/>
                </a:lnTo>
                <a:cubicBezTo>
                  <a:pt x="190537" y="952438"/>
                  <a:pt x="161507" y="972341"/>
                  <a:pt x="170253" y="942567"/>
                </a:cubicBezTo>
                <a:cubicBezTo>
                  <a:pt x="222670" y="771614"/>
                  <a:pt x="326261" y="624255"/>
                  <a:pt x="442049" y="489150"/>
                </a:cubicBezTo>
                <a:cubicBezTo>
                  <a:pt x="542966" y="370919"/>
                  <a:pt x="644574" y="322520"/>
                  <a:pt x="788582" y="301724"/>
                </a:cubicBezTo>
                <a:cubicBezTo>
                  <a:pt x="788307" y="293239"/>
                  <a:pt x="787808" y="285302"/>
                  <a:pt x="788312" y="276498"/>
                </a:cubicBezTo>
                <a:cubicBezTo>
                  <a:pt x="793051" y="221208"/>
                  <a:pt x="817827" y="155085"/>
                  <a:pt x="847625" y="89075"/>
                </a:cubicBezTo>
                <a:close/>
                <a:moveTo>
                  <a:pt x="29788" y="0"/>
                </a:moveTo>
                <a:lnTo>
                  <a:pt x="93321" y="0"/>
                </a:lnTo>
                <a:lnTo>
                  <a:pt x="79142" y="68966"/>
                </a:lnTo>
                <a:cubicBezTo>
                  <a:pt x="45734" y="225436"/>
                  <a:pt x="26794" y="379659"/>
                  <a:pt x="21253" y="535687"/>
                </a:cubicBezTo>
                <a:lnTo>
                  <a:pt x="61909" y="380358"/>
                </a:lnTo>
                <a:cubicBezTo>
                  <a:pt x="78826" y="316055"/>
                  <a:pt x="96125" y="249346"/>
                  <a:pt x="118339" y="184712"/>
                </a:cubicBezTo>
                <a:cubicBezTo>
                  <a:pt x="129562" y="152119"/>
                  <a:pt x="141878" y="119997"/>
                  <a:pt x="154192" y="87864"/>
                </a:cubicBezTo>
                <a:lnTo>
                  <a:pt x="186604" y="0"/>
                </a:lnTo>
                <a:lnTo>
                  <a:pt x="216386" y="0"/>
                </a:lnTo>
                <a:lnTo>
                  <a:pt x="180314" y="97640"/>
                </a:lnTo>
                <a:cubicBezTo>
                  <a:pt x="168233" y="129221"/>
                  <a:pt x="155916" y="161350"/>
                  <a:pt x="144924" y="193392"/>
                </a:cubicBezTo>
                <a:cubicBezTo>
                  <a:pt x="123175" y="256933"/>
                  <a:pt x="106102" y="323103"/>
                  <a:pt x="89413" y="386853"/>
                </a:cubicBezTo>
                <a:lnTo>
                  <a:pt x="49686" y="539999"/>
                </a:lnTo>
                <a:cubicBezTo>
                  <a:pt x="112204" y="409054"/>
                  <a:pt x="181190" y="283748"/>
                  <a:pt x="236604" y="152292"/>
                </a:cubicBezTo>
                <a:lnTo>
                  <a:pt x="289375" y="0"/>
                </a:lnTo>
                <a:lnTo>
                  <a:pt x="369729" y="0"/>
                </a:lnTo>
                <a:lnTo>
                  <a:pt x="354160" y="65656"/>
                </a:lnTo>
                <a:cubicBezTo>
                  <a:pt x="272180" y="311007"/>
                  <a:pt x="108679" y="519263"/>
                  <a:pt x="21325" y="763628"/>
                </a:cubicBezTo>
                <a:cubicBezTo>
                  <a:pt x="18671" y="771035"/>
                  <a:pt x="13191" y="778653"/>
                  <a:pt x="6426" y="785104"/>
                </a:cubicBezTo>
                <a:lnTo>
                  <a:pt x="0" y="789215"/>
                </a:lnTo>
                <a:lnTo>
                  <a:pt x="0" y="163142"/>
                </a:lnTo>
                <a:lnTo>
                  <a:pt x="20220" y="37416"/>
                </a:lnTo>
                <a:close/>
              </a:path>
            </a:pathLst>
          </a:custGeom>
          <a:solidFill>
            <a:srgbClr val="BEF2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32" name="Google Shape;832;p30"/>
          <p:cNvSpPr/>
          <p:nvPr/>
        </p:nvSpPr>
        <p:spPr>
          <a:xfrm>
            <a:off x="0" y="457201"/>
            <a:ext cx="11734800" cy="5943598"/>
          </a:xfrm>
          <a:prstGeom prst="rect">
            <a:avLst/>
          </a:prstGeom>
          <a:solidFill>
            <a:schemeClr val="lt1"/>
          </a:solidFill>
          <a:ln>
            <a:noFill/>
          </a:ln>
          <a:effectLst>
            <a:outerShdw blurRad="317500" algn="ctr" rotWithShape="0">
              <a:schemeClr val="dk1">
                <a:alpha val="24705"/>
              </a:scheme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833" name="Google Shape;833;p30"/>
          <p:cNvSpPr txBox="1">
            <a:spLocks noGrp="1"/>
          </p:cNvSpPr>
          <p:nvPr>
            <p:ph type="title"/>
          </p:nvPr>
        </p:nvSpPr>
        <p:spPr>
          <a:xfrm>
            <a:off x="685800" y="1676400"/>
            <a:ext cx="3906672" cy="41910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AI in Business: Supply Chain</a:t>
            </a:r>
            <a:endParaRPr/>
          </a:p>
        </p:txBody>
      </p:sp>
      <p:grpSp>
        <p:nvGrpSpPr>
          <p:cNvPr id="834" name="Google Shape;834;p30"/>
          <p:cNvGrpSpPr/>
          <p:nvPr/>
        </p:nvGrpSpPr>
        <p:grpSpPr>
          <a:xfrm>
            <a:off x="4529667" y="596066"/>
            <a:ext cx="6976533" cy="5564267"/>
            <a:chOff x="0" y="3399"/>
            <a:chExt cx="6976533" cy="5564267"/>
          </a:xfrm>
        </p:grpSpPr>
        <p:sp>
          <p:nvSpPr>
            <p:cNvPr id="835" name="Google Shape;835;p30"/>
            <p:cNvSpPr/>
            <p:nvPr/>
          </p:nvSpPr>
          <p:spPr>
            <a:xfrm>
              <a:off x="0" y="3399"/>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0"/>
            <p:cNvSpPr/>
            <p:nvPr/>
          </p:nvSpPr>
          <p:spPr>
            <a:xfrm>
              <a:off x="153453" y="117538"/>
              <a:ext cx="279278" cy="279005"/>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0"/>
            <p:cNvSpPr/>
            <p:nvPr/>
          </p:nvSpPr>
          <p:spPr>
            <a:xfrm>
              <a:off x="586185" y="3399"/>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0"/>
            <p:cNvSpPr txBox="1"/>
            <p:nvPr/>
          </p:nvSpPr>
          <p:spPr>
            <a:xfrm>
              <a:off x="586185" y="3399"/>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Demand Forecasting</a:t>
              </a:r>
              <a:endParaRPr/>
            </a:p>
          </p:txBody>
        </p:sp>
        <p:sp>
          <p:nvSpPr>
            <p:cNvPr id="839" name="Google Shape;839;p30"/>
            <p:cNvSpPr/>
            <p:nvPr/>
          </p:nvSpPr>
          <p:spPr>
            <a:xfrm>
              <a:off x="3725625" y="3399"/>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0"/>
            <p:cNvSpPr txBox="1"/>
            <p:nvPr/>
          </p:nvSpPr>
          <p:spPr>
            <a:xfrm>
              <a:off x="3725625" y="3399"/>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predicts demand trends to optimize inventory.</a:t>
              </a:r>
              <a:endParaRPr/>
            </a:p>
          </p:txBody>
        </p:sp>
        <p:sp>
          <p:nvSpPr>
            <p:cNvPr id="841" name="Google Shape;841;p30"/>
            <p:cNvSpPr/>
            <p:nvPr/>
          </p:nvSpPr>
          <p:spPr>
            <a:xfrm>
              <a:off x="0" y="716767"/>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0"/>
            <p:cNvSpPr/>
            <p:nvPr/>
          </p:nvSpPr>
          <p:spPr>
            <a:xfrm>
              <a:off x="153453" y="830905"/>
              <a:ext cx="279278" cy="279005"/>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0"/>
            <p:cNvSpPr/>
            <p:nvPr/>
          </p:nvSpPr>
          <p:spPr>
            <a:xfrm>
              <a:off x="586185" y="716767"/>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0"/>
            <p:cNvSpPr txBox="1"/>
            <p:nvPr/>
          </p:nvSpPr>
          <p:spPr>
            <a:xfrm>
              <a:off x="586185" y="716767"/>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Inventory Management</a:t>
              </a:r>
              <a:endParaRPr/>
            </a:p>
          </p:txBody>
        </p:sp>
        <p:sp>
          <p:nvSpPr>
            <p:cNvPr id="845" name="Google Shape;845;p30"/>
            <p:cNvSpPr/>
            <p:nvPr/>
          </p:nvSpPr>
          <p:spPr>
            <a:xfrm>
              <a:off x="3725625" y="716767"/>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0"/>
            <p:cNvSpPr txBox="1"/>
            <p:nvPr/>
          </p:nvSpPr>
          <p:spPr>
            <a:xfrm>
              <a:off x="3725625" y="716767"/>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prevents stockouts and reduces excess inventory.</a:t>
              </a:r>
              <a:endParaRPr/>
            </a:p>
          </p:txBody>
        </p:sp>
        <p:sp>
          <p:nvSpPr>
            <p:cNvPr id="847" name="Google Shape;847;p30"/>
            <p:cNvSpPr/>
            <p:nvPr/>
          </p:nvSpPr>
          <p:spPr>
            <a:xfrm>
              <a:off x="0" y="1430134"/>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0"/>
            <p:cNvSpPr/>
            <p:nvPr/>
          </p:nvSpPr>
          <p:spPr>
            <a:xfrm>
              <a:off x="153453" y="1544273"/>
              <a:ext cx="279278" cy="279005"/>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0"/>
            <p:cNvSpPr/>
            <p:nvPr/>
          </p:nvSpPr>
          <p:spPr>
            <a:xfrm>
              <a:off x="586185" y="1430134"/>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0"/>
            <p:cNvSpPr txBox="1"/>
            <p:nvPr/>
          </p:nvSpPr>
          <p:spPr>
            <a:xfrm>
              <a:off x="586185" y="1430134"/>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Logistics Optimization</a:t>
              </a:r>
              <a:endParaRPr/>
            </a:p>
          </p:txBody>
        </p:sp>
        <p:sp>
          <p:nvSpPr>
            <p:cNvPr id="851" name="Google Shape;851;p30"/>
            <p:cNvSpPr/>
            <p:nvPr/>
          </p:nvSpPr>
          <p:spPr>
            <a:xfrm>
              <a:off x="3725625" y="1430134"/>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0"/>
            <p:cNvSpPr txBox="1"/>
            <p:nvPr/>
          </p:nvSpPr>
          <p:spPr>
            <a:xfrm>
              <a:off x="3725625" y="1430134"/>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improves route planning and delivery efficiency.</a:t>
              </a:r>
              <a:endParaRPr/>
            </a:p>
          </p:txBody>
        </p:sp>
        <p:sp>
          <p:nvSpPr>
            <p:cNvPr id="853" name="Google Shape;853;p30"/>
            <p:cNvSpPr/>
            <p:nvPr/>
          </p:nvSpPr>
          <p:spPr>
            <a:xfrm>
              <a:off x="0" y="2143502"/>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0"/>
            <p:cNvSpPr/>
            <p:nvPr/>
          </p:nvSpPr>
          <p:spPr>
            <a:xfrm>
              <a:off x="153453" y="2257641"/>
              <a:ext cx="279278" cy="279005"/>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0"/>
            <p:cNvSpPr/>
            <p:nvPr/>
          </p:nvSpPr>
          <p:spPr>
            <a:xfrm>
              <a:off x="586185" y="2143502"/>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0"/>
            <p:cNvSpPr txBox="1"/>
            <p:nvPr/>
          </p:nvSpPr>
          <p:spPr>
            <a:xfrm>
              <a:off x="586185" y="2143502"/>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Supplier Relationship Management</a:t>
              </a:r>
              <a:endParaRPr/>
            </a:p>
          </p:txBody>
        </p:sp>
        <p:sp>
          <p:nvSpPr>
            <p:cNvPr id="857" name="Google Shape;857;p30"/>
            <p:cNvSpPr/>
            <p:nvPr/>
          </p:nvSpPr>
          <p:spPr>
            <a:xfrm>
              <a:off x="3725625" y="2143502"/>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0"/>
            <p:cNvSpPr txBox="1"/>
            <p:nvPr/>
          </p:nvSpPr>
          <p:spPr>
            <a:xfrm>
              <a:off x="3725625" y="2143502"/>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analyzes supplier performance and risks.</a:t>
              </a:r>
              <a:endParaRPr/>
            </a:p>
          </p:txBody>
        </p:sp>
        <p:sp>
          <p:nvSpPr>
            <p:cNvPr id="859" name="Google Shape;859;p30"/>
            <p:cNvSpPr/>
            <p:nvPr/>
          </p:nvSpPr>
          <p:spPr>
            <a:xfrm>
              <a:off x="0" y="2856869"/>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0"/>
            <p:cNvSpPr/>
            <p:nvPr/>
          </p:nvSpPr>
          <p:spPr>
            <a:xfrm>
              <a:off x="153453" y="2971008"/>
              <a:ext cx="279278" cy="279005"/>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0"/>
            <p:cNvSpPr/>
            <p:nvPr/>
          </p:nvSpPr>
          <p:spPr>
            <a:xfrm>
              <a:off x="586185" y="2856869"/>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0"/>
            <p:cNvSpPr txBox="1"/>
            <p:nvPr/>
          </p:nvSpPr>
          <p:spPr>
            <a:xfrm>
              <a:off x="586185" y="2856869"/>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Warehouse Automation</a:t>
              </a:r>
              <a:endParaRPr/>
            </a:p>
          </p:txBody>
        </p:sp>
        <p:sp>
          <p:nvSpPr>
            <p:cNvPr id="863" name="Google Shape;863;p30"/>
            <p:cNvSpPr/>
            <p:nvPr/>
          </p:nvSpPr>
          <p:spPr>
            <a:xfrm>
              <a:off x="3725625" y="2856869"/>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30"/>
            <p:cNvSpPr txBox="1"/>
            <p:nvPr/>
          </p:nvSpPr>
          <p:spPr>
            <a:xfrm>
              <a:off x="3725625" y="2856869"/>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AI-powered robots streamline warehouse operations</a:t>
              </a:r>
              <a:r>
                <a:rPr lang="en-US" sz="1100">
                  <a:solidFill>
                    <a:schemeClr val="dk1"/>
                  </a:solidFill>
                  <a:latin typeface="Arial"/>
                  <a:ea typeface="Arial"/>
                  <a:cs typeface="Arial"/>
                  <a:sym typeface="Arial"/>
                </a:rPr>
                <a:t>.</a:t>
              </a:r>
              <a:endParaRPr/>
            </a:p>
          </p:txBody>
        </p:sp>
        <p:sp>
          <p:nvSpPr>
            <p:cNvPr id="865" name="Google Shape;865;p30"/>
            <p:cNvSpPr/>
            <p:nvPr/>
          </p:nvSpPr>
          <p:spPr>
            <a:xfrm>
              <a:off x="0" y="3570237"/>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0"/>
            <p:cNvSpPr/>
            <p:nvPr/>
          </p:nvSpPr>
          <p:spPr>
            <a:xfrm>
              <a:off x="153453" y="3684376"/>
              <a:ext cx="279278" cy="279005"/>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0"/>
            <p:cNvSpPr/>
            <p:nvPr/>
          </p:nvSpPr>
          <p:spPr>
            <a:xfrm>
              <a:off x="586185" y="3570237"/>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0"/>
            <p:cNvSpPr txBox="1"/>
            <p:nvPr/>
          </p:nvSpPr>
          <p:spPr>
            <a:xfrm>
              <a:off x="586185" y="3570237"/>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Predictive Maintenance</a:t>
              </a:r>
              <a:endParaRPr/>
            </a:p>
          </p:txBody>
        </p:sp>
        <p:sp>
          <p:nvSpPr>
            <p:cNvPr id="869" name="Google Shape;869;p30"/>
            <p:cNvSpPr/>
            <p:nvPr/>
          </p:nvSpPr>
          <p:spPr>
            <a:xfrm>
              <a:off x="3725625" y="3570237"/>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0"/>
            <p:cNvSpPr txBox="1"/>
            <p:nvPr/>
          </p:nvSpPr>
          <p:spPr>
            <a:xfrm>
              <a:off x="3725625" y="3570237"/>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forecasts equipment failures to minimize downtime.</a:t>
              </a:r>
              <a:endParaRPr/>
            </a:p>
          </p:txBody>
        </p:sp>
        <p:sp>
          <p:nvSpPr>
            <p:cNvPr id="871" name="Google Shape;871;p30"/>
            <p:cNvSpPr/>
            <p:nvPr/>
          </p:nvSpPr>
          <p:spPr>
            <a:xfrm>
              <a:off x="0" y="4283604"/>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0"/>
            <p:cNvSpPr/>
            <p:nvPr/>
          </p:nvSpPr>
          <p:spPr>
            <a:xfrm>
              <a:off x="153453" y="4397743"/>
              <a:ext cx="279278" cy="279005"/>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0"/>
            <p:cNvSpPr/>
            <p:nvPr/>
          </p:nvSpPr>
          <p:spPr>
            <a:xfrm>
              <a:off x="586185" y="4283604"/>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0"/>
            <p:cNvSpPr txBox="1"/>
            <p:nvPr/>
          </p:nvSpPr>
          <p:spPr>
            <a:xfrm>
              <a:off x="586185" y="4283604"/>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Quality Control</a:t>
              </a:r>
              <a:endParaRPr/>
            </a:p>
          </p:txBody>
        </p:sp>
        <p:sp>
          <p:nvSpPr>
            <p:cNvPr id="875" name="Google Shape;875;p30"/>
            <p:cNvSpPr/>
            <p:nvPr/>
          </p:nvSpPr>
          <p:spPr>
            <a:xfrm>
              <a:off x="3725625" y="4283604"/>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0"/>
            <p:cNvSpPr txBox="1"/>
            <p:nvPr/>
          </p:nvSpPr>
          <p:spPr>
            <a:xfrm>
              <a:off x="3725625" y="4283604"/>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detects defects and ensures product consistency.</a:t>
              </a:r>
              <a:endParaRPr/>
            </a:p>
          </p:txBody>
        </p:sp>
        <p:sp>
          <p:nvSpPr>
            <p:cNvPr id="877" name="Google Shape;877;p30"/>
            <p:cNvSpPr/>
            <p:nvPr/>
          </p:nvSpPr>
          <p:spPr>
            <a:xfrm>
              <a:off x="0" y="4996972"/>
              <a:ext cx="6976533" cy="50728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0"/>
            <p:cNvSpPr/>
            <p:nvPr/>
          </p:nvSpPr>
          <p:spPr>
            <a:xfrm>
              <a:off x="153453" y="5111111"/>
              <a:ext cx="279278" cy="279005"/>
            </a:xfrm>
            <a:prstGeom prst="rect">
              <a:avLst/>
            </a:prstGeom>
            <a:blipFill rotWithShape="1">
              <a:blip r:embed="rId10">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0"/>
            <p:cNvSpPr/>
            <p:nvPr/>
          </p:nvSpPr>
          <p:spPr>
            <a:xfrm>
              <a:off x="586185" y="4996972"/>
              <a:ext cx="3139439" cy="5706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0"/>
            <p:cNvSpPr txBox="1"/>
            <p:nvPr/>
          </p:nvSpPr>
          <p:spPr>
            <a:xfrm>
              <a:off x="586185" y="4996972"/>
              <a:ext cx="3139439" cy="570694"/>
            </a:xfrm>
            <a:prstGeom prst="rect">
              <a:avLst/>
            </a:prstGeom>
            <a:noFill/>
            <a:ln>
              <a:noFill/>
            </a:ln>
          </p:spPr>
          <p:txBody>
            <a:bodyPr spcFirstLastPara="1" wrap="square" lIns="60375" tIns="60375" rIns="60375" bIns="60375" anchor="ctr" anchorCtr="0">
              <a:noAutofit/>
            </a:bodyPr>
            <a:lstStyle/>
            <a:p>
              <a:pPr marL="0" marR="0" lvl="0" indent="0" algn="l" rtl="0">
                <a:lnSpc>
                  <a:spcPct val="10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Risk Management</a:t>
              </a:r>
              <a:endParaRPr/>
            </a:p>
          </p:txBody>
        </p:sp>
        <p:sp>
          <p:nvSpPr>
            <p:cNvPr id="881" name="Google Shape;881;p30"/>
            <p:cNvSpPr/>
            <p:nvPr/>
          </p:nvSpPr>
          <p:spPr>
            <a:xfrm>
              <a:off x="3725625" y="4996972"/>
              <a:ext cx="3215698" cy="507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0"/>
            <p:cNvSpPr txBox="1"/>
            <p:nvPr/>
          </p:nvSpPr>
          <p:spPr>
            <a:xfrm>
              <a:off x="3725625" y="4996972"/>
              <a:ext cx="3215698" cy="507283"/>
            </a:xfrm>
            <a:prstGeom prst="rect">
              <a:avLst/>
            </a:prstGeom>
            <a:noFill/>
            <a:ln>
              <a:noFill/>
            </a:ln>
          </p:spPr>
          <p:txBody>
            <a:bodyPr spcFirstLastPara="1" wrap="square" lIns="53675" tIns="53675" rIns="53675" bIns="5367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identifies potential disruptions in the supply chain.</a:t>
              </a:r>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6"/>
        <p:cNvGrpSpPr/>
        <p:nvPr/>
      </p:nvGrpSpPr>
      <p:grpSpPr>
        <a:xfrm>
          <a:off x="0" y="0"/>
          <a:ext cx="0" cy="0"/>
          <a:chOff x="0" y="0"/>
          <a:chExt cx="0" cy="0"/>
        </a:xfrm>
      </p:grpSpPr>
      <p:sp>
        <p:nvSpPr>
          <p:cNvPr id="887" name="Google Shape;887;p31"/>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88" name="Google Shape;888;p31"/>
          <p:cNvSpPr txBox="1">
            <a:spLocks noGrp="1"/>
          </p:cNvSpPr>
          <p:nvPr>
            <p:ph type="title"/>
          </p:nvPr>
        </p:nvSpPr>
        <p:spPr>
          <a:xfrm>
            <a:off x="838200" y="557189"/>
            <a:ext cx="4048760" cy="274481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AI in Business: Banking</a:t>
            </a:r>
            <a:endParaRPr/>
          </a:p>
        </p:txBody>
      </p:sp>
      <p:grpSp>
        <p:nvGrpSpPr>
          <p:cNvPr id="889" name="Google Shape;889;p31"/>
          <p:cNvGrpSpPr/>
          <p:nvPr/>
        </p:nvGrpSpPr>
        <p:grpSpPr>
          <a:xfrm>
            <a:off x="4732867" y="629887"/>
            <a:ext cx="6623980" cy="5491836"/>
            <a:chOff x="0" y="3355"/>
            <a:chExt cx="6623980" cy="5491836"/>
          </a:xfrm>
        </p:grpSpPr>
        <p:sp>
          <p:nvSpPr>
            <p:cNvPr id="890" name="Google Shape;890;p31"/>
            <p:cNvSpPr/>
            <p:nvPr/>
          </p:nvSpPr>
          <p:spPr>
            <a:xfrm>
              <a:off x="0" y="3355"/>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p:cNvSpPr/>
            <p:nvPr/>
          </p:nvSpPr>
          <p:spPr>
            <a:xfrm>
              <a:off x="165224" y="126249"/>
              <a:ext cx="300701" cy="300408"/>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p:cNvSpPr/>
            <p:nvPr/>
          </p:nvSpPr>
          <p:spPr>
            <a:xfrm>
              <a:off x="631150" y="3355"/>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p:cNvSpPr txBox="1"/>
            <p:nvPr/>
          </p:nvSpPr>
          <p:spPr>
            <a:xfrm>
              <a:off x="631150" y="3355"/>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Fraud Detection</a:t>
              </a:r>
              <a:endParaRPr sz="1600">
                <a:solidFill>
                  <a:schemeClr val="dk1"/>
                </a:solidFill>
                <a:latin typeface="Arial"/>
                <a:ea typeface="Arial"/>
                <a:cs typeface="Arial"/>
                <a:sym typeface="Arial"/>
              </a:endParaRPr>
            </a:p>
          </p:txBody>
        </p:sp>
        <p:sp>
          <p:nvSpPr>
            <p:cNvPr id="894" name="Google Shape;894;p31"/>
            <p:cNvSpPr/>
            <p:nvPr/>
          </p:nvSpPr>
          <p:spPr>
            <a:xfrm>
              <a:off x="3611942" y="3355"/>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p:cNvSpPr txBox="1"/>
            <p:nvPr/>
          </p:nvSpPr>
          <p:spPr>
            <a:xfrm>
              <a:off x="3611942" y="3355"/>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identifies suspicious transactions and prevents fraud.</a:t>
              </a:r>
              <a:endParaRPr sz="1400">
                <a:solidFill>
                  <a:schemeClr val="dk1"/>
                </a:solidFill>
                <a:latin typeface="Arial"/>
                <a:ea typeface="Arial"/>
                <a:cs typeface="Arial"/>
                <a:sym typeface="Arial"/>
              </a:endParaRPr>
            </a:p>
          </p:txBody>
        </p:sp>
        <p:sp>
          <p:nvSpPr>
            <p:cNvPr id="896" name="Google Shape;896;p31"/>
            <p:cNvSpPr/>
            <p:nvPr/>
          </p:nvSpPr>
          <p:spPr>
            <a:xfrm>
              <a:off x="0" y="707436"/>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1"/>
            <p:cNvSpPr/>
            <p:nvPr/>
          </p:nvSpPr>
          <p:spPr>
            <a:xfrm>
              <a:off x="165224" y="830331"/>
              <a:ext cx="300701" cy="300408"/>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1"/>
            <p:cNvSpPr/>
            <p:nvPr/>
          </p:nvSpPr>
          <p:spPr>
            <a:xfrm>
              <a:off x="631150" y="707436"/>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1"/>
            <p:cNvSpPr txBox="1"/>
            <p:nvPr/>
          </p:nvSpPr>
          <p:spPr>
            <a:xfrm>
              <a:off x="631150" y="707436"/>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Customer Service</a:t>
              </a:r>
              <a:endParaRPr sz="1600">
                <a:solidFill>
                  <a:schemeClr val="dk1"/>
                </a:solidFill>
                <a:latin typeface="Arial"/>
                <a:ea typeface="Arial"/>
                <a:cs typeface="Arial"/>
                <a:sym typeface="Arial"/>
              </a:endParaRPr>
            </a:p>
          </p:txBody>
        </p:sp>
        <p:sp>
          <p:nvSpPr>
            <p:cNvPr id="900" name="Google Shape;900;p31"/>
            <p:cNvSpPr/>
            <p:nvPr/>
          </p:nvSpPr>
          <p:spPr>
            <a:xfrm>
              <a:off x="3611942" y="707436"/>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1"/>
            <p:cNvSpPr txBox="1"/>
            <p:nvPr/>
          </p:nvSpPr>
          <p:spPr>
            <a:xfrm>
              <a:off x="3611942" y="707436"/>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chatbots assist customers with banking inquiries 24/7.</a:t>
              </a:r>
              <a:endParaRPr sz="1400">
                <a:solidFill>
                  <a:schemeClr val="dk1"/>
                </a:solidFill>
                <a:latin typeface="Arial"/>
                <a:ea typeface="Arial"/>
                <a:cs typeface="Arial"/>
                <a:sym typeface="Arial"/>
              </a:endParaRPr>
            </a:p>
          </p:txBody>
        </p:sp>
        <p:sp>
          <p:nvSpPr>
            <p:cNvPr id="902" name="Google Shape;902;p31"/>
            <p:cNvSpPr/>
            <p:nvPr/>
          </p:nvSpPr>
          <p:spPr>
            <a:xfrm>
              <a:off x="0" y="1411518"/>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1"/>
            <p:cNvSpPr/>
            <p:nvPr/>
          </p:nvSpPr>
          <p:spPr>
            <a:xfrm>
              <a:off x="165224" y="1534412"/>
              <a:ext cx="300701" cy="300408"/>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631150" y="1411518"/>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txBox="1"/>
            <p:nvPr/>
          </p:nvSpPr>
          <p:spPr>
            <a:xfrm>
              <a:off x="631150" y="1411518"/>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Credit Scoring</a:t>
              </a:r>
              <a:endParaRPr sz="1600">
                <a:solidFill>
                  <a:schemeClr val="dk1"/>
                </a:solidFill>
                <a:latin typeface="Arial"/>
                <a:ea typeface="Arial"/>
                <a:cs typeface="Arial"/>
                <a:sym typeface="Arial"/>
              </a:endParaRPr>
            </a:p>
          </p:txBody>
        </p:sp>
        <p:sp>
          <p:nvSpPr>
            <p:cNvPr id="906" name="Google Shape;906;p31"/>
            <p:cNvSpPr/>
            <p:nvPr/>
          </p:nvSpPr>
          <p:spPr>
            <a:xfrm>
              <a:off x="3611942" y="1411518"/>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txBox="1"/>
            <p:nvPr/>
          </p:nvSpPr>
          <p:spPr>
            <a:xfrm>
              <a:off x="3611942" y="1411518"/>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analyses financial history to assess creditworthiness.</a:t>
              </a:r>
              <a:endParaRPr sz="1400">
                <a:solidFill>
                  <a:schemeClr val="dk1"/>
                </a:solidFill>
                <a:latin typeface="Arial"/>
                <a:ea typeface="Arial"/>
                <a:cs typeface="Arial"/>
                <a:sym typeface="Arial"/>
              </a:endParaRPr>
            </a:p>
          </p:txBody>
        </p:sp>
        <p:sp>
          <p:nvSpPr>
            <p:cNvPr id="908" name="Google Shape;908;p31"/>
            <p:cNvSpPr/>
            <p:nvPr/>
          </p:nvSpPr>
          <p:spPr>
            <a:xfrm>
              <a:off x="0" y="2115600"/>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a:off x="165224" y="2238494"/>
              <a:ext cx="300701" cy="300408"/>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1"/>
            <p:cNvSpPr/>
            <p:nvPr/>
          </p:nvSpPr>
          <p:spPr>
            <a:xfrm>
              <a:off x="631150" y="2115600"/>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1"/>
            <p:cNvSpPr txBox="1"/>
            <p:nvPr/>
          </p:nvSpPr>
          <p:spPr>
            <a:xfrm>
              <a:off x="631150" y="2115600"/>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Risk Management</a:t>
              </a:r>
              <a:endParaRPr sz="1600">
                <a:solidFill>
                  <a:schemeClr val="dk1"/>
                </a:solidFill>
                <a:latin typeface="Arial"/>
                <a:ea typeface="Arial"/>
                <a:cs typeface="Arial"/>
                <a:sym typeface="Arial"/>
              </a:endParaRPr>
            </a:p>
          </p:txBody>
        </p:sp>
        <p:sp>
          <p:nvSpPr>
            <p:cNvPr id="912" name="Google Shape;912;p31"/>
            <p:cNvSpPr/>
            <p:nvPr/>
          </p:nvSpPr>
          <p:spPr>
            <a:xfrm>
              <a:off x="3611942" y="2115600"/>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1"/>
            <p:cNvSpPr txBox="1"/>
            <p:nvPr/>
          </p:nvSpPr>
          <p:spPr>
            <a:xfrm>
              <a:off x="3611942" y="2115600"/>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predicts financial risks and market fluctuations.</a:t>
              </a:r>
              <a:endParaRPr sz="1400">
                <a:solidFill>
                  <a:schemeClr val="dk1"/>
                </a:solidFill>
                <a:latin typeface="Arial"/>
                <a:ea typeface="Arial"/>
                <a:cs typeface="Arial"/>
                <a:sym typeface="Arial"/>
              </a:endParaRPr>
            </a:p>
          </p:txBody>
        </p:sp>
        <p:sp>
          <p:nvSpPr>
            <p:cNvPr id="914" name="Google Shape;914;p31"/>
            <p:cNvSpPr/>
            <p:nvPr/>
          </p:nvSpPr>
          <p:spPr>
            <a:xfrm>
              <a:off x="0" y="2819681"/>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1"/>
            <p:cNvSpPr/>
            <p:nvPr/>
          </p:nvSpPr>
          <p:spPr>
            <a:xfrm>
              <a:off x="165224" y="2942575"/>
              <a:ext cx="300701" cy="300408"/>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1"/>
            <p:cNvSpPr/>
            <p:nvPr/>
          </p:nvSpPr>
          <p:spPr>
            <a:xfrm>
              <a:off x="631150" y="2819681"/>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1"/>
            <p:cNvSpPr txBox="1"/>
            <p:nvPr/>
          </p:nvSpPr>
          <p:spPr>
            <a:xfrm>
              <a:off x="631150" y="2819681"/>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Personalized Banking</a:t>
              </a:r>
              <a:endParaRPr sz="1600">
                <a:solidFill>
                  <a:schemeClr val="dk1"/>
                </a:solidFill>
                <a:latin typeface="Arial"/>
                <a:ea typeface="Arial"/>
                <a:cs typeface="Arial"/>
                <a:sym typeface="Arial"/>
              </a:endParaRPr>
            </a:p>
          </p:txBody>
        </p:sp>
        <p:sp>
          <p:nvSpPr>
            <p:cNvPr id="918" name="Google Shape;918;p31"/>
            <p:cNvSpPr/>
            <p:nvPr/>
          </p:nvSpPr>
          <p:spPr>
            <a:xfrm>
              <a:off x="3611942" y="2819681"/>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1"/>
            <p:cNvSpPr txBox="1"/>
            <p:nvPr/>
          </p:nvSpPr>
          <p:spPr>
            <a:xfrm>
              <a:off x="3611942" y="2819681"/>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tailors financial products and services for users.</a:t>
              </a:r>
              <a:endParaRPr sz="1400">
                <a:solidFill>
                  <a:schemeClr val="dk1"/>
                </a:solidFill>
                <a:latin typeface="Arial"/>
                <a:ea typeface="Arial"/>
                <a:cs typeface="Arial"/>
                <a:sym typeface="Arial"/>
              </a:endParaRPr>
            </a:p>
          </p:txBody>
        </p:sp>
        <p:sp>
          <p:nvSpPr>
            <p:cNvPr id="920" name="Google Shape;920;p31"/>
            <p:cNvSpPr/>
            <p:nvPr/>
          </p:nvSpPr>
          <p:spPr>
            <a:xfrm>
              <a:off x="0" y="3523763"/>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1"/>
            <p:cNvSpPr/>
            <p:nvPr/>
          </p:nvSpPr>
          <p:spPr>
            <a:xfrm>
              <a:off x="165224" y="3646657"/>
              <a:ext cx="300701" cy="300408"/>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1"/>
            <p:cNvSpPr/>
            <p:nvPr/>
          </p:nvSpPr>
          <p:spPr>
            <a:xfrm>
              <a:off x="631150" y="3523763"/>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1"/>
            <p:cNvSpPr txBox="1"/>
            <p:nvPr/>
          </p:nvSpPr>
          <p:spPr>
            <a:xfrm>
              <a:off x="631150" y="3523763"/>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Process Automation</a:t>
              </a:r>
              <a:endParaRPr sz="1600">
                <a:solidFill>
                  <a:schemeClr val="dk1"/>
                </a:solidFill>
                <a:latin typeface="Arial"/>
                <a:ea typeface="Arial"/>
                <a:cs typeface="Arial"/>
                <a:sym typeface="Arial"/>
              </a:endParaRPr>
            </a:p>
          </p:txBody>
        </p:sp>
        <p:sp>
          <p:nvSpPr>
            <p:cNvPr id="924" name="Google Shape;924;p31"/>
            <p:cNvSpPr/>
            <p:nvPr/>
          </p:nvSpPr>
          <p:spPr>
            <a:xfrm>
              <a:off x="3611942" y="3523763"/>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1"/>
            <p:cNvSpPr txBox="1"/>
            <p:nvPr/>
          </p:nvSpPr>
          <p:spPr>
            <a:xfrm>
              <a:off x="3611942" y="3523763"/>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streamlines loan approvals and document processing.</a:t>
              </a:r>
              <a:endParaRPr sz="1400">
                <a:solidFill>
                  <a:schemeClr val="dk1"/>
                </a:solidFill>
                <a:latin typeface="Arial"/>
                <a:ea typeface="Arial"/>
                <a:cs typeface="Arial"/>
                <a:sym typeface="Arial"/>
              </a:endParaRPr>
            </a:p>
          </p:txBody>
        </p:sp>
        <p:sp>
          <p:nvSpPr>
            <p:cNvPr id="926" name="Google Shape;926;p31"/>
            <p:cNvSpPr/>
            <p:nvPr/>
          </p:nvSpPr>
          <p:spPr>
            <a:xfrm>
              <a:off x="0" y="4227844"/>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1"/>
            <p:cNvSpPr/>
            <p:nvPr/>
          </p:nvSpPr>
          <p:spPr>
            <a:xfrm>
              <a:off x="165224" y="4350739"/>
              <a:ext cx="300701" cy="300408"/>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1"/>
            <p:cNvSpPr/>
            <p:nvPr/>
          </p:nvSpPr>
          <p:spPr>
            <a:xfrm>
              <a:off x="631150" y="4227844"/>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1"/>
            <p:cNvSpPr txBox="1"/>
            <p:nvPr/>
          </p:nvSpPr>
          <p:spPr>
            <a:xfrm>
              <a:off x="631150" y="4227844"/>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Regulatory Compliance</a:t>
              </a:r>
              <a:endParaRPr sz="1600">
                <a:solidFill>
                  <a:schemeClr val="dk1"/>
                </a:solidFill>
                <a:latin typeface="Arial"/>
                <a:ea typeface="Arial"/>
                <a:cs typeface="Arial"/>
                <a:sym typeface="Arial"/>
              </a:endParaRPr>
            </a:p>
          </p:txBody>
        </p:sp>
        <p:sp>
          <p:nvSpPr>
            <p:cNvPr id="930" name="Google Shape;930;p31"/>
            <p:cNvSpPr/>
            <p:nvPr/>
          </p:nvSpPr>
          <p:spPr>
            <a:xfrm>
              <a:off x="3611942" y="4227844"/>
              <a:ext cx="3002318"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1"/>
            <p:cNvSpPr txBox="1"/>
            <p:nvPr/>
          </p:nvSpPr>
          <p:spPr>
            <a:xfrm>
              <a:off x="3611942" y="4227844"/>
              <a:ext cx="3002318"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ensures compliance with banking regulations.</a:t>
              </a:r>
              <a:endParaRPr sz="1400">
                <a:solidFill>
                  <a:schemeClr val="dk1"/>
                </a:solidFill>
                <a:latin typeface="Arial"/>
                <a:ea typeface="Arial"/>
                <a:cs typeface="Arial"/>
                <a:sym typeface="Arial"/>
              </a:endParaRPr>
            </a:p>
          </p:txBody>
        </p:sp>
        <p:sp>
          <p:nvSpPr>
            <p:cNvPr id="932" name="Google Shape;932;p31"/>
            <p:cNvSpPr/>
            <p:nvPr/>
          </p:nvSpPr>
          <p:spPr>
            <a:xfrm>
              <a:off x="0" y="4931926"/>
              <a:ext cx="6623980" cy="546196"/>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1"/>
            <p:cNvSpPr/>
            <p:nvPr/>
          </p:nvSpPr>
          <p:spPr>
            <a:xfrm>
              <a:off x="165385" y="5054820"/>
              <a:ext cx="300701" cy="300408"/>
            </a:xfrm>
            <a:prstGeom prst="rect">
              <a:avLst/>
            </a:prstGeom>
            <a:blipFill rotWithShape="1">
              <a:blip r:embed="rId10">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1"/>
            <p:cNvSpPr/>
            <p:nvPr/>
          </p:nvSpPr>
          <p:spPr>
            <a:xfrm>
              <a:off x="631473" y="4931926"/>
              <a:ext cx="2980791" cy="56326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1"/>
            <p:cNvSpPr txBox="1"/>
            <p:nvPr/>
          </p:nvSpPr>
          <p:spPr>
            <a:xfrm>
              <a:off x="631473" y="4931926"/>
              <a:ext cx="2980791" cy="563265"/>
            </a:xfrm>
            <a:prstGeom prst="rect">
              <a:avLst/>
            </a:prstGeom>
            <a:noFill/>
            <a:ln>
              <a:noFill/>
            </a:ln>
          </p:spPr>
          <p:txBody>
            <a:bodyPr spcFirstLastPara="1" wrap="square" lIns="59600" tIns="59600" rIns="59600" bIns="59600"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Investment &amp; Wealth Management</a:t>
              </a:r>
              <a:endParaRPr sz="1600">
                <a:solidFill>
                  <a:schemeClr val="dk1"/>
                </a:solidFill>
                <a:latin typeface="Arial"/>
                <a:ea typeface="Arial"/>
                <a:cs typeface="Arial"/>
                <a:sym typeface="Arial"/>
              </a:endParaRPr>
            </a:p>
          </p:txBody>
        </p:sp>
        <p:sp>
          <p:nvSpPr>
            <p:cNvPr id="936" name="Google Shape;936;p31"/>
            <p:cNvSpPr/>
            <p:nvPr/>
          </p:nvSpPr>
          <p:spPr>
            <a:xfrm>
              <a:off x="3612265" y="4931926"/>
              <a:ext cx="2991982" cy="546196"/>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1"/>
            <p:cNvSpPr txBox="1"/>
            <p:nvPr/>
          </p:nvSpPr>
          <p:spPr>
            <a:xfrm>
              <a:off x="3612265" y="4931926"/>
              <a:ext cx="2991982" cy="546196"/>
            </a:xfrm>
            <a:prstGeom prst="rect">
              <a:avLst/>
            </a:prstGeom>
            <a:noFill/>
            <a:ln>
              <a:noFill/>
            </a:ln>
          </p:spPr>
          <p:txBody>
            <a:bodyPr spcFirstLastPara="1" wrap="square" lIns="57800" tIns="57800" rIns="57800" bIns="57800"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provides financial advice and portfolio management.</a:t>
              </a:r>
              <a:endParaRPr sz="1400">
                <a:solidFill>
                  <a:schemeClr val="dk1"/>
                </a:solidFill>
                <a:latin typeface="Arial"/>
                <a:ea typeface="Arial"/>
                <a:cs typeface="Arial"/>
                <a:sym typeface="Arial"/>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32"/>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43" name="Google Shape;943;p32"/>
          <p:cNvSpPr txBox="1">
            <a:spLocks noGrp="1"/>
          </p:cNvSpPr>
          <p:nvPr>
            <p:ph type="title"/>
          </p:nvPr>
        </p:nvSpPr>
        <p:spPr>
          <a:xfrm>
            <a:off x="838200" y="557188"/>
            <a:ext cx="4862848" cy="5569291"/>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5200"/>
              <a:buFont typeface="Play"/>
              <a:buNone/>
            </a:pPr>
            <a:r>
              <a:rPr lang="en-US" sz="5200" i="0" u="none" strike="noStrike">
                <a:solidFill>
                  <a:schemeClr val="dk1"/>
                </a:solidFill>
                <a:latin typeface="Play"/>
                <a:ea typeface="Play"/>
                <a:cs typeface="Play"/>
                <a:sym typeface="Play"/>
              </a:rPr>
              <a:t>AI in Business: Stock Market</a:t>
            </a:r>
            <a:endParaRPr/>
          </a:p>
        </p:txBody>
      </p:sp>
      <p:grpSp>
        <p:nvGrpSpPr>
          <p:cNvPr id="944" name="Google Shape;944;p32"/>
          <p:cNvGrpSpPr/>
          <p:nvPr/>
        </p:nvGrpSpPr>
        <p:grpSpPr>
          <a:xfrm>
            <a:off x="4947920" y="650908"/>
            <a:ext cx="6408928" cy="5474902"/>
            <a:chOff x="0" y="668"/>
            <a:chExt cx="6408928" cy="5474902"/>
          </a:xfrm>
        </p:grpSpPr>
        <p:sp>
          <p:nvSpPr>
            <p:cNvPr id="945" name="Google Shape;945;p32"/>
            <p:cNvSpPr/>
            <p:nvPr/>
          </p:nvSpPr>
          <p:spPr>
            <a:xfrm>
              <a:off x="0" y="668"/>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2"/>
            <p:cNvSpPr/>
            <p:nvPr/>
          </p:nvSpPr>
          <p:spPr>
            <a:xfrm>
              <a:off x="169862" y="127012"/>
              <a:ext cx="308840" cy="30884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2"/>
            <p:cNvSpPr/>
            <p:nvPr/>
          </p:nvSpPr>
          <p:spPr>
            <a:xfrm>
              <a:off x="648565" y="668"/>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2"/>
            <p:cNvSpPr txBox="1"/>
            <p:nvPr/>
          </p:nvSpPr>
          <p:spPr>
            <a:xfrm>
              <a:off x="648565" y="668"/>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Algorithmic Trading</a:t>
              </a:r>
              <a:endParaRPr sz="1600">
                <a:solidFill>
                  <a:schemeClr val="dk1"/>
                </a:solidFill>
                <a:latin typeface="Arial"/>
                <a:ea typeface="Arial"/>
                <a:cs typeface="Arial"/>
                <a:sym typeface="Arial"/>
              </a:endParaRPr>
            </a:p>
          </p:txBody>
        </p:sp>
        <p:sp>
          <p:nvSpPr>
            <p:cNvPr id="949" name="Google Shape;949;p32"/>
            <p:cNvSpPr/>
            <p:nvPr/>
          </p:nvSpPr>
          <p:spPr>
            <a:xfrm>
              <a:off x="3532583" y="668"/>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2"/>
            <p:cNvSpPr txBox="1"/>
            <p:nvPr/>
          </p:nvSpPr>
          <p:spPr>
            <a:xfrm>
              <a:off x="3532583" y="668"/>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executes high-speed trades based on market patterns.</a:t>
              </a:r>
              <a:endParaRPr sz="1400">
                <a:solidFill>
                  <a:schemeClr val="dk1"/>
                </a:solidFill>
                <a:latin typeface="Arial"/>
                <a:ea typeface="Arial"/>
                <a:cs typeface="Arial"/>
                <a:sym typeface="Arial"/>
              </a:endParaRPr>
            </a:p>
          </p:txBody>
        </p:sp>
        <p:sp>
          <p:nvSpPr>
            <p:cNvPr id="951" name="Google Shape;951;p32"/>
            <p:cNvSpPr/>
            <p:nvPr/>
          </p:nvSpPr>
          <p:spPr>
            <a:xfrm>
              <a:off x="0" y="702579"/>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2"/>
            <p:cNvSpPr/>
            <p:nvPr/>
          </p:nvSpPr>
          <p:spPr>
            <a:xfrm>
              <a:off x="169862" y="828923"/>
              <a:ext cx="308840" cy="30884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2"/>
            <p:cNvSpPr/>
            <p:nvPr/>
          </p:nvSpPr>
          <p:spPr>
            <a:xfrm>
              <a:off x="648565" y="702579"/>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2"/>
            <p:cNvSpPr txBox="1"/>
            <p:nvPr/>
          </p:nvSpPr>
          <p:spPr>
            <a:xfrm>
              <a:off x="648565" y="702579"/>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Market Prediction</a:t>
              </a:r>
              <a:endParaRPr sz="1600">
                <a:solidFill>
                  <a:schemeClr val="dk1"/>
                </a:solidFill>
                <a:latin typeface="Arial"/>
                <a:ea typeface="Arial"/>
                <a:cs typeface="Arial"/>
                <a:sym typeface="Arial"/>
              </a:endParaRPr>
            </a:p>
          </p:txBody>
        </p:sp>
        <p:sp>
          <p:nvSpPr>
            <p:cNvPr id="955" name="Google Shape;955;p32"/>
            <p:cNvSpPr/>
            <p:nvPr/>
          </p:nvSpPr>
          <p:spPr>
            <a:xfrm>
              <a:off x="3532583" y="702579"/>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2"/>
            <p:cNvSpPr txBox="1"/>
            <p:nvPr/>
          </p:nvSpPr>
          <p:spPr>
            <a:xfrm>
              <a:off x="3532583" y="702579"/>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analyses trends to forecast stock prices and movements.</a:t>
              </a:r>
              <a:endParaRPr sz="1400">
                <a:solidFill>
                  <a:schemeClr val="dk1"/>
                </a:solidFill>
                <a:latin typeface="Arial"/>
                <a:ea typeface="Arial"/>
                <a:cs typeface="Arial"/>
                <a:sym typeface="Arial"/>
              </a:endParaRPr>
            </a:p>
          </p:txBody>
        </p:sp>
        <p:sp>
          <p:nvSpPr>
            <p:cNvPr id="957" name="Google Shape;957;p32"/>
            <p:cNvSpPr/>
            <p:nvPr/>
          </p:nvSpPr>
          <p:spPr>
            <a:xfrm>
              <a:off x="0" y="1404489"/>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2"/>
            <p:cNvSpPr/>
            <p:nvPr/>
          </p:nvSpPr>
          <p:spPr>
            <a:xfrm>
              <a:off x="169862" y="1530833"/>
              <a:ext cx="308840" cy="30884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2"/>
            <p:cNvSpPr/>
            <p:nvPr/>
          </p:nvSpPr>
          <p:spPr>
            <a:xfrm>
              <a:off x="648565" y="1404489"/>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2"/>
            <p:cNvSpPr txBox="1"/>
            <p:nvPr/>
          </p:nvSpPr>
          <p:spPr>
            <a:xfrm>
              <a:off x="648565" y="1404489"/>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Risk Management</a:t>
              </a:r>
              <a:endParaRPr sz="1600">
                <a:solidFill>
                  <a:schemeClr val="dk1"/>
                </a:solidFill>
                <a:latin typeface="Arial"/>
                <a:ea typeface="Arial"/>
                <a:cs typeface="Arial"/>
                <a:sym typeface="Arial"/>
              </a:endParaRPr>
            </a:p>
          </p:txBody>
        </p:sp>
        <p:sp>
          <p:nvSpPr>
            <p:cNvPr id="961" name="Google Shape;961;p32"/>
            <p:cNvSpPr/>
            <p:nvPr/>
          </p:nvSpPr>
          <p:spPr>
            <a:xfrm>
              <a:off x="3532583" y="1404489"/>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2"/>
            <p:cNvSpPr txBox="1"/>
            <p:nvPr/>
          </p:nvSpPr>
          <p:spPr>
            <a:xfrm>
              <a:off x="3532583" y="1404489"/>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assesses market risks and minimizes potential losses.</a:t>
              </a:r>
              <a:endParaRPr sz="1400">
                <a:solidFill>
                  <a:schemeClr val="dk1"/>
                </a:solidFill>
                <a:latin typeface="Arial"/>
                <a:ea typeface="Arial"/>
                <a:cs typeface="Arial"/>
                <a:sym typeface="Arial"/>
              </a:endParaRPr>
            </a:p>
          </p:txBody>
        </p:sp>
        <p:sp>
          <p:nvSpPr>
            <p:cNvPr id="963" name="Google Shape;963;p32"/>
            <p:cNvSpPr/>
            <p:nvPr/>
          </p:nvSpPr>
          <p:spPr>
            <a:xfrm>
              <a:off x="0" y="2106400"/>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2"/>
            <p:cNvSpPr/>
            <p:nvPr/>
          </p:nvSpPr>
          <p:spPr>
            <a:xfrm>
              <a:off x="169862" y="2232744"/>
              <a:ext cx="308840" cy="30884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2"/>
            <p:cNvSpPr/>
            <p:nvPr/>
          </p:nvSpPr>
          <p:spPr>
            <a:xfrm>
              <a:off x="648565" y="2106400"/>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2"/>
            <p:cNvSpPr txBox="1"/>
            <p:nvPr/>
          </p:nvSpPr>
          <p:spPr>
            <a:xfrm>
              <a:off x="648565" y="2106400"/>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Sentiment Analysis</a:t>
              </a:r>
              <a:endParaRPr sz="1600">
                <a:solidFill>
                  <a:schemeClr val="dk1"/>
                </a:solidFill>
                <a:latin typeface="Arial"/>
                <a:ea typeface="Arial"/>
                <a:cs typeface="Arial"/>
                <a:sym typeface="Arial"/>
              </a:endParaRPr>
            </a:p>
          </p:txBody>
        </p:sp>
        <p:sp>
          <p:nvSpPr>
            <p:cNvPr id="967" name="Google Shape;967;p32"/>
            <p:cNvSpPr/>
            <p:nvPr/>
          </p:nvSpPr>
          <p:spPr>
            <a:xfrm>
              <a:off x="3532583" y="2106400"/>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2"/>
            <p:cNvSpPr txBox="1"/>
            <p:nvPr/>
          </p:nvSpPr>
          <p:spPr>
            <a:xfrm>
              <a:off x="3532583" y="2106400"/>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evaluates news and social media to gauge market sentiment.</a:t>
              </a:r>
              <a:endParaRPr sz="1400">
                <a:solidFill>
                  <a:schemeClr val="dk1"/>
                </a:solidFill>
                <a:latin typeface="Arial"/>
                <a:ea typeface="Arial"/>
                <a:cs typeface="Arial"/>
                <a:sym typeface="Arial"/>
              </a:endParaRPr>
            </a:p>
          </p:txBody>
        </p:sp>
        <p:sp>
          <p:nvSpPr>
            <p:cNvPr id="969" name="Google Shape;969;p32"/>
            <p:cNvSpPr/>
            <p:nvPr/>
          </p:nvSpPr>
          <p:spPr>
            <a:xfrm>
              <a:off x="0" y="2808311"/>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2"/>
            <p:cNvSpPr/>
            <p:nvPr/>
          </p:nvSpPr>
          <p:spPr>
            <a:xfrm>
              <a:off x="169862" y="2934654"/>
              <a:ext cx="308840" cy="30884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2"/>
            <p:cNvSpPr/>
            <p:nvPr/>
          </p:nvSpPr>
          <p:spPr>
            <a:xfrm>
              <a:off x="648565" y="2808311"/>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2"/>
            <p:cNvSpPr txBox="1"/>
            <p:nvPr/>
          </p:nvSpPr>
          <p:spPr>
            <a:xfrm>
              <a:off x="648565" y="2808311"/>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Portfolio Optimization</a:t>
              </a:r>
              <a:endParaRPr sz="1600">
                <a:solidFill>
                  <a:schemeClr val="dk1"/>
                </a:solidFill>
                <a:latin typeface="Arial"/>
                <a:ea typeface="Arial"/>
                <a:cs typeface="Arial"/>
                <a:sym typeface="Arial"/>
              </a:endParaRPr>
            </a:p>
          </p:txBody>
        </p:sp>
        <p:sp>
          <p:nvSpPr>
            <p:cNvPr id="973" name="Google Shape;973;p32"/>
            <p:cNvSpPr/>
            <p:nvPr/>
          </p:nvSpPr>
          <p:spPr>
            <a:xfrm>
              <a:off x="3532583" y="2808311"/>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2"/>
            <p:cNvSpPr txBox="1"/>
            <p:nvPr/>
          </p:nvSpPr>
          <p:spPr>
            <a:xfrm>
              <a:off x="3532583" y="2808311"/>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helps investors create balanced investment portfolios.</a:t>
              </a:r>
              <a:endParaRPr sz="1400">
                <a:solidFill>
                  <a:schemeClr val="dk1"/>
                </a:solidFill>
                <a:latin typeface="Arial"/>
                <a:ea typeface="Arial"/>
                <a:cs typeface="Arial"/>
                <a:sym typeface="Arial"/>
              </a:endParaRPr>
            </a:p>
          </p:txBody>
        </p:sp>
        <p:sp>
          <p:nvSpPr>
            <p:cNvPr id="975" name="Google Shape;975;p32"/>
            <p:cNvSpPr/>
            <p:nvPr/>
          </p:nvSpPr>
          <p:spPr>
            <a:xfrm>
              <a:off x="0" y="3510221"/>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2"/>
            <p:cNvSpPr/>
            <p:nvPr/>
          </p:nvSpPr>
          <p:spPr>
            <a:xfrm>
              <a:off x="169862" y="3636565"/>
              <a:ext cx="308840" cy="308840"/>
            </a:xfrm>
            <a:prstGeom prst="rect">
              <a:avLst/>
            </a:prstGeom>
            <a:blipFill rotWithShape="1">
              <a:blip r:embed="rId8">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2"/>
            <p:cNvSpPr/>
            <p:nvPr/>
          </p:nvSpPr>
          <p:spPr>
            <a:xfrm>
              <a:off x="648565" y="3510221"/>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2"/>
            <p:cNvSpPr txBox="1"/>
            <p:nvPr/>
          </p:nvSpPr>
          <p:spPr>
            <a:xfrm>
              <a:off x="648565" y="3510221"/>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Fraud Detection</a:t>
              </a:r>
              <a:endParaRPr sz="1600">
                <a:solidFill>
                  <a:schemeClr val="dk1"/>
                </a:solidFill>
                <a:latin typeface="Arial"/>
                <a:ea typeface="Arial"/>
                <a:cs typeface="Arial"/>
                <a:sym typeface="Arial"/>
              </a:endParaRPr>
            </a:p>
          </p:txBody>
        </p:sp>
        <p:sp>
          <p:nvSpPr>
            <p:cNvPr id="979" name="Google Shape;979;p32"/>
            <p:cNvSpPr/>
            <p:nvPr/>
          </p:nvSpPr>
          <p:spPr>
            <a:xfrm>
              <a:off x="3532583" y="3510221"/>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2"/>
            <p:cNvSpPr txBox="1"/>
            <p:nvPr/>
          </p:nvSpPr>
          <p:spPr>
            <a:xfrm>
              <a:off x="3532583" y="3510221"/>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identifies suspicious trading activities and insider trading.</a:t>
              </a:r>
              <a:endParaRPr sz="1400">
                <a:solidFill>
                  <a:schemeClr val="dk1"/>
                </a:solidFill>
                <a:latin typeface="Arial"/>
                <a:ea typeface="Arial"/>
                <a:cs typeface="Arial"/>
                <a:sym typeface="Arial"/>
              </a:endParaRPr>
            </a:p>
          </p:txBody>
        </p:sp>
        <p:sp>
          <p:nvSpPr>
            <p:cNvPr id="981" name="Google Shape;981;p32"/>
            <p:cNvSpPr/>
            <p:nvPr/>
          </p:nvSpPr>
          <p:spPr>
            <a:xfrm>
              <a:off x="0" y="4212132"/>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2"/>
            <p:cNvSpPr/>
            <p:nvPr/>
          </p:nvSpPr>
          <p:spPr>
            <a:xfrm>
              <a:off x="169862" y="4338476"/>
              <a:ext cx="308840" cy="308840"/>
            </a:xfrm>
            <a:prstGeom prst="rect">
              <a:avLst/>
            </a:prstGeom>
            <a:blipFill rotWithShape="1">
              <a:blip r:embed="rId9">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2"/>
            <p:cNvSpPr/>
            <p:nvPr/>
          </p:nvSpPr>
          <p:spPr>
            <a:xfrm>
              <a:off x="648565" y="4212132"/>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2"/>
            <p:cNvSpPr txBox="1"/>
            <p:nvPr/>
          </p:nvSpPr>
          <p:spPr>
            <a:xfrm>
              <a:off x="648565" y="4212132"/>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Robo-Advisors</a:t>
              </a:r>
              <a:endParaRPr sz="1600">
                <a:solidFill>
                  <a:schemeClr val="dk1"/>
                </a:solidFill>
                <a:latin typeface="Arial"/>
                <a:ea typeface="Arial"/>
                <a:cs typeface="Arial"/>
                <a:sym typeface="Arial"/>
              </a:endParaRPr>
            </a:p>
          </p:txBody>
        </p:sp>
        <p:sp>
          <p:nvSpPr>
            <p:cNvPr id="985" name="Google Shape;985;p32"/>
            <p:cNvSpPr/>
            <p:nvPr/>
          </p:nvSpPr>
          <p:spPr>
            <a:xfrm>
              <a:off x="3532583" y="4212132"/>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2"/>
            <p:cNvSpPr txBox="1"/>
            <p:nvPr/>
          </p:nvSpPr>
          <p:spPr>
            <a:xfrm>
              <a:off x="3532583" y="4212132"/>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provides automated investment advice based on user goals.</a:t>
              </a:r>
              <a:endParaRPr sz="1400">
                <a:solidFill>
                  <a:schemeClr val="dk1"/>
                </a:solidFill>
                <a:latin typeface="Arial"/>
                <a:ea typeface="Arial"/>
                <a:cs typeface="Arial"/>
                <a:sym typeface="Arial"/>
              </a:endParaRPr>
            </a:p>
          </p:txBody>
        </p:sp>
        <p:sp>
          <p:nvSpPr>
            <p:cNvPr id="987" name="Google Shape;987;p32"/>
            <p:cNvSpPr/>
            <p:nvPr/>
          </p:nvSpPr>
          <p:spPr>
            <a:xfrm>
              <a:off x="0" y="4914042"/>
              <a:ext cx="6408928" cy="56152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2"/>
            <p:cNvSpPr/>
            <p:nvPr/>
          </p:nvSpPr>
          <p:spPr>
            <a:xfrm>
              <a:off x="169862" y="5040386"/>
              <a:ext cx="308840" cy="308840"/>
            </a:xfrm>
            <a:prstGeom prst="rect">
              <a:avLst/>
            </a:prstGeom>
            <a:blipFill rotWithShape="1">
              <a:blip r:embed="rId10">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2"/>
            <p:cNvSpPr/>
            <p:nvPr/>
          </p:nvSpPr>
          <p:spPr>
            <a:xfrm>
              <a:off x="648565" y="4914042"/>
              <a:ext cx="2884017"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2"/>
            <p:cNvSpPr txBox="1"/>
            <p:nvPr/>
          </p:nvSpPr>
          <p:spPr>
            <a:xfrm>
              <a:off x="648565" y="4914042"/>
              <a:ext cx="2884017"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High-Frequency Trading</a:t>
              </a:r>
              <a:endParaRPr sz="1600">
                <a:solidFill>
                  <a:schemeClr val="dk1"/>
                </a:solidFill>
                <a:latin typeface="Arial"/>
                <a:ea typeface="Arial"/>
                <a:cs typeface="Arial"/>
                <a:sym typeface="Arial"/>
              </a:endParaRPr>
            </a:p>
          </p:txBody>
        </p:sp>
        <p:sp>
          <p:nvSpPr>
            <p:cNvPr id="991" name="Google Shape;991;p32"/>
            <p:cNvSpPr/>
            <p:nvPr/>
          </p:nvSpPr>
          <p:spPr>
            <a:xfrm>
              <a:off x="3532583" y="4914042"/>
              <a:ext cx="2876344" cy="56152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2"/>
            <p:cNvSpPr txBox="1"/>
            <p:nvPr/>
          </p:nvSpPr>
          <p:spPr>
            <a:xfrm>
              <a:off x="3532583" y="4914042"/>
              <a:ext cx="2876344" cy="561528"/>
            </a:xfrm>
            <a:prstGeom prst="rect">
              <a:avLst/>
            </a:prstGeom>
            <a:noFill/>
            <a:ln>
              <a:noFill/>
            </a:ln>
          </p:spPr>
          <p:txBody>
            <a:bodyPr spcFirstLastPara="1" wrap="square" lIns="59425" tIns="59425" rIns="59425" bIns="59425" anchor="ctr" anchorCtr="0">
              <a:noAutofit/>
            </a:bodyPr>
            <a:lstStyle/>
            <a:p>
              <a:pPr marL="0" marR="0" lvl="0" indent="0" algn="l" rtl="0">
                <a:lnSpc>
                  <a:spcPct val="90000"/>
                </a:lnSpc>
                <a:spcBef>
                  <a:spcPts val="0"/>
                </a:spcBef>
                <a:spcAft>
                  <a:spcPts val="0"/>
                </a:spcAft>
                <a:buClr>
                  <a:schemeClr val="dk1"/>
                </a:buClr>
                <a:buSzPts val="1400"/>
                <a:buFont typeface="Arial"/>
                <a:buNone/>
              </a:pPr>
              <a:r>
                <a:rPr lang="en-US" sz="1400">
                  <a:solidFill>
                    <a:schemeClr val="dk1"/>
                  </a:solidFill>
                  <a:latin typeface="Arial"/>
                  <a:ea typeface="Arial"/>
                  <a:cs typeface="Arial"/>
                  <a:sym typeface="Arial"/>
                </a:rPr>
                <a:t>processes massive datasets to execute trades in milliseconds.</a:t>
              </a:r>
              <a:endParaRPr sz="1400">
                <a:solidFill>
                  <a:schemeClr val="dk1"/>
                </a:solidFill>
                <a:latin typeface="Arial"/>
                <a:ea typeface="Arial"/>
                <a:cs typeface="Arial"/>
                <a:sym typeface="Arial"/>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6"/>
        <p:cNvGrpSpPr/>
        <p:nvPr/>
      </p:nvGrpSpPr>
      <p:grpSpPr>
        <a:xfrm>
          <a:off x="0" y="0"/>
          <a:ext cx="0" cy="0"/>
          <a:chOff x="0" y="0"/>
          <a:chExt cx="0" cy="0"/>
        </a:xfrm>
      </p:grpSpPr>
      <p:sp>
        <p:nvSpPr>
          <p:cNvPr id="997" name="Google Shape;997;p3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998" name="Google Shape;998;p33"/>
          <p:cNvSpPr txBox="1">
            <a:spLocks noGrp="1"/>
          </p:cNvSpPr>
          <p:nvPr>
            <p:ph type="title"/>
          </p:nvPr>
        </p:nvSpPr>
        <p:spPr>
          <a:xfrm>
            <a:off x="838200" y="451381"/>
            <a:ext cx="10512552" cy="406654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6600"/>
              <a:buFont typeface="Play"/>
              <a:buNone/>
            </a:pPr>
            <a:r>
              <a:rPr lang="en-US" sz="6600">
                <a:solidFill>
                  <a:schemeClr val="dk1"/>
                </a:solidFill>
                <a:latin typeface="Play"/>
                <a:ea typeface="Play"/>
                <a:cs typeface="Play"/>
                <a:sym typeface="Play"/>
              </a:rPr>
              <a:t>MCQ</a:t>
            </a:r>
            <a:endParaRPr/>
          </a:p>
        </p:txBody>
      </p:sp>
      <p:sp>
        <p:nvSpPr>
          <p:cNvPr id="999" name="Google Shape;999;p33"/>
          <p:cNvSpPr/>
          <p:nvPr/>
        </p:nvSpPr>
        <p:spPr>
          <a:xfrm>
            <a:off x="838200" y="4718595"/>
            <a:ext cx="5410200" cy="18288"/>
          </a:xfrm>
          <a:custGeom>
            <a:avLst/>
            <a:gdLst/>
            <a:ahLst/>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998"/>
                                        </p:tgtEl>
                                        <p:attrNameLst>
                                          <p:attrName>style.visibility</p:attrName>
                                        </p:attrNameLst>
                                      </p:cBhvr>
                                      <p:to>
                                        <p:strVal val="visible"/>
                                      </p:to>
                                    </p:set>
                                    <p:animEffect transition="in" filter="fade">
                                      <p:cBhvr>
                                        <p:cTn id="7" dur="1000"/>
                                        <p:tgtEl>
                                          <p:spTgt spid="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3"/>
        <p:cNvGrpSpPr/>
        <p:nvPr/>
      </p:nvGrpSpPr>
      <p:grpSpPr>
        <a:xfrm>
          <a:off x="0" y="0"/>
          <a:ext cx="0" cy="0"/>
          <a:chOff x="0" y="0"/>
          <a:chExt cx="0" cy="0"/>
        </a:xfrm>
      </p:grpSpPr>
      <p:sp>
        <p:nvSpPr>
          <p:cNvPr id="1004" name="Google Shape;1004;p34"/>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05" name="Google Shape;1005;p34"/>
          <p:cNvSpPr txBox="1">
            <a:spLocks noGrp="1"/>
          </p:cNvSpPr>
          <p:nvPr>
            <p:ph type="title"/>
          </p:nvPr>
        </p:nvSpPr>
        <p:spPr>
          <a:xfrm>
            <a:off x="1388532" y="557189"/>
            <a:ext cx="9968315" cy="10379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What is one major role of AI in HR?</a:t>
            </a:r>
            <a:endParaRPr/>
          </a:p>
        </p:txBody>
      </p:sp>
      <p:grpSp>
        <p:nvGrpSpPr>
          <p:cNvPr id="1006" name="Google Shape;1006;p34"/>
          <p:cNvGrpSpPr/>
          <p:nvPr/>
        </p:nvGrpSpPr>
        <p:grpSpPr>
          <a:xfrm>
            <a:off x="1388532" y="1963460"/>
            <a:ext cx="9779000" cy="4526199"/>
            <a:chOff x="0" y="1880"/>
            <a:chExt cx="9779000" cy="4526199"/>
          </a:xfrm>
        </p:grpSpPr>
        <p:sp>
          <p:nvSpPr>
            <p:cNvPr id="1007" name="Google Shape;1007;p34"/>
            <p:cNvSpPr/>
            <p:nvPr/>
          </p:nvSpPr>
          <p:spPr>
            <a:xfrm>
              <a:off x="0" y="1880"/>
              <a:ext cx="9779000" cy="952884"/>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4"/>
            <p:cNvSpPr/>
            <p:nvPr/>
          </p:nvSpPr>
          <p:spPr>
            <a:xfrm>
              <a:off x="288247" y="216279"/>
              <a:ext cx="524086" cy="52408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4"/>
            <p:cNvSpPr/>
            <p:nvPr/>
          </p:nvSpPr>
          <p:spPr>
            <a:xfrm>
              <a:off x="1100581" y="1880"/>
              <a:ext cx="8678418" cy="9528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4"/>
            <p:cNvSpPr txBox="1"/>
            <p:nvPr/>
          </p:nvSpPr>
          <p:spPr>
            <a:xfrm>
              <a:off x="1100581" y="1880"/>
              <a:ext cx="8678418" cy="952884"/>
            </a:xfrm>
            <a:prstGeom prst="rect">
              <a:avLst/>
            </a:prstGeom>
            <a:noFill/>
            <a:ln>
              <a:noFill/>
            </a:ln>
          </p:spPr>
          <p:txBody>
            <a:bodyPr spcFirstLastPara="1" wrap="square" lIns="100825" tIns="100825" rIns="100825" bIns="10082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A. Replacing human employees entirely</a:t>
              </a:r>
              <a:endParaRPr sz="2200">
                <a:solidFill>
                  <a:schemeClr val="dk1"/>
                </a:solidFill>
                <a:latin typeface="Arial"/>
                <a:ea typeface="Arial"/>
                <a:cs typeface="Arial"/>
                <a:sym typeface="Arial"/>
              </a:endParaRPr>
            </a:p>
          </p:txBody>
        </p:sp>
        <p:sp>
          <p:nvSpPr>
            <p:cNvPr id="1011" name="Google Shape;1011;p34"/>
            <p:cNvSpPr/>
            <p:nvPr/>
          </p:nvSpPr>
          <p:spPr>
            <a:xfrm>
              <a:off x="0" y="1192985"/>
              <a:ext cx="9779000" cy="952884"/>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4"/>
            <p:cNvSpPr/>
            <p:nvPr/>
          </p:nvSpPr>
          <p:spPr>
            <a:xfrm>
              <a:off x="288247" y="1407384"/>
              <a:ext cx="524086" cy="52408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4"/>
            <p:cNvSpPr/>
            <p:nvPr/>
          </p:nvSpPr>
          <p:spPr>
            <a:xfrm>
              <a:off x="1100581" y="1192985"/>
              <a:ext cx="8678418" cy="9528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4"/>
            <p:cNvSpPr txBox="1"/>
            <p:nvPr/>
          </p:nvSpPr>
          <p:spPr>
            <a:xfrm>
              <a:off x="1100581" y="1192985"/>
              <a:ext cx="8678418" cy="952884"/>
            </a:xfrm>
            <a:prstGeom prst="rect">
              <a:avLst/>
            </a:prstGeom>
            <a:noFill/>
            <a:ln>
              <a:noFill/>
            </a:ln>
          </p:spPr>
          <p:txBody>
            <a:bodyPr spcFirstLastPara="1" wrap="square" lIns="100825" tIns="100825" rIns="100825" bIns="10082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B. Screening resumes and assisting in recruitment</a:t>
              </a:r>
              <a:br>
                <a:rPr lang="en-US" sz="2200" b="0" i="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015" name="Google Shape;1015;p34"/>
            <p:cNvSpPr/>
            <p:nvPr/>
          </p:nvSpPr>
          <p:spPr>
            <a:xfrm>
              <a:off x="0" y="2384090"/>
              <a:ext cx="9779000" cy="952884"/>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4"/>
            <p:cNvSpPr/>
            <p:nvPr/>
          </p:nvSpPr>
          <p:spPr>
            <a:xfrm>
              <a:off x="288247" y="2598489"/>
              <a:ext cx="524086" cy="52408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4"/>
            <p:cNvSpPr/>
            <p:nvPr/>
          </p:nvSpPr>
          <p:spPr>
            <a:xfrm>
              <a:off x="1100581" y="2384090"/>
              <a:ext cx="8678418" cy="9528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4"/>
            <p:cNvSpPr txBox="1"/>
            <p:nvPr/>
          </p:nvSpPr>
          <p:spPr>
            <a:xfrm>
              <a:off x="1100581" y="2384090"/>
              <a:ext cx="8678418" cy="952884"/>
            </a:xfrm>
            <a:prstGeom prst="rect">
              <a:avLst/>
            </a:prstGeom>
            <a:noFill/>
            <a:ln>
              <a:noFill/>
            </a:ln>
          </p:spPr>
          <p:txBody>
            <a:bodyPr spcFirstLastPara="1" wrap="square" lIns="100825" tIns="100825" rIns="100825" bIns="10082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C. Handling payroll manually</a:t>
              </a:r>
              <a:br>
                <a:rPr lang="en-US" sz="2200" b="0" i="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019" name="Google Shape;1019;p34"/>
            <p:cNvSpPr/>
            <p:nvPr/>
          </p:nvSpPr>
          <p:spPr>
            <a:xfrm>
              <a:off x="0" y="3575195"/>
              <a:ext cx="9779000" cy="952884"/>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4"/>
            <p:cNvSpPr/>
            <p:nvPr/>
          </p:nvSpPr>
          <p:spPr>
            <a:xfrm>
              <a:off x="288247" y="3789594"/>
              <a:ext cx="524086" cy="524086"/>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4"/>
            <p:cNvSpPr/>
            <p:nvPr/>
          </p:nvSpPr>
          <p:spPr>
            <a:xfrm>
              <a:off x="1100581" y="3575195"/>
              <a:ext cx="8678418" cy="9528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4"/>
            <p:cNvSpPr txBox="1"/>
            <p:nvPr/>
          </p:nvSpPr>
          <p:spPr>
            <a:xfrm>
              <a:off x="1100581" y="3575195"/>
              <a:ext cx="8678418" cy="952884"/>
            </a:xfrm>
            <a:prstGeom prst="rect">
              <a:avLst/>
            </a:prstGeom>
            <a:noFill/>
            <a:ln>
              <a:noFill/>
            </a:ln>
          </p:spPr>
          <p:txBody>
            <a:bodyPr spcFirstLastPara="1" wrap="square" lIns="100825" tIns="100825" rIns="100825" bIns="100825"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D. Reducing employee salaries</a:t>
              </a:r>
              <a:endParaRPr sz="2200">
                <a:solidFill>
                  <a:schemeClr val="dk1"/>
                </a:solidFill>
                <a:latin typeface="Arial"/>
                <a:ea typeface="Arial"/>
                <a:cs typeface="Arial"/>
                <a:sym typeface="Arial"/>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6"/>
        <p:cNvGrpSpPr/>
        <p:nvPr/>
      </p:nvGrpSpPr>
      <p:grpSpPr>
        <a:xfrm>
          <a:off x="0" y="0"/>
          <a:ext cx="0" cy="0"/>
          <a:chOff x="0" y="0"/>
          <a:chExt cx="0" cy="0"/>
        </a:xfrm>
      </p:grpSpPr>
      <p:sp>
        <p:nvSpPr>
          <p:cNvPr id="1027" name="Google Shape;1027;p35"/>
          <p:cNvSpPr/>
          <p:nvPr/>
        </p:nvSpPr>
        <p:spPr>
          <a:xfrm>
            <a:off x="0"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028" name="Google Shape;1028;p35"/>
          <p:cNvGrpSpPr/>
          <p:nvPr/>
        </p:nvGrpSpPr>
        <p:grpSpPr>
          <a:xfrm>
            <a:off x="-9527" y="-6558"/>
            <a:ext cx="6254832" cy="6874766"/>
            <a:chOff x="-9149" y="3725"/>
            <a:chExt cx="6254832" cy="6887203"/>
          </a:xfrm>
        </p:grpSpPr>
        <p:sp>
          <p:nvSpPr>
            <p:cNvPr id="1029" name="Google Shape;1029;p35"/>
            <p:cNvSpPr/>
            <p:nvPr/>
          </p:nvSpPr>
          <p:spPr>
            <a:xfrm>
              <a:off x="-9149" y="238645"/>
              <a:ext cx="5933139" cy="6387893"/>
            </a:xfrm>
            <a:custGeom>
              <a:avLst/>
              <a:gdLst/>
              <a:ahLst/>
              <a:cxnLst/>
              <a:rect l="l" t="t" r="r" b="b"/>
              <a:pathLst>
                <a:path w="5933139" h="6335678" extrusionOk="0">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0" name="Google Shape;1030;p35"/>
            <p:cNvSpPr/>
            <p:nvPr/>
          </p:nvSpPr>
          <p:spPr>
            <a:xfrm>
              <a:off x="-9149" y="241478"/>
              <a:ext cx="5953893" cy="6434152"/>
            </a:xfrm>
            <a:custGeom>
              <a:avLst/>
              <a:gdLst/>
              <a:ahLst/>
              <a:cxnLst/>
              <a:rect l="l" t="t" r="r" b="b"/>
              <a:pathLst>
                <a:path w="5953893" h="6434152" extrusionOk="0">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1" name="Google Shape;1031;p35"/>
            <p:cNvSpPr/>
            <p:nvPr/>
          </p:nvSpPr>
          <p:spPr>
            <a:xfrm>
              <a:off x="-9149" y="231462"/>
              <a:ext cx="5953893" cy="6444167"/>
            </a:xfrm>
            <a:custGeom>
              <a:avLst/>
              <a:gdLst/>
              <a:ahLst/>
              <a:cxnLst/>
              <a:rect l="l" t="t" r="r" b="b"/>
              <a:pathLst>
                <a:path w="5953893" h="6434152" extrusionOk="0">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2" name="Google Shape;1032;p35"/>
            <p:cNvSpPr/>
            <p:nvPr/>
          </p:nvSpPr>
          <p:spPr>
            <a:xfrm>
              <a:off x="-9149" y="3725"/>
              <a:ext cx="5855313" cy="6880645"/>
            </a:xfrm>
            <a:custGeom>
              <a:avLst/>
              <a:gdLst/>
              <a:ahLst/>
              <a:cxnLst/>
              <a:rect l="l" t="t" r="r" b="b"/>
              <a:pathLst>
                <a:path w="5855313" h="6880645" extrusionOk="0">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33" name="Google Shape;1033;p35"/>
            <p:cNvSpPr/>
            <p:nvPr/>
          </p:nvSpPr>
          <p:spPr>
            <a:xfrm>
              <a:off x="-9149" y="26370"/>
              <a:ext cx="6254832" cy="6864558"/>
            </a:xfrm>
            <a:custGeom>
              <a:avLst/>
              <a:gdLst/>
              <a:ahLst/>
              <a:cxnLst/>
              <a:rect l="l" t="t" r="r" b="b"/>
              <a:pathLst>
                <a:path w="6254832" h="6864558" extrusionOk="0">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34" name="Google Shape;1034;p35"/>
          <p:cNvSpPr txBox="1">
            <a:spLocks noGrp="1"/>
          </p:cNvSpPr>
          <p:nvPr>
            <p:ph type="title"/>
          </p:nvPr>
        </p:nvSpPr>
        <p:spPr>
          <a:xfrm>
            <a:off x="1399319" y="250826"/>
            <a:ext cx="10005281" cy="2003302"/>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dk2"/>
              </a:buClr>
              <a:buSzPts val="4400"/>
              <a:buFont typeface="Play"/>
              <a:buNone/>
            </a:pPr>
            <a:r>
              <a:rPr lang="en-US">
                <a:solidFill>
                  <a:schemeClr val="dk2"/>
                </a:solidFill>
              </a:rPr>
              <a:t>Which AI technology is commonly used in Marketing to provide personalized recommendations?</a:t>
            </a:r>
            <a:endParaRPr/>
          </a:p>
        </p:txBody>
      </p:sp>
      <p:grpSp>
        <p:nvGrpSpPr>
          <p:cNvPr id="1035" name="Google Shape;1035;p35"/>
          <p:cNvGrpSpPr/>
          <p:nvPr/>
        </p:nvGrpSpPr>
        <p:grpSpPr>
          <a:xfrm>
            <a:off x="1399319" y="2407950"/>
            <a:ext cx="9725882" cy="4126602"/>
            <a:chOff x="0" y="1714"/>
            <a:chExt cx="9725882" cy="4126602"/>
          </a:xfrm>
        </p:grpSpPr>
        <p:sp>
          <p:nvSpPr>
            <p:cNvPr id="1036" name="Google Shape;1036;p35"/>
            <p:cNvSpPr/>
            <p:nvPr/>
          </p:nvSpPr>
          <p:spPr>
            <a:xfrm>
              <a:off x="0" y="1714"/>
              <a:ext cx="9725882" cy="86875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5"/>
            <p:cNvSpPr/>
            <p:nvPr/>
          </p:nvSpPr>
          <p:spPr>
            <a:xfrm>
              <a:off x="262799" y="197184"/>
              <a:ext cx="477817" cy="477817"/>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5"/>
            <p:cNvSpPr/>
            <p:nvPr/>
          </p:nvSpPr>
          <p:spPr>
            <a:xfrm>
              <a:off x="1003416" y="1714"/>
              <a:ext cx="8722465" cy="86875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5"/>
            <p:cNvSpPr txBox="1"/>
            <p:nvPr/>
          </p:nvSpPr>
          <p:spPr>
            <a:xfrm>
              <a:off x="1003416" y="1714"/>
              <a:ext cx="8722465" cy="868758"/>
            </a:xfrm>
            <a:prstGeom prst="rect">
              <a:avLst/>
            </a:prstGeom>
            <a:noFill/>
            <a:ln>
              <a:noFill/>
            </a:ln>
          </p:spPr>
          <p:txBody>
            <a:bodyPr spcFirstLastPara="1" wrap="square" lIns="91925" tIns="91925" rIns="91925" bIns="919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Blockchain</a:t>
              </a:r>
              <a:endParaRPr sz="2200">
                <a:solidFill>
                  <a:schemeClr val="dk1"/>
                </a:solidFill>
                <a:latin typeface="Arial"/>
                <a:ea typeface="Arial"/>
                <a:cs typeface="Arial"/>
                <a:sym typeface="Arial"/>
              </a:endParaRPr>
            </a:p>
          </p:txBody>
        </p:sp>
        <p:sp>
          <p:nvSpPr>
            <p:cNvPr id="1040" name="Google Shape;1040;p35"/>
            <p:cNvSpPr/>
            <p:nvPr/>
          </p:nvSpPr>
          <p:spPr>
            <a:xfrm>
              <a:off x="0" y="1087662"/>
              <a:ext cx="9725882" cy="86875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5"/>
            <p:cNvSpPr/>
            <p:nvPr/>
          </p:nvSpPr>
          <p:spPr>
            <a:xfrm>
              <a:off x="262799" y="1283132"/>
              <a:ext cx="477817" cy="477817"/>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5"/>
            <p:cNvSpPr/>
            <p:nvPr/>
          </p:nvSpPr>
          <p:spPr>
            <a:xfrm>
              <a:off x="1003416" y="1087662"/>
              <a:ext cx="8722465" cy="86875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5"/>
            <p:cNvSpPr txBox="1"/>
            <p:nvPr/>
          </p:nvSpPr>
          <p:spPr>
            <a:xfrm>
              <a:off x="1003416" y="1087662"/>
              <a:ext cx="8722465" cy="868758"/>
            </a:xfrm>
            <a:prstGeom prst="rect">
              <a:avLst/>
            </a:prstGeom>
            <a:noFill/>
            <a:ln>
              <a:noFill/>
            </a:ln>
          </p:spPr>
          <p:txBody>
            <a:bodyPr spcFirstLastPara="1" wrap="square" lIns="91925" tIns="91925" rIns="91925" bIns="919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Chatbots</a:t>
              </a:r>
              <a:endParaRPr sz="2200">
                <a:solidFill>
                  <a:schemeClr val="dk1"/>
                </a:solidFill>
                <a:latin typeface="Arial"/>
                <a:ea typeface="Arial"/>
                <a:cs typeface="Arial"/>
                <a:sym typeface="Arial"/>
              </a:endParaRPr>
            </a:p>
          </p:txBody>
        </p:sp>
        <p:sp>
          <p:nvSpPr>
            <p:cNvPr id="1044" name="Google Shape;1044;p35"/>
            <p:cNvSpPr/>
            <p:nvPr/>
          </p:nvSpPr>
          <p:spPr>
            <a:xfrm>
              <a:off x="0" y="2173610"/>
              <a:ext cx="9725882" cy="86875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5"/>
            <p:cNvSpPr/>
            <p:nvPr/>
          </p:nvSpPr>
          <p:spPr>
            <a:xfrm>
              <a:off x="262799" y="2369080"/>
              <a:ext cx="477817" cy="477817"/>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5"/>
            <p:cNvSpPr/>
            <p:nvPr/>
          </p:nvSpPr>
          <p:spPr>
            <a:xfrm>
              <a:off x="1003416" y="2173610"/>
              <a:ext cx="8722465" cy="86875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5"/>
            <p:cNvSpPr txBox="1"/>
            <p:nvPr/>
          </p:nvSpPr>
          <p:spPr>
            <a:xfrm>
              <a:off x="1003416" y="2173610"/>
              <a:ext cx="8722465" cy="868758"/>
            </a:xfrm>
            <a:prstGeom prst="rect">
              <a:avLst/>
            </a:prstGeom>
            <a:noFill/>
            <a:ln>
              <a:noFill/>
            </a:ln>
          </p:spPr>
          <p:txBody>
            <a:bodyPr spcFirstLastPara="1" wrap="square" lIns="91925" tIns="91925" rIns="91925" bIns="919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Machine Learning Algorithms</a:t>
              </a:r>
              <a:endParaRPr sz="2200">
                <a:solidFill>
                  <a:schemeClr val="dk1"/>
                </a:solidFill>
                <a:latin typeface="Arial"/>
                <a:ea typeface="Arial"/>
                <a:cs typeface="Arial"/>
                <a:sym typeface="Arial"/>
              </a:endParaRPr>
            </a:p>
          </p:txBody>
        </p:sp>
        <p:sp>
          <p:nvSpPr>
            <p:cNvPr id="1048" name="Google Shape;1048;p35"/>
            <p:cNvSpPr/>
            <p:nvPr/>
          </p:nvSpPr>
          <p:spPr>
            <a:xfrm>
              <a:off x="0" y="3259558"/>
              <a:ext cx="9725882" cy="868758"/>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5"/>
            <p:cNvSpPr/>
            <p:nvPr/>
          </p:nvSpPr>
          <p:spPr>
            <a:xfrm>
              <a:off x="262799" y="3455029"/>
              <a:ext cx="477817" cy="477817"/>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5"/>
            <p:cNvSpPr/>
            <p:nvPr/>
          </p:nvSpPr>
          <p:spPr>
            <a:xfrm>
              <a:off x="1003416" y="3259558"/>
              <a:ext cx="8722465" cy="868758"/>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35"/>
            <p:cNvSpPr txBox="1"/>
            <p:nvPr/>
          </p:nvSpPr>
          <p:spPr>
            <a:xfrm>
              <a:off x="1003416" y="3259558"/>
              <a:ext cx="8722465" cy="868758"/>
            </a:xfrm>
            <a:prstGeom prst="rect">
              <a:avLst/>
            </a:prstGeom>
            <a:noFill/>
            <a:ln>
              <a:noFill/>
            </a:ln>
          </p:spPr>
          <p:txBody>
            <a:bodyPr spcFirstLastPara="1" wrap="square" lIns="91925" tIns="91925" rIns="91925" bIns="919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b="0" i="0">
                  <a:solidFill>
                    <a:schemeClr val="dk1"/>
                  </a:solidFill>
                  <a:latin typeface="Arial"/>
                  <a:ea typeface="Arial"/>
                  <a:cs typeface="Arial"/>
                  <a:sym typeface="Arial"/>
                </a:rPr>
                <a:t>None of the above</a:t>
              </a:r>
              <a:endParaRPr sz="2200">
                <a:solidFill>
                  <a:schemeClr val="dk1"/>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5"/>
        <p:cNvGrpSpPr/>
        <p:nvPr/>
      </p:nvGrpSpPr>
      <p:grpSpPr>
        <a:xfrm>
          <a:off x="0" y="0"/>
          <a:ext cx="0" cy="0"/>
          <a:chOff x="0" y="0"/>
          <a:chExt cx="0" cy="0"/>
        </a:xfrm>
      </p:grpSpPr>
      <p:sp>
        <p:nvSpPr>
          <p:cNvPr id="1056" name="Google Shape;1056;p36"/>
          <p:cNvSpPr/>
          <p:nvPr/>
        </p:nvSpPr>
        <p:spPr>
          <a:xfrm>
            <a:off x="0"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057" name="Google Shape;1057;p36"/>
          <p:cNvGrpSpPr/>
          <p:nvPr/>
        </p:nvGrpSpPr>
        <p:grpSpPr>
          <a:xfrm>
            <a:off x="-9527" y="-6558"/>
            <a:ext cx="6254832" cy="6874766"/>
            <a:chOff x="-9149" y="3725"/>
            <a:chExt cx="6254832" cy="6887203"/>
          </a:xfrm>
        </p:grpSpPr>
        <p:sp>
          <p:nvSpPr>
            <p:cNvPr id="1058" name="Google Shape;1058;p36"/>
            <p:cNvSpPr/>
            <p:nvPr/>
          </p:nvSpPr>
          <p:spPr>
            <a:xfrm>
              <a:off x="-9149" y="238645"/>
              <a:ext cx="5933139" cy="6387893"/>
            </a:xfrm>
            <a:custGeom>
              <a:avLst/>
              <a:gdLst/>
              <a:ahLst/>
              <a:cxnLst/>
              <a:rect l="l" t="t" r="r" b="b"/>
              <a:pathLst>
                <a:path w="5933139" h="6335678" extrusionOk="0">
                  <a:moveTo>
                    <a:pt x="5852909" y="2469528"/>
                  </a:moveTo>
                  <a:lnTo>
                    <a:pt x="5830799" y="2394015"/>
                  </a:lnTo>
                  <a:lnTo>
                    <a:pt x="5805878" y="2319439"/>
                  </a:lnTo>
                  <a:cubicBezTo>
                    <a:pt x="5797446" y="2294705"/>
                    <a:pt x="5787890" y="2270346"/>
                    <a:pt x="5778708" y="2245800"/>
                  </a:cubicBezTo>
                  <a:cubicBezTo>
                    <a:pt x="5740858" y="2148364"/>
                    <a:pt x="5699073" y="2052614"/>
                    <a:pt x="5652978" y="1959675"/>
                  </a:cubicBezTo>
                  <a:cubicBezTo>
                    <a:pt x="5559664" y="1773985"/>
                    <a:pt x="5450986" y="1597663"/>
                    <a:pt x="5327691" y="1432958"/>
                  </a:cubicBezTo>
                  <a:cubicBezTo>
                    <a:pt x="5204960" y="1268067"/>
                    <a:pt x="5068362" y="1114980"/>
                    <a:pt x="4921458" y="973322"/>
                  </a:cubicBezTo>
                  <a:cubicBezTo>
                    <a:pt x="4774742" y="831665"/>
                    <a:pt x="4616408" y="703125"/>
                    <a:pt x="4450018" y="586764"/>
                  </a:cubicBezTo>
                  <a:cubicBezTo>
                    <a:pt x="4366822" y="528489"/>
                    <a:pt x="4281003" y="474337"/>
                    <a:pt x="4193311" y="423558"/>
                  </a:cubicBezTo>
                  <a:cubicBezTo>
                    <a:pt x="4105806" y="372404"/>
                    <a:pt x="4015865" y="325560"/>
                    <a:pt x="3924237" y="281901"/>
                  </a:cubicBezTo>
                  <a:cubicBezTo>
                    <a:pt x="3740983" y="195333"/>
                    <a:pt x="3549483" y="125067"/>
                    <a:pt x="3352175" y="75786"/>
                  </a:cubicBezTo>
                  <a:cubicBezTo>
                    <a:pt x="3253428" y="51240"/>
                    <a:pt x="3153368" y="31565"/>
                    <a:pt x="3051997" y="19011"/>
                  </a:cubicBezTo>
                  <a:cubicBezTo>
                    <a:pt x="2950814" y="5895"/>
                    <a:pt x="2848506" y="-851"/>
                    <a:pt x="2745823" y="86"/>
                  </a:cubicBezTo>
                  <a:cubicBezTo>
                    <a:pt x="2543643" y="1585"/>
                    <a:pt x="2341838" y="20135"/>
                    <a:pt x="2141720" y="55550"/>
                  </a:cubicBezTo>
                  <a:cubicBezTo>
                    <a:pt x="1941976" y="91339"/>
                    <a:pt x="1743356" y="143055"/>
                    <a:pt x="1551295" y="216319"/>
                  </a:cubicBezTo>
                  <a:cubicBezTo>
                    <a:pt x="1359233" y="289396"/>
                    <a:pt x="1173917" y="383459"/>
                    <a:pt x="1001718" y="498134"/>
                  </a:cubicBezTo>
                  <a:cubicBezTo>
                    <a:pt x="915712" y="555659"/>
                    <a:pt x="832141" y="617119"/>
                    <a:pt x="754755" y="685886"/>
                  </a:cubicBezTo>
                  <a:cubicBezTo>
                    <a:pt x="677555" y="754841"/>
                    <a:pt x="604666" y="828293"/>
                    <a:pt x="533462" y="903056"/>
                  </a:cubicBezTo>
                  <a:cubicBezTo>
                    <a:pt x="323413" y="1125660"/>
                    <a:pt x="143906" y="1376370"/>
                    <a:pt x="0" y="1646568"/>
                  </a:cubicBezTo>
                  <a:lnTo>
                    <a:pt x="0" y="4709059"/>
                  </a:lnTo>
                  <a:cubicBezTo>
                    <a:pt x="37850" y="4776702"/>
                    <a:pt x="78136" y="4843033"/>
                    <a:pt x="120671" y="4907491"/>
                  </a:cubicBezTo>
                  <a:cubicBezTo>
                    <a:pt x="234034" y="5078941"/>
                    <a:pt x="365198" y="5239336"/>
                    <a:pt x="507979" y="5384178"/>
                  </a:cubicBezTo>
                  <a:cubicBezTo>
                    <a:pt x="650948" y="5529395"/>
                    <a:pt x="805909" y="5662059"/>
                    <a:pt x="972112" y="5778607"/>
                  </a:cubicBezTo>
                  <a:cubicBezTo>
                    <a:pt x="1055308" y="5836881"/>
                    <a:pt x="1141314" y="5890846"/>
                    <a:pt x="1229943" y="5939939"/>
                  </a:cubicBezTo>
                  <a:cubicBezTo>
                    <a:pt x="1318385" y="5989406"/>
                    <a:pt x="1409450" y="6033815"/>
                    <a:pt x="1502389" y="6073913"/>
                  </a:cubicBezTo>
                  <a:cubicBezTo>
                    <a:pt x="1874145" y="6233559"/>
                    <a:pt x="2272884" y="6320689"/>
                    <a:pt x="2673870" y="6333993"/>
                  </a:cubicBezTo>
                  <a:lnTo>
                    <a:pt x="2749196" y="6335679"/>
                  </a:lnTo>
                  <a:lnTo>
                    <a:pt x="2787983" y="6335492"/>
                  </a:lnTo>
                  <a:lnTo>
                    <a:pt x="2826770" y="6334368"/>
                  </a:lnTo>
                  <a:cubicBezTo>
                    <a:pt x="2878486" y="6332494"/>
                    <a:pt x="2930390" y="6327247"/>
                    <a:pt x="2981918" y="6319939"/>
                  </a:cubicBezTo>
                  <a:cubicBezTo>
                    <a:pt x="3085163" y="6304949"/>
                    <a:pt x="3187096" y="6278529"/>
                    <a:pt x="3285282" y="6241803"/>
                  </a:cubicBezTo>
                  <a:cubicBezTo>
                    <a:pt x="3383467" y="6205265"/>
                    <a:pt x="3477530" y="6158608"/>
                    <a:pt x="3566347" y="6104831"/>
                  </a:cubicBezTo>
                  <a:cubicBezTo>
                    <a:pt x="3655164" y="6051053"/>
                    <a:pt x="3739109" y="5990905"/>
                    <a:pt x="3818369" y="5926823"/>
                  </a:cubicBezTo>
                  <a:cubicBezTo>
                    <a:pt x="3897630" y="5862739"/>
                    <a:pt x="3973143" y="5795471"/>
                    <a:pt x="4044908" y="5726329"/>
                  </a:cubicBezTo>
                  <a:cubicBezTo>
                    <a:pt x="4080884" y="5691852"/>
                    <a:pt x="4116299" y="5656999"/>
                    <a:pt x="4151151" y="5622147"/>
                  </a:cubicBezTo>
                  <a:cubicBezTo>
                    <a:pt x="4185816" y="5586920"/>
                    <a:pt x="4220106" y="5552068"/>
                    <a:pt x="4253834" y="5516841"/>
                  </a:cubicBezTo>
                  <a:cubicBezTo>
                    <a:pt x="4321289" y="5446388"/>
                    <a:pt x="4387808" y="5376871"/>
                    <a:pt x="4452453" y="5306979"/>
                  </a:cubicBezTo>
                  <a:lnTo>
                    <a:pt x="4548578" y="5202797"/>
                  </a:lnTo>
                  <a:lnTo>
                    <a:pt x="4596546" y="5151456"/>
                  </a:lnTo>
                  <a:cubicBezTo>
                    <a:pt x="4612661" y="5134592"/>
                    <a:pt x="4627276" y="5119040"/>
                    <a:pt x="4643016" y="5103300"/>
                  </a:cubicBezTo>
                  <a:cubicBezTo>
                    <a:pt x="4674308" y="5072196"/>
                    <a:pt x="4706162" y="5041841"/>
                    <a:pt x="4739515" y="5013172"/>
                  </a:cubicBezTo>
                  <a:cubicBezTo>
                    <a:pt x="4772493" y="4984128"/>
                    <a:pt x="4806596" y="4956397"/>
                    <a:pt x="4842198" y="4930164"/>
                  </a:cubicBezTo>
                  <a:cubicBezTo>
                    <a:pt x="4913026" y="4876949"/>
                    <a:pt x="4988914" y="4828980"/>
                    <a:pt x="5071360" y="4780449"/>
                  </a:cubicBezTo>
                  <a:cubicBezTo>
                    <a:pt x="5153243" y="4731544"/>
                    <a:pt x="5243372" y="4682076"/>
                    <a:pt x="5332001" y="4615932"/>
                  </a:cubicBezTo>
                  <a:cubicBezTo>
                    <a:pt x="5354111" y="4599443"/>
                    <a:pt x="5376035" y="4582205"/>
                    <a:pt x="5397396" y="4563655"/>
                  </a:cubicBezTo>
                  <a:cubicBezTo>
                    <a:pt x="5418757" y="4545104"/>
                    <a:pt x="5439368" y="4525617"/>
                    <a:pt x="5459417" y="4505380"/>
                  </a:cubicBezTo>
                  <a:cubicBezTo>
                    <a:pt x="5499329" y="4464719"/>
                    <a:pt x="5535493" y="4420311"/>
                    <a:pt x="5567159" y="4374029"/>
                  </a:cubicBezTo>
                  <a:cubicBezTo>
                    <a:pt x="5599388" y="4328121"/>
                    <a:pt x="5626558" y="4279965"/>
                    <a:pt x="5651292" y="4231810"/>
                  </a:cubicBezTo>
                  <a:cubicBezTo>
                    <a:pt x="5675651" y="4183466"/>
                    <a:pt x="5697012" y="4134561"/>
                    <a:pt x="5716686" y="4085655"/>
                  </a:cubicBezTo>
                  <a:cubicBezTo>
                    <a:pt x="5756223" y="3987845"/>
                    <a:pt x="5789576" y="3891158"/>
                    <a:pt x="5820681" y="3791848"/>
                  </a:cubicBezTo>
                  <a:cubicBezTo>
                    <a:pt x="5851972" y="3692726"/>
                    <a:pt x="5878955" y="3591167"/>
                    <a:pt x="5898629" y="3487922"/>
                  </a:cubicBezTo>
                  <a:cubicBezTo>
                    <a:pt x="5918116" y="3384490"/>
                    <a:pt x="5929172" y="3279372"/>
                    <a:pt x="5932170" y="3174066"/>
                  </a:cubicBezTo>
                  <a:cubicBezTo>
                    <a:pt x="5937604" y="2963454"/>
                    <a:pt x="5920552" y="2750968"/>
                    <a:pt x="5872209" y="2545978"/>
                  </a:cubicBezTo>
                  <a:cubicBezTo>
                    <a:pt x="5865838" y="2520307"/>
                    <a:pt x="5860029" y="2494637"/>
                    <a:pt x="5852909" y="2469528"/>
                  </a:cubicBezTo>
                  <a:close/>
                  <a:moveTo>
                    <a:pt x="5507386" y="3724580"/>
                  </a:moveTo>
                  <a:cubicBezTo>
                    <a:pt x="5497830" y="3814521"/>
                    <a:pt x="5480591" y="3905586"/>
                    <a:pt x="5453609" y="3989906"/>
                  </a:cubicBezTo>
                  <a:cubicBezTo>
                    <a:pt x="5426439" y="4074413"/>
                    <a:pt x="5390088" y="4152924"/>
                    <a:pt x="5344181" y="4220380"/>
                  </a:cubicBezTo>
                  <a:cubicBezTo>
                    <a:pt x="5297898" y="4287835"/>
                    <a:pt x="5241311" y="4342549"/>
                    <a:pt x="5171419" y="4388644"/>
                  </a:cubicBezTo>
                  <a:cubicBezTo>
                    <a:pt x="5136755" y="4411879"/>
                    <a:pt x="5098342" y="4433052"/>
                    <a:pt x="5057868" y="4453851"/>
                  </a:cubicBezTo>
                  <a:cubicBezTo>
                    <a:pt x="5017395" y="4474837"/>
                    <a:pt x="4974298" y="4495449"/>
                    <a:pt x="4930265" y="4516810"/>
                  </a:cubicBezTo>
                  <a:cubicBezTo>
                    <a:pt x="4841823" y="4559719"/>
                    <a:pt x="4748696" y="4607126"/>
                    <a:pt x="4660067" y="4664276"/>
                  </a:cubicBezTo>
                  <a:cubicBezTo>
                    <a:pt x="4571251" y="4721238"/>
                    <a:pt x="4486181" y="4786071"/>
                    <a:pt x="4408794" y="4857836"/>
                  </a:cubicBezTo>
                  <a:cubicBezTo>
                    <a:pt x="4389682" y="4875637"/>
                    <a:pt x="4370008" y="4894375"/>
                    <a:pt x="4352207" y="4911988"/>
                  </a:cubicBezTo>
                  <a:lnTo>
                    <a:pt x="4299366" y="4965390"/>
                  </a:lnTo>
                  <a:cubicBezTo>
                    <a:pt x="4264514" y="5001179"/>
                    <a:pt x="4230599" y="5037531"/>
                    <a:pt x="4197621" y="5074257"/>
                  </a:cubicBezTo>
                  <a:cubicBezTo>
                    <a:pt x="4131664" y="5147896"/>
                    <a:pt x="4070204" y="5223784"/>
                    <a:pt x="4008744" y="5297985"/>
                  </a:cubicBezTo>
                  <a:lnTo>
                    <a:pt x="3917304" y="5409100"/>
                  </a:lnTo>
                  <a:cubicBezTo>
                    <a:pt x="3886949" y="5446013"/>
                    <a:pt x="3856782" y="5482364"/>
                    <a:pt x="3826052" y="5518153"/>
                  </a:cubicBezTo>
                  <a:cubicBezTo>
                    <a:pt x="3764592" y="5589544"/>
                    <a:pt x="3702758" y="5659435"/>
                    <a:pt x="3637925" y="5725017"/>
                  </a:cubicBezTo>
                  <a:cubicBezTo>
                    <a:pt x="3573093" y="5790412"/>
                    <a:pt x="3505637" y="5852059"/>
                    <a:pt x="3433497" y="5906586"/>
                  </a:cubicBezTo>
                  <a:cubicBezTo>
                    <a:pt x="3361544" y="5961112"/>
                    <a:pt x="3285469" y="6009268"/>
                    <a:pt x="3204522" y="6046744"/>
                  </a:cubicBezTo>
                  <a:cubicBezTo>
                    <a:pt x="3123763" y="6084594"/>
                    <a:pt x="3038506" y="6112513"/>
                    <a:pt x="2950439" y="6129190"/>
                  </a:cubicBezTo>
                  <a:cubicBezTo>
                    <a:pt x="2906405" y="6137809"/>
                    <a:pt x="2861810" y="6143055"/>
                    <a:pt x="2816839" y="6146428"/>
                  </a:cubicBezTo>
                  <a:cubicBezTo>
                    <a:pt x="2794354" y="6147927"/>
                    <a:pt x="2771681" y="6148677"/>
                    <a:pt x="2749009" y="6149051"/>
                  </a:cubicBezTo>
                  <a:lnTo>
                    <a:pt x="2678930" y="6148677"/>
                  </a:lnTo>
                  <a:cubicBezTo>
                    <a:pt x="2491927" y="6144367"/>
                    <a:pt x="2305675" y="6116260"/>
                    <a:pt x="2125793" y="6065481"/>
                  </a:cubicBezTo>
                  <a:cubicBezTo>
                    <a:pt x="1945911" y="6014515"/>
                    <a:pt x="1773524" y="5940501"/>
                    <a:pt x="1610506" y="5851310"/>
                  </a:cubicBezTo>
                  <a:cubicBezTo>
                    <a:pt x="1528997" y="5806714"/>
                    <a:pt x="1449924" y="5757808"/>
                    <a:pt x="1373099" y="5706279"/>
                  </a:cubicBezTo>
                  <a:lnTo>
                    <a:pt x="1315949" y="5666743"/>
                  </a:lnTo>
                  <a:lnTo>
                    <a:pt x="1259923" y="5625894"/>
                  </a:lnTo>
                  <a:lnTo>
                    <a:pt x="1204647" y="5583922"/>
                  </a:lnTo>
                  <a:cubicBezTo>
                    <a:pt x="1186284" y="5569869"/>
                    <a:pt x="1168483" y="5555066"/>
                    <a:pt x="1150308" y="5540826"/>
                  </a:cubicBezTo>
                  <a:cubicBezTo>
                    <a:pt x="1006402" y="5424839"/>
                    <a:pt x="872615" y="5296860"/>
                    <a:pt x="751569" y="5158015"/>
                  </a:cubicBezTo>
                  <a:cubicBezTo>
                    <a:pt x="721214" y="5123350"/>
                    <a:pt x="691983" y="5087935"/>
                    <a:pt x="663315" y="5052146"/>
                  </a:cubicBezTo>
                  <a:cubicBezTo>
                    <a:pt x="635021" y="5016170"/>
                    <a:pt x="607289" y="4980006"/>
                    <a:pt x="580869" y="4942718"/>
                  </a:cubicBezTo>
                  <a:cubicBezTo>
                    <a:pt x="527654" y="4868517"/>
                    <a:pt x="478186" y="4791880"/>
                    <a:pt x="432279" y="4713369"/>
                  </a:cubicBezTo>
                  <a:cubicBezTo>
                    <a:pt x="340651" y="4556159"/>
                    <a:pt x="264764" y="4390330"/>
                    <a:pt x="205553" y="4219443"/>
                  </a:cubicBezTo>
                  <a:cubicBezTo>
                    <a:pt x="146154" y="4048555"/>
                    <a:pt x="104369" y="3872045"/>
                    <a:pt x="79448" y="3693850"/>
                  </a:cubicBezTo>
                  <a:cubicBezTo>
                    <a:pt x="67268" y="3604659"/>
                    <a:pt x="58087" y="3515092"/>
                    <a:pt x="53590" y="3425339"/>
                  </a:cubicBezTo>
                  <a:cubicBezTo>
                    <a:pt x="47969" y="3335585"/>
                    <a:pt x="47406" y="3245644"/>
                    <a:pt x="49655" y="3155890"/>
                  </a:cubicBezTo>
                  <a:cubicBezTo>
                    <a:pt x="52278" y="3066137"/>
                    <a:pt x="58274" y="2976383"/>
                    <a:pt x="67830" y="2886817"/>
                  </a:cubicBezTo>
                  <a:cubicBezTo>
                    <a:pt x="77761" y="2797438"/>
                    <a:pt x="91253" y="2708246"/>
                    <a:pt x="108679" y="2619992"/>
                  </a:cubicBezTo>
                  <a:cubicBezTo>
                    <a:pt x="143906" y="2443108"/>
                    <a:pt x="195809" y="2269409"/>
                    <a:pt x="263077" y="2101520"/>
                  </a:cubicBezTo>
                  <a:cubicBezTo>
                    <a:pt x="397614" y="1765740"/>
                    <a:pt x="593048" y="1453382"/>
                    <a:pt x="837575" y="1186370"/>
                  </a:cubicBezTo>
                  <a:cubicBezTo>
                    <a:pt x="898473" y="1119289"/>
                    <a:pt x="964242" y="1056893"/>
                    <a:pt x="1031698" y="996932"/>
                  </a:cubicBezTo>
                  <a:cubicBezTo>
                    <a:pt x="1099154" y="936784"/>
                    <a:pt x="1166235" y="876261"/>
                    <a:pt x="1236688" y="819298"/>
                  </a:cubicBezTo>
                  <a:cubicBezTo>
                    <a:pt x="1377221" y="704999"/>
                    <a:pt x="1526935" y="600442"/>
                    <a:pt x="1687143" y="511438"/>
                  </a:cubicBezTo>
                  <a:cubicBezTo>
                    <a:pt x="1847163" y="422621"/>
                    <a:pt x="2017676" y="348795"/>
                    <a:pt x="2196246" y="300639"/>
                  </a:cubicBezTo>
                  <a:cubicBezTo>
                    <a:pt x="2374629" y="251921"/>
                    <a:pt x="2560320" y="227749"/>
                    <a:pt x="2745823" y="229248"/>
                  </a:cubicBezTo>
                  <a:cubicBezTo>
                    <a:pt x="2837076" y="230372"/>
                    <a:pt x="2928516" y="238055"/>
                    <a:pt x="3019206" y="252108"/>
                  </a:cubicBezTo>
                  <a:cubicBezTo>
                    <a:pt x="3109710" y="266724"/>
                    <a:pt x="3199650" y="286773"/>
                    <a:pt x="3288092" y="313006"/>
                  </a:cubicBezTo>
                  <a:cubicBezTo>
                    <a:pt x="3376347" y="339426"/>
                    <a:pt x="3463477" y="370343"/>
                    <a:pt x="3548172" y="407069"/>
                  </a:cubicBezTo>
                  <a:cubicBezTo>
                    <a:pt x="3569345" y="416438"/>
                    <a:pt x="3590519" y="425432"/>
                    <a:pt x="3611505" y="435176"/>
                  </a:cubicBezTo>
                  <a:lnTo>
                    <a:pt x="3674089" y="464968"/>
                  </a:lnTo>
                  <a:lnTo>
                    <a:pt x="3735736" y="496823"/>
                  </a:lnTo>
                  <a:cubicBezTo>
                    <a:pt x="3756160" y="507690"/>
                    <a:pt x="3776397" y="519120"/>
                    <a:pt x="3796634" y="530176"/>
                  </a:cubicBezTo>
                  <a:cubicBezTo>
                    <a:pt x="3957965" y="621054"/>
                    <a:pt x="4110303" y="728046"/>
                    <a:pt x="4251585" y="847405"/>
                  </a:cubicBezTo>
                  <a:cubicBezTo>
                    <a:pt x="4393242" y="966390"/>
                    <a:pt x="4524781" y="1096991"/>
                    <a:pt x="4644515" y="1236775"/>
                  </a:cubicBezTo>
                  <a:cubicBezTo>
                    <a:pt x="4704663" y="1306479"/>
                    <a:pt x="4762375" y="1378057"/>
                    <a:pt x="4816527" y="1451883"/>
                  </a:cubicBezTo>
                  <a:cubicBezTo>
                    <a:pt x="4870679" y="1525897"/>
                    <a:pt x="4922020" y="1601598"/>
                    <a:pt x="4970738" y="1678610"/>
                  </a:cubicBezTo>
                  <a:cubicBezTo>
                    <a:pt x="5067799" y="1833008"/>
                    <a:pt x="5152494" y="1993965"/>
                    <a:pt x="5223885" y="2159232"/>
                  </a:cubicBezTo>
                  <a:cubicBezTo>
                    <a:pt x="5295275" y="2324686"/>
                    <a:pt x="5349615" y="2495199"/>
                    <a:pt x="5395709" y="2666087"/>
                  </a:cubicBezTo>
                  <a:cubicBezTo>
                    <a:pt x="5418757" y="2751718"/>
                    <a:pt x="5440680" y="2837537"/>
                    <a:pt x="5458855" y="2924292"/>
                  </a:cubicBezTo>
                  <a:cubicBezTo>
                    <a:pt x="5477406" y="3011048"/>
                    <a:pt x="5490522" y="3098740"/>
                    <a:pt x="5499142" y="3186995"/>
                  </a:cubicBezTo>
                  <a:cubicBezTo>
                    <a:pt x="5507761" y="3275250"/>
                    <a:pt x="5513944" y="3364254"/>
                    <a:pt x="5516755" y="3454007"/>
                  </a:cubicBezTo>
                  <a:cubicBezTo>
                    <a:pt x="5518629" y="3543761"/>
                    <a:pt x="5516755" y="3634264"/>
                    <a:pt x="5507386" y="3724580"/>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59" name="Google Shape;1059;p36"/>
            <p:cNvSpPr/>
            <p:nvPr/>
          </p:nvSpPr>
          <p:spPr>
            <a:xfrm>
              <a:off x="-9149" y="241478"/>
              <a:ext cx="5953893" cy="6434152"/>
            </a:xfrm>
            <a:custGeom>
              <a:avLst/>
              <a:gdLst/>
              <a:ahLst/>
              <a:cxnLst/>
              <a:rect l="l" t="t" r="r" b="b"/>
              <a:pathLst>
                <a:path w="5953893" h="6434152" extrusionOk="0">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317011" y="3797009"/>
                  </a:moveTo>
                  <a:cubicBezTo>
                    <a:pt x="5275976" y="3943538"/>
                    <a:pt x="5228756" y="4045658"/>
                    <a:pt x="5176478" y="4100747"/>
                  </a:cubicBezTo>
                  <a:cubicBezTo>
                    <a:pt x="5131883" y="4147591"/>
                    <a:pt x="5061991" y="4186004"/>
                    <a:pt x="4942257" y="4250274"/>
                  </a:cubicBezTo>
                  <a:cubicBezTo>
                    <a:pt x="4753381" y="4351458"/>
                    <a:pt x="4494613" y="4489929"/>
                    <a:pt x="4216171" y="4773243"/>
                  </a:cubicBezTo>
                  <a:cubicBezTo>
                    <a:pt x="4106555" y="4884733"/>
                    <a:pt x="4004247" y="4997159"/>
                    <a:pt x="3905125" y="5105837"/>
                  </a:cubicBezTo>
                  <a:cubicBezTo>
                    <a:pt x="3701071" y="5329753"/>
                    <a:pt x="3508260" y="5541302"/>
                    <a:pt x="3308329" y="5682022"/>
                  </a:cubicBezTo>
                  <a:cubicBezTo>
                    <a:pt x="3122826" y="5812624"/>
                    <a:pt x="2947441" y="5870898"/>
                    <a:pt x="2739452" y="5870898"/>
                  </a:cubicBezTo>
                  <a:cubicBezTo>
                    <a:pt x="2357765" y="5870898"/>
                    <a:pt x="1990319" y="5788452"/>
                    <a:pt x="1647419" y="5625809"/>
                  </a:cubicBezTo>
                  <a:cubicBezTo>
                    <a:pt x="1319509" y="5470286"/>
                    <a:pt x="1019893" y="5240187"/>
                    <a:pt x="781175" y="4960620"/>
                  </a:cubicBezTo>
                  <a:cubicBezTo>
                    <a:pt x="579370" y="4724151"/>
                    <a:pt x="421598" y="4456576"/>
                    <a:pt x="312545" y="4165205"/>
                  </a:cubicBezTo>
                  <a:cubicBezTo>
                    <a:pt x="199369" y="3863153"/>
                    <a:pt x="142032" y="3544237"/>
                    <a:pt x="142032" y="3217451"/>
                  </a:cubicBezTo>
                  <a:cubicBezTo>
                    <a:pt x="142032" y="2857688"/>
                    <a:pt x="211174" y="2509166"/>
                    <a:pt x="347210" y="2181444"/>
                  </a:cubicBezTo>
                  <a:cubicBezTo>
                    <a:pt x="478561" y="1865339"/>
                    <a:pt x="666688" y="1581275"/>
                    <a:pt x="906155" y="1337497"/>
                  </a:cubicBezTo>
                  <a:cubicBezTo>
                    <a:pt x="1396334" y="838512"/>
                    <a:pt x="2047469" y="563818"/>
                    <a:pt x="2739265" y="563818"/>
                  </a:cubicBezTo>
                  <a:cubicBezTo>
                    <a:pt x="3094157" y="563818"/>
                    <a:pt x="3478280" y="673808"/>
                    <a:pt x="3849849" y="881796"/>
                  </a:cubicBezTo>
                  <a:cubicBezTo>
                    <a:pt x="4226851" y="1092783"/>
                    <a:pt x="4567316" y="1390338"/>
                    <a:pt x="4834515" y="1742419"/>
                  </a:cubicBezTo>
                  <a:cubicBezTo>
                    <a:pt x="5070798" y="2053653"/>
                    <a:pt x="5240374" y="2399363"/>
                    <a:pt x="5325256" y="2742076"/>
                  </a:cubicBezTo>
                  <a:cubicBezTo>
                    <a:pt x="5414634" y="3102964"/>
                    <a:pt x="5411824" y="3458044"/>
                    <a:pt x="5317011" y="3797009"/>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0" name="Google Shape;1060;p36"/>
            <p:cNvSpPr/>
            <p:nvPr/>
          </p:nvSpPr>
          <p:spPr>
            <a:xfrm>
              <a:off x="-9149" y="231462"/>
              <a:ext cx="5953893" cy="6444167"/>
            </a:xfrm>
            <a:custGeom>
              <a:avLst/>
              <a:gdLst/>
              <a:ahLst/>
              <a:cxnLst/>
              <a:rect l="l" t="t" r="r" b="b"/>
              <a:pathLst>
                <a:path w="5953893" h="6434152" extrusionOk="0">
                  <a:moveTo>
                    <a:pt x="2739452" y="0"/>
                  </a:moveTo>
                  <a:cubicBezTo>
                    <a:pt x="1568346" y="0"/>
                    <a:pt x="546204" y="647950"/>
                    <a:pt x="0" y="1610693"/>
                  </a:cubicBezTo>
                  <a:lnTo>
                    <a:pt x="0" y="4823273"/>
                  </a:lnTo>
                  <a:cubicBezTo>
                    <a:pt x="101746" y="5002593"/>
                    <a:pt x="219793" y="5171045"/>
                    <a:pt x="352456" y="5326193"/>
                  </a:cubicBezTo>
                  <a:cubicBezTo>
                    <a:pt x="932013" y="6005060"/>
                    <a:pt x="1786453" y="6434153"/>
                    <a:pt x="2739452" y="6434153"/>
                  </a:cubicBezTo>
                  <a:cubicBezTo>
                    <a:pt x="3612442" y="6434153"/>
                    <a:pt x="4046220" y="5750227"/>
                    <a:pt x="4618282" y="5167859"/>
                  </a:cubicBezTo>
                  <a:cubicBezTo>
                    <a:pt x="5190344" y="4585679"/>
                    <a:pt x="5621311" y="4803036"/>
                    <a:pt x="5860029" y="3948409"/>
                  </a:cubicBezTo>
                  <a:cubicBezTo>
                    <a:pt x="6403423" y="2003810"/>
                    <a:pt x="4485244" y="0"/>
                    <a:pt x="2739452" y="0"/>
                  </a:cubicBezTo>
                  <a:close/>
                  <a:moveTo>
                    <a:pt x="5208520" y="3766654"/>
                  </a:moveTo>
                  <a:cubicBezTo>
                    <a:pt x="5173667" y="3891634"/>
                    <a:pt x="5133194" y="3982699"/>
                    <a:pt x="5094782" y="4022985"/>
                  </a:cubicBezTo>
                  <a:cubicBezTo>
                    <a:pt x="5060492" y="4058962"/>
                    <a:pt x="4984792" y="4099435"/>
                    <a:pt x="4888855" y="4150777"/>
                  </a:cubicBezTo>
                  <a:cubicBezTo>
                    <a:pt x="4693420" y="4255333"/>
                    <a:pt x="4426033" y="4398489"/>
                    <a:pt x="4135411" y="4694170"/>
                  </a:cubicBezTo>
                  <a:cubicBezTo>
                    <a:pt x="4024297" y="4807158"/>
                    <a:pt x="3921239" y="4920334"/>
                    <a:pt x="3821555" y="5029762"/>
                  </a:cubicBezTo>
                  <a:cubicBezTo>
                    <a:pt x="3385341" y="5508324"/>
                    <a:pt x="3138940" y="5758097"/>
                    <a:pt x="2739265" y="5758097"/>
                  </a:cubicBezTo>
                  <a:cubicBezTo>
                    <a:pt x="2374442" y="5758097"/>
                    <a:pt x="2023297" y="5679211"/>
                    <a:pt x="1695575" y="5523876"/>
                  </a:cubicBezTo>
                  <a:cubicBezTo>
                    <a:pt x="1381906" y="5375098"/>
                    <a:pt x="1095219" y="5154930"/>
                    <a:pt x="866619" y="4887356"/>
                  </a:cubicBezTo>
                  <a:cubicBezTo>
                    <a:pt x="673246" y="4661005"/>
                    <a:pt x="522220" y="4404673"/>
                    <a:pt x="417851" y="4125481"/>
                  </a:cubicBezTo>
                  <a:cubicBezTo>
                    <a:pt x="309547" y="3836171"/>
                    <a:pt x="254645" y="3530558"/>
                    <a:pt x="254645" y="3217264"/>
                  </a:cubicBezTo>
                  <a:cubicBezTo>
                    <a:pt x="254645" y="2872490"/>
                    <a:pt x="320790" y="2538585"/>
                    <a:pt x="451204" y="2224540"/>
                  </a:cubicBezTo>
                  <a:cubicBezTo>
                    <a:pt x="577121" y="1921739"/>
                    <a:pt x="757191" y="1649855"/>
                    <a:pt x="986540" y="1416383"/>
                  </a:cubicBezTo>
                  <a:cubicBezTo>
                    <a:pt x="1455357" y="939134"/>
                    <a:pt x="2078011" y="676244"/>
                    <a:pt x="2739452" y="676244"/>
                  </a:cubicBezTo>
                  <a:cubicBezTo>
                    <a:pt x="3075232" y="676244"/>
                    <a:pt x="3440243" y="781175"/>
                    <a:pt x="3794947" y="979795"/>
                  </a:cubicBezTo>
                  <a:cubicBezTo>
                    <a:pt x="4158459" y="1183286"/>
                    <a:pt x="4486931" y="1470348"/>
                    <a:pt x="4744762" y="1810250"/>
                  </a:cubicBezTo>
                  <a:cubicBezTo>
                    <a:pt x="4971862" y="2109491"/>
                    <a:pt x="5134693" y="2440961"/>
                    <a:pt x="5215827" y="2768871"/>
                  </a:cubicBezTo>
                  <a:cubicBezTo>
                    <a:pt x="5300334" y="3110834"/>
                    <a:pt x="5297898" y="3446614"/>
                    <a:pt x="5208520" y="3766654"/>
                  </a:cubicBezTo>
                  <a:close/>
                </a:path>
              </a:pathLst>
            </a:custGeom>
            <a:solidFill>
              <a:schemeClr val="lt1">
                <a:alpha val="29803"/>
              </a:scheme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61" name="Google Shape;1061;p36"/>
            <p:cNvSpPr/>
            <p:nvPr/>
          </p:nvSpPr>
          <p:spPr>
            <a:xfrm>
              <a:off x="-9149" y="3725"/>
              <a:ext cx="5855313" cy="6880645"/>
            </a:xfrm>
            <a:custGeom>
              <a:avLst/>
              <a:gdLst/>
              <a:ahLst/>
              <a:cxnLst/>
              <a:rect l="l" t="t" r="r" b="b"/>
              <a:pathLst>
                <a:path w="5855313" h="6880645" extrusionOk="0">
                  <a:moveTo>
                    <a:pt x="5855313" y="4717843"/>
                  </a:moveTo>
                  <a:lnTo>
                    <a:pt x="5855313" y="6880645"/>
                  </a:lnTo>
                  <a:lnTo>
                    <a:pt x="0" y="6880645"/>
                  </a:lnTo>
                  <a:lnTo>
                    <a:pt x="0" y="5268859"/>
                  </a:lnTo>
                  <a:lnTo>
                    <a:pt x="36130" y="5327430"/>
                  </a:lnTo>
                  <a:cubicBezTo>
                    <a:pt x="631370" y="6195172"/>
                    <a:pt x="1639396" y="6765687"/>
                    <a:pt x="2782721" y="6765687"/>
                  </a:cubicBezTo>
                  <a:cubicBezTo>
                    <a:pt x="4154711" y="6765687"/>
                    <a:pt x="5331871" y="5944145"/>
                    <a:pt x="5834702" y="4773305"/>
                  </a:cubicBezTo>
                  <a:close/>
                  <a:moveTo>
                    <a:pt x="9148" y="0"/>
                  </a:moveTo>
                  <a:lnTo>
                    <a:pt x="5855312" y="0"/>
                  </a:lnTo>
                  <a:lnTo>
                    <a:pt x="5855312" y="96759"/>
                  </a:lnTo>
                  <a:lnTo>
                    <a:pt x="5855313" y="96759"/>
                  </a:lnTo>
                  <a:lnTo>
                    <a:pt x="5855313" y="2289203"/>
                  </a:lnTo>
                  <a:lnTo>
                    <a:pt x="5834702" y="2233742"/>
                  </a:lnTo>
                  <a:cubicBezTo>
                    <a:pt x="5331871" y="1062902"/>
                    <a:pt x="4154711" y="241359"/>
                    <a:pt x="2782721" y="241359"/>
                  </a:cubicBezTo>
                  <a:cubicBezTo>
                    <a:pt x="1639396" y="241359"/>
                    <a:pt x="631370" y="811875"/>
                    <a:pt x="36130" y="1679616"/>
                  </a:cubicBezTo>
                  <a:lnTo>
                    <a:pt x="0" y="1738187"/>
                  </a:lnTo>
                  <a:lnTo>
                    <a:pt x="0" y="96759"/>
                  </a:lnTo>
                  <a:lnTo>
                    <a:pt x="9148" y="96759"/>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62" name="Google Shape;1062;p36"/>
            <p:cNvSpPr/>
            <p:nvPr/>
          </p:nvSpPr>
          <p:spPr>
            <a:xfrm>
              <a:off x="-9149" y="26370"/>
              <a:ext cx="6254832" cy="6864558"/>
            </a:xfrm>
            <a:custGeom>
              <a:avLst/>
              <a:gdLst/>
              <a:ahLst/>
              <a:cxnLst/>
              <a:rect l="l" t="t" r="r" b="b"/>
              <a:pathLst>
                <a:path w="6254832" h="6864558" extrusionOk="0">
                  <a:moveTo>
                    <a:pt x="2766060" y="0"/>
                  </a:moveTo>
                  <a:cubicBezTo>
                    <a:pt x="1639549" y="0"/>
                    <a:pt x="637831" y="525405"/>
                    <a:pt x="0" y="1340683"/>
                  </a:cubicBezTo>
                  <a:lnTo>
                    <a:pt x="0" y="2201306"/>
                  </a:lnTo>
                  <a:cubicBezTo>
                    <a:pt x="375" y="2200181"/>
                    <a:pt x="937" y="2198870"/>
                    <a:pt x="1312" y="2197746"/>
                  </a:cubicBezTo>
                  <a:cubicBezTo>
                    <a:pt x="142969" y="1837045"/>
                    <a:pt x="347959" y="1497143"/>
                    <a:pt x="612723" y="1201649"/>
                  </a:cubicBezTo>
                  <a:cubicBezTo>
                    <a:pt x="876550" y="906155"/>
                    <a:pt x="1201836" y="655258"/>
                    <a:pt x="1571344" y="483245"/>
                  </a:cubicBezTo>
                  <a:lnTo>
                    <a:pt x="1641235" y="452328"/>
                  </a:lnTo>
                  <a:cubicBezTo>
                    <a:pt x="1664658" y="442210"/>
                    <a:pt x="1687518" y="430967"/>
                    <a:pt x="1711502" y="422348"/>
                  </a:cubicBezTo>
                  <a:lnTo>
                    <a:pt x="1783080" y="395178"/>
                  </a:lnTo>
                  <a:cubicBezTo>
                    <a:pt x="1807064" y="386372"/>
                    <a:pt x="1830674" y="376441"/>
                    <a:pt x="1855220" y="369133"/>
                  </a:cubicBezTo>
                  <a:lnTo>
                    <a:pt x="1928297" y="345711"/>
                  </a:lnTo>
                  <a:cubicBezTo>
                    <a:pt x="1952656" y="338028"/>
                    <a:pt x="1976828" y="329409"/>
                    <a:pt x="2001749" y="323600"/>
                  </a:cubicBezTo>
                  <a:lnTo>
                    <a:pt x="2076138" y="304300"/>
                  </a:lnTo>
                  <a:lnTo>
                    <a:pt x="2113426" y="294744"/>
                  </a:lnTo>
                  <a:lnTo>
                    <a:pt x="2132163" y="290060"/>
                  </a:lnTo>
                  <a:lnTo>
                    <a:pt x="2151089" y="286312"/>
                  </a:lnTo>
                  <a:cubicBezTo>
                    <a:pt x="2351395" y="241716"/>
                    <a:pt x="2557322" y="219044"/>
                    <a:pt x="2763249" y="218482"/>
                  </a:cubicBezTo>
                  <a:cubicBezTo>
                    <a:pt x="2968802" y="218294"/>
                    <a:pt x="3174167" y="247900"/>
                    <a:pt x="3372225" y="301302"/>
                  </a:cubicBezTo>
                  <a:cubicBezTo>
                    <a:pt x="3471347" y="327910"/>
                    <a:pt x="3568596" y="360513"/>
                    <a:pt x="3663596" y="398364"/>
                  </a:cubicBezTo>
                  <a:cubicBezTo>
                    <a:pt x="3758784" y="435652"/>
                    <a:pt x="3851348" y="479311"/>
                    <a:pt x="3941663" y="526717"/>
                  </a:cubicBezTo>
                  <a:cubicBezTo>
                    <a:pt x="4031979" y="573936"/>
                    <a:pt x="4119297" y="626402"/>
                    <a:pt x="4204366" y="681678"/>
                  </a:cubicBezTo>
                  <a:cubicBezTo>
                    <a:pt x="4289060" y="737516"/>
                    <a:pt x="4370944" y="797289"/>
                    <a:pt x="4450018" y="860061"/>
                  </a:cubicBezTo>
                  <a:cubicBezTo>
                    <a:pt x="4529091" y="922832"/>
                    <a:pt x="4605540" y="988601"/>
                    <a:pt x="4678992" y="1057181"/>
                  </a:cubicBezTo>
                  <a:cubicBezTo>
                    <a:pt x="4752444" y="1125574"/>
                    <a:pt x="4822335" y="1197527"/>
                    <a:pt x="4889791" y="1271166"/>
                  </a:cubicBezTo>
                  <a:cubicBezTo>
                    <a:pt x="4957247" y="1344805"/>
                    <a:pt x="5021705" y="1420693"/>
                    <a:pt x="5083164" y="1498642"/>
                  </a:cubicBezTo>
                  <a:cubicBezTo>
                    <a:pt x="5144062" y="1576965"/>
                    <a:pt x="5202899" y="1656601"/>
                    <a:pt x="5257987" y="1738484"/>
                  </a:cubicBezTo>
                  <a:cubicBezTo>
                    <a:pt x="5313076" y="1820368"/>
                    <a:pt x="5365354" y="1903751"/>
                    <a:pt x="5413510" y="1989195"/>
                  </a:cubicBezTo>
                  <a:cubicBezTo>
                    <a:pt x="5462041" y="2074451"/>
                    <a:pt x="5507011" y="2161207"/>
                    <a:pt x="5548609" y="2249462"/>
                  </a:cubicBezTo>
                  <a:cubicBezTo>
                    <a:pt x="5631430" y="2426158"/>
                    <a:pt x="5698323" y="2608851"/>
                    <a:pt x="5747791" y="2795666"/>
                  </a:cubicBezTo>
                  <a:cubicBezTo>
                    <a:pt x="5771963" y="2889167"/>
                    <a:pt x="5791825" y="2983792"/>
                    <a:pt x="5806814" y="3078980"/>
                  </a:cubicBezTo>
                  <a:cubicBezTo>
                    <a:pt x="5810562" y="3102777"/>
                    <a:pt x="5814497" y="3126574"/>
                    <a:pt x="5816933" y="3150558"/>
                  </a:cubicBezTo>
                  <a:cubicBezTo>
                    <a:pt x="5819556" y="3174542"/>
                    <a:pt x="5823304" y="3198339"/>
                    <a:pt x="5825178" y="3222323"/>
                  </a:cubicBezTo>
                  <a:cubicBezTo>
                    <a:pt x="5827426" y="3246308"/>
                    <a:pt x="5830050" y="3270292"/>
                    <a:pt x="5831923" y="3294276"/>
                  </a:cubicBezTo>
                  <a:lnTo>
                    <a:pt x="5836233" y="3366416"/>
                  </a:lnTo>
                  <a:cubicBezTo>
                    <a:pt x="5839981" y="3462728"/>
                    <a:pt x="5839981" y="3559227"/>
                    <a:pt x="5833047" y="3655726"/>
                  </a:cubicBezTo>
                  <a:cubicBezTo>
                    <a:pt x="5830986" y="3679711"/>
                    <a:pt x="5830237" y="3704069"/>
                    <a:pt x="5827426" y="3728054"/>
                  </a:cubicBezTo>
                  <a:lnTo>
                    <a:pt x="5819556" y="3800194"/>
                  </a:lnTo>
                  <a:lnTo>
                    <a:pt x="5809063" y="3872147"/>
                  </a:lnTo>
                  <a:cubicBezTo>
                    <a:pt x="5805690" y="3896131"/>
                    <a:pt x="5800818" y="3919928"/>
                    <a:pt x="5796696" y="3943912"/>
                  </a:cubicBezTo>
                  <a:cubicBezTo>
                    <a:pt x="5778708" y="4039287"/>
                    <a:pt x="5755848" y="4134662"/>
                    <a:pt x="5725305" y="4225165"/>
                  </a:cubicBezTo>
                  <a:cubicBezTo>
                    <a:pt x="5694763" y="4315669"/>
                    <a:pt x="5656726" y="4402237"/>
                    <a:pt x="5605384" y="4478312"/>
                  </a:cubicBezTo>
                  <a:cubicBezTo>
                    <a:pt x="5554980" y="4555324"/>
                    <a:pt x="5489960" y="4620718"/>
                    <a:pt x="5412573" y="4677306"/>
                  </a:cubicBezTo>
                  <a:cubicBezTo>
                    <a:pt x="5335374" y="4734269"/>
                    <a:pt x="5245995" y="4782987"/>
                    <a:pt x="5155867" y="4834703"/>
                  </a:cubicBezTo>
                  <a:cubicBezTo>
                    <a:pt x="4973924" y="4936261"/>
                    <a:pt x="4794791" y="5058806"/>
                    <a:pt x="4645452" y="5207396"/>
                  </a:cubicBezTo>
                  <a:cubicBezTo>
                    <a:pt x="4607414" y="5244497"/>
                    <a:pt x="4571813" y="5281597"/>
                    <a:pt x="4536211" y="5319072"/>
                  </a:cubicBezTo>
                  <a:lnTo>
                    <a:pt x="4430343" y="5432061"/>
                  </a:lnTo>
                  <a:cubicBezTo>
                    <a:pt x="4360264" y="5507574"/>
                    <a:pt x="4290934" y="5583087"/>
                    <a:pt x="4220668" y="5657663"/>
                  </a:cubicBezTo>
                  <a:cubicBezTo>
                    <a:pt x="4185628" y="5694951"/>
                    <a:pt x="4150589" y="5732052"/>
                    <a:pt x="4115174" y="5768777"/>
                  </a:cubicBezTo>
                  <a:cubicBezTo>
                    <a:pt x="4079573" y="5805316"/>
                    <a:pt x="4043597" y="5841292"/>
                    <a:pt x="4007245" y="5876707"/>
                  </a:cubicBezTo>
                  <a:cubicBezTo>
                    <a:pt x="3934543" y="5947723"/>
                    <a:pt x="3859405" y="6015740"/>
                    <a:pt x="3781081" y="6078887"/>
                  </a:cubicBezTo>
                  <a:cubicBezTo>
                    <a:pt x="3702945" y="6142220"/>
                    <a:pt x="3620312" y="6199557"/>
                    <a:pt x="3534493" y="6249775"/>
                  </a:cubicBezTo>
                  <a:cubicBezTo>
                    <a:pt x="3448300" y="6299429"/>
                    <a:pt x="3358359" y="6341589"/>
                    <a:pt x="3265232" y="6373068"/>
                  </a:cubicBezTo>
                  <a:cubicBezTo>
                    <a:pt x="3241998" y="6381313"/>
                    <a:pt x="3218201" y="6387497"/>
                    <a:pt x="3194779" y="6394804"/>
                  </a:cubicBezTo>
                  <a:cubicBezTo>
                    <a:pt x="3171169" y="6401175"/>
                    <a:pt x="3147185" y="6406797"/>
                    <a:pt x="3123575" y="6412792"/>
                  </a:cubicBezTo>
                  <a:cubicBezTo>
                    <a:pt x="3099404" y="6417477"/>
                    <a:pt x="3075420" y="6422161"/>
                    <a:pt x="3051435" y="6426471"/>
                  </a:cubicBezTo>
                  <a:cubicBezTo>
                    <a:pt x="3027076" y="6429657"/>
                    <a:pt x="3002904" y="6433591"/>
                    <a:pt x="2978733" y="6436214"/>
                  </a:cubicBezTo>
                  <a:cubicBezTo>
                    <a:pt x="2954374" y="6438088"/>
                    <a:pt x="2930015" y="6440899"/>
                    <a:pt x="2905656" y="6442211"/>
                  </a:cubicBezTo>
                  <a:cubicBezTo>
                    <a:pt x="2881109" y="6442960"/>
                    <a:pt x="2856751" y="6444272"/>
                    <a:pt x="2832204" y="6444459"/>
                  </a:cubicBezTo>
                  <a:cubicBezTo>
                    <a:pt x="2807658" y="6444084"/>
                    <a:pt x="2783298" y="6444084"/>
                    <a:pt x="2758565" y="6443335"/>
                  </a:cubicBezTo>
                  <a:lnTo>
                    <a:pt x="2683239" y="6438463"/>
                  </a:lnTo>
                  <a:cubicBezTo>
                    <a:pt x="2482559" y="6425909"/>
                    <a:pt x="2284126" y="6393492"/>
                    <a:pt x="2091503" y="6343275"/>
                  </a:cubicBezTo>
                  <a:lnTo>
                    <a:pt x="1948347" y="6301490"/>
                  </a:lnTo>
                  <a:cubicBezTo>
                    <a:pt x="1901127" y="6286126"/>
                    <a:pt x="1854658" y="6268699"/>
                    <a:pt x="1807626" y="6252585"/>
                  </a:cubicBezTo>
                  <a:cubicBezTo>
                    <a:pt x="1784017" y="6245090"/>
                    <a:pt x="1761344" y="6234972"/>
                    <a:pt x="1738297" y="6225790"/>
                  </a:cubicBezTo>
                  <a:lnTo>
                    <a:pt x="1669529" y="6197684"/>
                  </a:lnTo>
                  <a:lnTo>
                    <a:pt x="1635239" y="6183630"/>
                  </a:lnTo>
                  <a:lnTo>
                    <a:pt x="1601699" y="6167891"/>
                  </a:lnTo>
                  <a:lnTo>
                    <a:pt x="1534618" y="6136411"/>
                  </a:lnTo>
                  <a:cubicBezTo>
                    <a:pt x="1179164" y="5964961"/>
                    <a:pt x="857250" y="5729616"/>
                    <a:pt x="592299" y="5443116"/>
                  </a:cubicBezTo>
                  <a:cubicBezTo>
                    <a:pt x="336904" y="5166173"/>
                    <a:pt x="137160" y="4842573"/>
                    <a:pt x="0" y="4496675"/>
                  </a:cubicBezTo>
                  <a:lnTo>
                    <a:pt x="0" y="5523875"/>
                  </a:lnTo>
                  <a:cubicBezTo>
                    <a:pt x="637831" y="6338966"/>
                    <a:pt x="1639549" y="6864559"/>
                    <a:pt x="2766060" y="6864559"/>
                  </a:cubicBezTo>
                  <a:cubicBezTo>
                    <a:pt x="4692858" y="6864559"/>
                    <a:pt x="6254833" y="5327879"/>
                    <a:pt x="6254833" y="3432373"/>
                  </a:cubicBezTo>
                  <a:cubicBezTo>
                    <a:pt x="6254833" y="1536679"/>
                    <a:pt x="4692858" y="0"/>
                    <a:pt x="276606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63" name="Google Shape;1063;p36"/>
          <p:cNvSpPr txBox="1">
            <a:spLocks noGrp="1"/>
          </p:cNvSpPr>
          <p:nvPr>
            <p:ph type="title"/>
          </p:nvPr>
        </p:nvSpPr>
        <p:spPr>
          <a:xfrm>
            <a:off x="1351280" y="802955"/>
            <a:ext cx="9720801" cy="145405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Play"/>
              <a:buNone/>
            </a:pPr>
            <a:r>
              <a:rPr lang="en-US">
                <a:solidFill>
                  <a:schemeClr val="dk2"/>
                </a:solidFill>
              </a:rPr>
              <a:t>In Supply Chain Management, AI helps with:</a:t>
            </a:r>
            <a:endParaRPr/>
          </a:p>
        </p:txBody>
      </p:sp>
      <p:grpSp>
        <p:nvGrpSpPr>
          <p:cNvPr id="1064" name="Google Shape;1064;p36"/>
          <p:cNvGrpSpPr/>
          <p:nvPr/>
        </p:nvGrpSpPr>
        <p:grpSpPr>
          <a:xfrm>
            <a:off x="1347351" y="2389122"/>
            <a:ext cx="9720801" cy="3664400"/>
            <a:chOff x="0" y="1522"/>
            <a:chExt cx="9720801" cy="3664400"/>
          </a:xfrm>
        </p:grpSpPr>
        <p:sp>
          <p:nvSpPr>
            <p:cNvPr id="1065" name="Google Shape;1065;p36"/>
            <p:cNvSpPr/>
            <p:nvPr/>
          </p:nvSpPr>
          <p:spPr>
            <a:xfrm>
              <a:off x="0" y="1522"/>
              <a:ext cx="9720801" cy="771452"/>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a:off x="233364" y="175099"/>
              <a:ext cx="424299" cy="424299"/>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a:off x="891027" y="1522"/>
              <a:ext cx="8829773" cy="7714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txBox="1"/>
            <p:nvPr/>
          </p:nvSpPr>
          <p:spPr>
            <a:xfrm>
              <a:off x="891027" y="1522"/>
              <a:ext cx="8829773" cy="771452"/>
            </a:xfrm>
            <a:prstGeom prst="rect">
              <a:avLst/>
            </a:prstGeom>
            <a:noFill/>
            <a:ln>
              <a:noFill/>
            </a:ln>
          </p:spPr>
          <p:txBody>
            <a:bodyPr spcFirstLastPara="1" wrap="square" lIns="81625" tIns="81625" rIns="81625" bIns="816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Making inventory management more efficient</a:t>
              </a:r>
              <a:endParaRPr/>
            </a:p>
          </p:txBody>
        </p:sp>
        <p:sp>
          <p:nvSpPr>
            <p:cNvPr id="1069" name="Google Shape;1069;p36"/>
            <p:cNvSpPr/>
            <p:nvPr/>
          </p:nvSpPr>
          <p:spPr>
            <a:xfrm>
              <a:off x="0" y="965838"/>
              <a:ext cx="9720801" cy="771452"/>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a:off x="233364" y="1139414"/>
              <a:ext cx="424299" cy="424299"/>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36"/>
            <p:cNvSpPr/>
            <p:nvPr/>
          </p:nvSpPr>
          <p:spPr>
            <a:xfrm>
              <a:off x="891027" y="965838"/>
              <a:ext cx="8829773" cy="7714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36"/>
            <p:cNvSpPr txBox="1"/>
            <p:nvPr/>
          </p:nvSpPr>
          <p:spPr>
            <a:xfrm>
              <a:off x="891027" y="965838"/>
              <a:ext cx="8829773" cy="771452"/>
            </a:xfrm>
            <a:prstGeom prst="rect">
              <a:avLst/>
            </a:prstGeom>
            <a:noFill/>
            <a:ln>
              <a:noFill/>
            </a:ln>
          </p:spPr>
          <p:txBody>
            <a:bodyPr spcFirstLastPara="1" wrap="square" lIns="81625" tIns="81625" rIns="81625" bIns="816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Slowing down logistics operations</a:t>
              </a:r>
              <a:endParaRPr/>
            </a:p>
          </p:txBody>
        </p:sp>
        <p:sp>
          <p:nvSpPr>
            <p:cNvPr id="1073" name="Google Shape;1073;p36"/>
            <p:cNvSpPr/>
            <p:nvPr/>
          </p:nvSpPr>
          <p:spPr>
            <a:xfrm>
              <a:off x="0" y="1930154"/>
              <a:ext cx="9720801" cy="771452"/>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36"/>
            <p:cNvSpPr/>
            <p:nvPr/>
          </p:nvSpPr>
          <p:spPr>
            <a:xfrm>
              <a:off x="233364" y="2103730"/>
              <a:ext cx="424299" cy="424299"/>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36"/>
            <p:cNvSpPr/>
            <p:nvPr/>
          </p:nvSpPr>
          <p:spPr>
            <a:xfrm>
              <a:off x="891027" y="1930154"/>
              <a:ext cx="8829773" cy="7714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txBox="1"/>
            <p:nvPr/>
          </p:nvSpPr>
          <p:spPr>
            <a:xfrm>
              <a:off x="891027" y="1930154"/>
              <a:ext cx="8829773" cy="771452"/>
            </a:xfrm>
            <a:prstGeom prst="rect">
              <a:avLst/>
            </a:prstGeom>
            <a:noFill/>
            <a:ln>
              <a:noFill/>
            </a:ln>
          </p:spPr>
          <p:txBody>
            <a:bodyPr spcFirstLastPara="1" wrap="square" lIns="81625" tIns="81625" rIns="81625" bIns="816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Increasing supply chain risks</a:t>
              </a:r>
              <a:endParaRPr/>
            </a:p>
          </p:txBody>
        </p:sp>
        <p:sp>
          <p:nvSpPr>
            <p:cNvPr id="1077" name="Google Shape;1077;p36"/>
            <p:cNvSpPr/>
            <p:nvPr/>
          </p:nvSpPr>
          <p:spPr>
            <a:xfrm>
              <a:off x="0" y="2894470"/>
              <a:ext cx="9720801" cy="771452"/>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p:nvPr/>
          </p:nvSpPr>
          <p:spPr>
            <a:xfrm>
              <a:off x="233364" y="3068046"/>
              <a:ext cx="424299" cy="424299"/>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6"/>
            <p:cNvSpPr/>
            <p:nvPr/>
          </p:nvSpPr>
          <p:spPr>
            <a:xfrm>
              <a:off x="891027" y="2894470"/>
              <a:ext cx="8829773" cy="77145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txBox="1"/>
            <p:nvPr/>
          </p:nvSpPr>
          <p:spPr>
            <a:xfrm>
              <a:off x="891027" y="2894470"/>
              <a:ext cx="8829773" cy="771452"/>
            </a:xfrm>
            <a:prstGeom prst="rect">
              <a:avLst/>
            </a:prstGeom>
            <a:noFill/>
            <a:ln>
              <a:noFill/>
            </a:ln>
          </p:spPr>
          <p:txBody>
            <a:bodyPr spcFirstLastPara="1" wrap="square" lIns="81625" tIns="81625" rIns="81625" bIns="81625" anchor="ctr" anchorCtr="0">
              <a:noAutofit/>
            </a:bodyPr>
            <a:lstStyle/>
            <a:p>
              <a:pPr marL="0" marR="0" lvl="0" indent="0" algn="l" rtl="0">
                <a:lnSpc>
                  <a:spcPct val="10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Reducing warehouse automation</a:t>
              </a:r>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4"/>
        <p:cNvGrpSpPr/>
        <p:nvPr/>
      </p:nvGrpSpPr>
      <p:grpSpPr>
        <a:xfrm>
          <a:off x="0" y="0"/>
          <a:ext cx="0" cy="0"/>
          <a:chOff x="0" y="0"/>
          <a:chExt cx="0" cy="0"/>
        </a:xfrm>
      </p:grpSpPr>
      <p:sp>
        <p:nvSpPr>
          <p:cNvPr id="1085" name="Google Shape;1085;p37"/>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86" name="Google Shape;1086;p37"/>
          <p:cNvSpPr txBox="1">
            <a:spLocks noGrp="1"/>
          </p:cNvSpPr>
          <p:nvPr>
            <p:ph type="title"/>
          </p:nvPr>
        </p:nvSpPr>
        <p:spPr>
          <a:xfrm>
            <a:off x="1209039" y="547713"/>
            <a:ext cx="10144760" cy="143348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How does AI improve fraud detection in Banking?</a:t>
            </a:r>
            <a:endParaRPr/>
          </a:p>
        </p:txBody>
      </p:sp>
      <p:grpSp>
        <p:nvGrpSpPr>
          <p:cNvPr id="1087" name="Google Shape;1087;p37"/>
          <p:cNvGrpSpPr/>
          <p:nvPr/>
        </p:nvGrpSpPr>
        <p:grpSpPr>
          <a:xfrm>
            <a:off x="1209039" y="2653327"/>
            <a:ext cx="10144759" cy="3774984"/>
            <a:chOff x="0" y="1568"/>
            <a:chExt cx="10144759" cy="3774984"/>
          </a:xfrm>
        </p:grpSpPr>
        <p:sp>
          <p:nvSpPr>
            <p:cNvPr id="1088" name="Google Shape;1088;p37"/>
            <p:cNvSpPr/>
            <p:nvPr/>
          </p:nvSpPr>
          <p:spPr>
            <a:xfrm>
              <a:off x="0" y="1568"/>
              <a:ext cx="10144759" cy="79473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7"/>
            <p:cNvSpPr/>
            <p:nvPr/>
          </p:nvSpPr>
          <p:spPr>
            <a:xfrm>
              <a:off x="240406" y="180383"/>
              <a:ext cx="437103" cy="437103"/>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7"/>
            <p:cNvSpPr/>
            <p:nvPr/>
          </p:nvSpPr>
          <p:spPr>
            <a:xfrm>
              <a:off x="917917" y="1568"/>
              <a:ext cx="9226841" cy="79473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7"/>
            <p:cNvSpPr txBox="1"/>
            <p:nvPr/>
          </p:nvSpPr>
          <p:spPr>
            <a:xfrm>
              <a:off x="917917" y="1568"/>
              <a:ext cx="9226841" cy="794733"/>
            </a:xfrm>
            <a:prstGeom prst="rect">
              <a:avLst/>
            </a:prstGeom>
            <a:noFill/>
            <a:ln>
              <a:noFill/>
            </a:ln>
          </p:spPr>
          <p:txBody>
            <a:bodyPr spcFirstLastPara="1" wrap="square" lIns="84100" tIns="84100" rIns="84100" bIns="841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By allowing transactions without verification</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092" name="Google Shape;1092;p37"/>
            <p:cNvSpPr/>
            <p:nvPr/>
          </p:nvSpPr>
          <p:spPr>
            <a:xfrm>
              <a:off x="0" y="994985"/>
              <a:ext cx="10144759" cy="79473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37"/>
            <p:cNvSpPr/>
            <p:nvPr/>
          </p:nvSpPr>
          <p:spPr>
            <a:xfrm>
              <a:off x="240406" y="1173800"/>
              <a:ext cx="437103" cy="437103"/>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37"/>
            <p:cNvSpPr/>
            <p:nvPr/>
          </p:nvSpPr>
          <p:spPr>
            <a:xfrm>
              <a:off x="917917" y="994985"/>
              <a:ext cx="9226841" cy="79473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37"/>
            <p:cNvSpPr txBox="1"/>
            <p:nvPr/>
          </p:nvSpPr>
          <p:spPr>
            <a:xfrm>
              <a:off x="917917" y="994985"/>
              <a:ext cx="9226841" cy="794733"/>
            </a:xfrm>
            <a:prstGeom prst="rect">
              <a:avLst/>
            </a:prstGeom>
            <a:noFill/>
            <a:ln>
              <a:noFill/>
            </a:ln>
          </p:spPr>
          <p:txBody>
            <a:bodyPr spcFirstLastPara="1" wrap="square" lIns="84100" tIns="84100" rIns="84100" bIns="841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By detecting unusual transaction patterns</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096" name="Google Shape;1096;p37"/>
            <p:cNvSpPr/>
            <p:nvPr/>
          </p:nvSpPr>
          <p:spPr>
            <a:xfrm>
              <a:off x="0" y="1988402"/>
              <a:ext cx="10144759" cy="79473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7"/>
            <p:cNvSpPr/>
            <p:nvPr/>
          </p:nvSpPr>
          <p:spPr>
            <a:xfrm>
              <a:off x="240406" y="2167217"/>
              <a:ext cx="437103" cy="437103"/>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7"/>
            <p:cNvSpPr/>
            <p:nvPr/>
          </p:nvSpPr>
          <p:spPr>
            <a:xfrm>
              <a:off x="917917" y="1988402"/>
              <a:ext cx="9226841" cy="79473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7"/>
            <p:cNvSpPr txBox="1"/>
            <p:nvPr/>
          </p:nvSpPr>
          <p:spPr>
            <a:xfrm>
              <a:off x="917917" y="1988402"/>
              <a:ext cx="9226841" cy="794733"/>
            </a:xfrm>
            <a:prstGeom prst="rect">
              <a:avLst/>
            </a:prstGeom>
            <a:noFill/>
            <a:ln>
              <a:noFill/>
            </a:ln>
          </p:spPr>
          <p:txBody>
            <a:bodyPr spcFirstLastPara="1" wrap="square" lIns="84100" tIns="84100" rIns="84100" bIns="841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By manually checking each transaction</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100" name="Google Shape;1100;p37"/>
            <p:cNvSpPr/>
            <p:nvPr/>
          </p:nvSpPr>
          <p:spPr>
            <a:xfrm>
              <a:off x="0" y="2981819"/>
              <a:ext cx="10144759" cy="794733"/>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7"/>
            <p:cNvSpPr/>
            <p:nvPr/>
          </p:nvSpPr>
          <p:spPr>
            <a:xfrm>
              <a:off x="240406" y="3160634"/>
              <a:ext cx="437103" cy="437103"/>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7"/>
            <p:cNvSpPr/>
            <p:nvPr/>
          </p:nvSpPr>
          <p:spPr>
            <a:xfrm>
              <a:off x="917917" y="2981819"/>
              <a:ext cx="9226841" cy="79473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7"/>
            <p:cNvSpPr txBox="1"/>
            <p:nvPr/>
          </p:nvSpPr>
          <p:spPr>
            <a:xfrm>
              <a:off x="917917" y="2981819"/>
              <a:ext cx="9226841" cy="794733"/>
            </a:xfrm>
            <a:prstGeom prst="rect">
              <a:avLst/>
            </a:prstGeom>
            <a:noFill/>
            <a:ln>
              <a:noFill/>
            </a:ln>
          </p:spPr>
          <p:txBody>
            <a:bodyPr spcFirstLastPara="1" wrap="square" lIns="84100" tIns="84100" rIns="84100" bIns="841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By ignoring risk assessments</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7"/>
        <p:cNvGrpSpPr/>
        <p:nvPr/>
      </p:nvGrpSpPr>
      <p:grpSpPr>
        <a:xfrm>
          <a:off x="0" y="0"/>
          <a:ext cx="0" cy="0"/>
          <a:chOff x="0" y="0"/>
          <a:chExt cx="0" cy="0"/>
        </a:xfrm>
      </p:grpSpPr>
      <p:sp>
        <p:nvSpPr>
          <p:cNvPr id="1108" name="Google Shape;1108;p38"/>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09" name="Google Shape;1109;p38"/>
          <p:cNvSpPr txBox="1">
            <a:spLocks noGrp="1"/>
          </p:cNvSpPr>
          <p:nvPr>
            <p:ph type="title"/>
          </p:nvPr>
        </p:nvSpPr>
        <p:spPr>
          <a:xfrm>
            <a:off x="1127760" y="557189"/>
            <a:ext cx="10322560" cy="143417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sz="5200">
                <a:solidFill>
                  <a:schemeClr val="dk1"/>
                </a:solidFill>
                <a:latin typeface="Play"/>
                <a:ea typeface="Play"/>
                <a:cs typeface="Play"/>
                <a:sym typeface="Play"/>
              </a:rPr>
              <a:t>What is Algorithmic Trading in the Stock Market?</a:t>
            </a:r>
            <a:endParaRPr/>
          </a:p>
        </p:txBody>
      </p:sp>
      <p:grpSp>
        <p:nvGrpSpPr>
          <p:cNvPr id="1110" name="Google Shape;1110;p38"/>
          <p:cNvGrpSpPr/>
          <p:nvPr/>
        </p:nvGrpSpPr>
        <p:grpSpPr>
          <a:xfrm>
            <a:off x="1127760" y="2125227"/>
            <a:ext cx="10229087" cy="4304264"/>
            <a:chOff x="0" y="1787"/>
            <a:chExt cx="10229087" cy="4304264"/>
          </a:xfrm>
        </p:grpSpPr>
        <p:sp>
          <p:nvSpPr>
            <p:cNvPr id="1111" name="Google Shape;1111;p38"/>
            <p:cNvSpPr/>
            <p:nvPr/>
          </p:nvSpPr>
          <p:spPr>
            <a:xfrm>
              <a:off x="0" y="1787"/>
              <a:ext cx="10229087" cy="90616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38"/>
            <p:cNvSpPr/>
            <p:nvPr/>
          </p:nvSpPr>
          <p:spPr>
            <a:xfrm>
              <a:off x="274113" y="205674"/>
              <a:ext cx="498388" cy="498388"/>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38"/>
            <p:cNvSpPr/>
            <p:nvPr/>
          </p:nvSpPr>
          <p:spPr>
            <a:xfrm>
              <a:off x="1046615" y="1787"/>
              <a:ext cx="9182472" cy="906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38"/>
            <p:cNvSpPr txBox="1"/>
            <p:nvPr/>
          </p:nvSpPr>
          <p:spPr>
            <a:xfrm>
              <a:off x="1046615" y="1787"/>
              <a:ext cx="9182472" cy="906160"/>
            </a:xfrm>
            <a:prstGeom prst="rect">
              <a:avLst/>
            </a:prstGeom>
            <a:noFill/>
            <a:ln>
              <a:noFill/>
            </a:ln>
          </p:spPr>
          <p:txBody>
            <a:bodyPr spcFirstLastPara="1" wrap="square" lIns="95900" tIns="95900" rIns="95900" bIns="959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Trading stocks using AI-driven strategies</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115" name="Google Shape;1115;p38"/>
            <p:cNvSpPr/>
            <p:nvPr/>
          </p:nvSpPr>
          <p:spPr>
            <a:xfrm>
              <a:off x="0" y="1134489"/>
              <a:ext cx="10229087" cy="90616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38"/>
            <p:cNvSpPr/>
            <p:nvPr/>
          </p:nvSpPr>
          <p:spPr>
            <a:xfrm>
              <a:off x="274113" y="1338375"/>
              <a:ext cx="498388" cy="498388"/>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8"/>
            <p:cNvSpPr/>
            <p:nvPr/>
          </p:nvSpPr>
          <p:spPr>
            <a:xfrm>
              <a:off x="1046615" y="1134489"/>
              <a:ext cx="9182472" cy="906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38"/>
            <p:cNvSpPr txBox="1"/>
            <p:nvPr/>
          </p:nvSpPr>
          <p:spPr>
            <a:xfrm>
              <a:off x="1046615" y="1134489"/>
              <a:ext cx="9182472" cy="906160"/>
            </a:xfrm>
            <a:prstGeom prst="rect">
              <a:avLst/>
            </a:prstGeom>
            <a:noFill/>
            <a:ln>
              <a:noFill/>
            </a:ln>
          </p:spPr>
          <p:txBody>
            <a:bodyPr spcFirstLastPara="1" wrap="square" lIns="95900" tIns="95900" rIns="95900" bIns="959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Buying and selling stocks randomly</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119" name="Google Shape;1119;p38"/>
            <p:cNvSpPr/>
            <p:nvPr/>
          </p:nvSpPr>
          <p:spPr>
            <a:xfrm>
              <a:off x="0" y="2267190"/>
              <a:ext cx="10229087" cy="90616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8"/>
            <p:cNvSpPr/>
            <p:nvPr/>
          </p:nvSpPr>
          <p:spPr>
            <a:xfrm>
              <a:off x="274113" y="2471076"/>
              <a:ext cx="498388" cy="498388"/>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8"/>
            <p:cNvSpPr/>
            <p:nvPr/>
          </p:nvSpPr>
          <p:spPr>
            <a:xfrm>
              <a:off x="1046615" y="2267190"/>
              <a:ext cx="9182472" cy="906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8"/>
            <p:cNvSpPr txBox="1"/>
            <p:nvPr/>
          </p:nvSpPr>
          <p:spPr>
            <a:xfrm>
              <a:off x="1046615" y="2267190"/>
              <a:ext cx="9182472" cy="906160"/>
            </a:xfrm>
            <a:prstGeom prst="rect">
              <a:avLst/>
            </a:prstGeom>
            <a:noFill/>
            <a:ln>
              <a:noFill/>
            </a:ln>
          </p:spPr>
          <p:txBody>
            <a:bodyPr spcFirstLastPara="1" wrap="square" lIns="95900" tIns="95900" rIns="95900" bIns="959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Investing based on human intuition</a:t>
              </a:r>
              <a:br>
                <a:rPr lang="en-US" sz="2200">
                  <a:solidFill>
                    <a:schemeClr val="dk1"/>
                  </a:solidFill>
                  <a:latin typeface="Arial"/>
                  <a:ea typeface="Arial"/>
                  <a:cs typeface="Arial"/>
                  <a:sym typeface="Arial"/>
                </a:rPr>
              </a:br>
              <a:endParaRPr sz="2200">
                <a:solidFill>
                  <a:schemeClr val="dk1"/>
                </a:solidFill>
                <a:latin typeface="Arial"/>
                <a:ea typeface="Arial"/>
                <a:cs typeface="Arial"/>
                <a:sym typeface="Arial"/>
              </a:endParaRPr>
            </a:p>
          </p:txBody>
        </p:sp>
        <p:sp>
          <p:nvSpPr>
            <p:cNvPr id="1123" name="Google Shape;1123;p38"/>
            <p:cNvSpPr/>
            <p:nvPr/>
          </p:nvSpPr>
          <p:spPr>
            <a:xfrm>
              <a:off x="0" y="3399891"/>
              <a:ext cx="10229087" cy="90616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8"/>
            <p:cNvSpPr/>
            <p:nvPr/>
          </p:nvSpPr>
          <p:spPr>
            <a:xfrm>
              <a:off x="274113" y="3603777"/>
              <a:ext cx="498388" cy="498388"/>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8"/>
            <p:cNvSpPr/>
            <p:nvPr/>
          </p:nvSpPr>
          <p:spPr>
            <a:xfrm>
              <a:off x="1046615" y="3399891"/>
              <a:ext cx="9182472" cy="90616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8"/>
            <p:cNvSpPr txBox="1"/>
            <p:nvPr/>
          </p:nvSpPr>
          <p:spPr>
            <a:xfrm>
              <a:off x="1046615" y="3399891"/>
              <a:ext cx="9182472" cy="906160"/>
            </a:xfrm>
            <a:prstGeom prst="rect">
              <a:avLst/>
            </a:prstGeom>
            <a:noFill/>
            <a:ln>
              <a:noFill/>
            </a:ln>
          </p:spPr>
          <p:txBody>
            <a:bodyPr spcFirstLastPara="1" wrap="square" lIns="95900" tIns="95900" rIns="95900" bIns="95900" anchor="ctr" anchorCtr="0">
              <a:noAutofit/>
            </a:bodyPr>
            <a:lstStyle/>
            <a:p>
              <a:pPr marL="0" marR="0" lvl="0" indent="0" algn="l" rtl="0">
                <a:lnSpc>
                  <a:spcPct val="90000"/>
                </a:lnSpc>
                <a:spcBef>
                  <a:spcPts val="0"/>
                </a:spcBef>
                <a:spcAft>
                  <a:spcPts val="0"/>
                </a:spcAft>
                <a:buClr>
                  <a:schemeClr val="dk1"/>
                </a:buClr>
                <a:buSzPts val="2200"/>
                <a:buFont typeface="Arial"/>
                <a:buNone/>
              </a:pPr>
              <a:r>
                <a:rPr lang="en-US" sz="2200">
                  <a:solidFill>
                    <a:schemeClr val="dk1"/>
                  </a:solidFill>
                  <a:latin typeface="Arial"/>
                  <a:ea typeface="Arial"/>
                  <a:cs typeface="Arial"/>
                  <a:sym typeface="Arial"/>
                </a:rPr>
                <a:t>A type of fraud in trading</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0"/>
        <p:cNvGrpSpPr/>
        <p:nvPr/>
      </p:nvGrpSpPr>
      <p:grpSpPr>
        <a:xfrm>
          <a:off x="0" y="0"/>
          <a:ext cx="0" cy="0"/>
          <a:chOff x="0" y="0"/>
          <a:chExt cx="0" cy="0"/>
        </a:xfrm>
      </p:grpSpPr>
      <p:sp>
        <p:nvSpPr>
          <p:cNvPr id="1131" name="Google Shape;1131;p3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32" name="Google Shape;1132;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Exercise Overview</a:t>
            </a:r>
            <a:endParaRPr/>
          </a:p>
        </p:txBody>
      </p:sp>
      <p:sp>
        <p:nvSpPr>
          <p:cNvPr id="1133" name="Google Shape;1133;p39"/>
          <p:cNvSpPr/>
          <p:nvPr/>
        </p:nvSpPr>
        <p:spPr>
          <a:xfrm>
            <a:off x="838200" y="1865313"/>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34" name="Google Shape;1134;p39"/>
          <p:cNvGrpSpPr/>
          <p:nvPr/>
        </p:nvGrpSpPr>
        <p:grpSpPr>
          <a:xfrm>
            <a:off x="1398000" y="2635443"/>
            <a:ext cx="9396000" cy="3134163"/>
            <a:chOff x="559800" y="407356"/>
            <a:chExt cx="9396000" cy="3134163"/>
          </a:xfrm>
        </p:grpSpPr>
        <p:sp>
          <p:nvSpPr>
            <p:cNvPr id="1135" name="Google Shape;1135;p39"/>
            <p:cNvSpPr/>
            <p:nvPr/>
          </p:nvSpPr>
          <p:spPr>
            <a:xfrm>
              <a:off x="1747800" y="407356"/>
              <a:ext cx="1944000" cy="19440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9"/>
            <p:cNvSpPr/>
            <p:nvPr/>
          </p:nvSpPr>
          <p:spPr>
            <a:xfrm>
              <a:off x="559800" y="2821519"/>
              <a:ext cx="432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9"/>
            <p:cNvSpPr txBox="1"/>
            <p:nvPr/>
          </p:nvSpPr>
          <p:spPr>
            <a:xfrm>
              <a:off x="559800" y="2821519"/>
              <a:ext cx="4320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Arial"/>
                <a:buNone/>
              </a:pPr>
              <a:r>
                <a:rPr lang="en-US" sz="1700" b="1" i="0">
                  <a:solidFill>
                    <a:schemeClr val="dk1"/>
                  </a:solidFill>
                  <a:latin typeface="Arial"/>
                  <a:ea typeface="Arial"/>
                  <a:cs typeface="Arial"/>
                  <a:sym typeface="Arial"/>
                </a:rPr>
                <a:t>Objective</a:t>
              </a:r>
              <a:r>
                <a:rPr lang="en-US" sz="1700" b="0" i="0">
                  <a:solidFill>
                    <a:schemeClr val="dk1"/>
                  </a:solidFill>
                  <a:latin typeface="Arial"/>
                  <a:ea typeface="Arial"/>
                  <a:cs typeface="Arial"/>
                  <a:sym typeface="Arial"/>
                </a:rPr>
                <a:t>: Identify AI solutions for common business challenges.</a:t>
              </a:r>
              <a:endParaRPr sz="1700">
                <a:solidFill>
                  <a:schemeClr val="dk1"/>
                </a:solidFill>
                <a:latin typeface="Arial"/>
                <a:ea typeface="Arial"/>
                <a:cs typeface="Arial"/>
                <a:sym typeface="Arial"/>
              </a:endParaRPr>
            </a:p>
          </p:txBody>
        </p:sp>
        <p:sp>
          <p:nvSpPr>
            <p:cNvPr id="1138" name="Google Shape;1138;p39"/>
            <p:cNvSpPr/>
            <p:nvPr/>
          </p:nvSpPr>
          <p:spPr>
            <a:xfrm>
              <a:off x="6823800" y="407356"/>
              <a:ext cx="1944000" cy="19440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9"/>
            <p:cNvSpPr/>
            <p:nvPr/>
          </p:nvSpPr>
          <p:spPr>
            <a:xfrm>
              <a:off x="5635800" y="2821519"/>
              <a:ext cx="4320000" cy="72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9"/>
            <p:cNvSpPr txBox="1"/>
            <p:nvPr/>
          </p:nvSpPr>
          <p:spPr>
            <a:xfrm>
              <a:off x="5635800" y="2821519"/>
              <a:ext cx="4320000" cy="7200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700"/>
                <a:buFont typeface="Arial"/>
                <a:buNone/>
              </a:pPr>
              <a:r>
                <a:rPr lang="en-US" sz="1700" b="1" i="0">
                  <a:solidFill>
                    <a:schemeClr val="dk1"/>
                  </a:solidFill>
                  <a:latin typeface="Arial"/>
                  <a:ea typeface="Arial"/>
                  <a:cs typeface="Arial"/>
                  <a:sym typeface="Arial"/>
                </a:rPr>
                <a:t>Approach</a:t>
              </a:r>
              <a:r>
                <a:rPr lang="en-US" sz="1700" b="0" i="0">
                  <a:solidFill>
                    <a:schemeClr val="dk1"/>
                  </a:solidFill>
                  <a:latin typeface="Arial"/>
                  <a:ea typeface="Arial"/>
                  <a:cs typeface="Arial"/>
                  <a:sym typeface="Arial"/>
                </a:rPr>
                <a:t>: Group activity with brainstorming and discussions for each business sector.</a:t>
              </a:r>
              <a:endParaRPr sz="1700">
                <a:solidFill>
                  <a:schemeClr val="dk1"/>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4"/>
        <p:cNvGrpSpPr/>
        <p:nvPr/>
      </p:nvGrpSpPr>
      <p:grpSpPr>
        <a:xfrm>
          <a:off x="0" y="0"/>
          <a:ext cx="0" cy="0"/>
          <a:chOff x="0" y="0"/>
          <a:chExt cx="0" cy="0"/>
        </a:xfrm>
      </p:grpSpPr>
      <p:sp>
        <p:nvSpPr>
          <p:cNvPr id="1145" name="Google Shape;1145;p40"/>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6" name="Google Shape;1146;p40"/>
          <p:cNvSpPr txBox="1">
            <a:spLocks noGrp="1"/>
          </p:cNvSpPr>
          <p:nvPr>
            <p:ph type="title"/>
          </p:nvPr>
        </p:nvSpPr>
        <p:spPr>
          <a:xfrm>
            <a:off x="461749" y="199284"/>
            <a:ext cx="4905307" cy="1931937"/>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t>AI in HR: Optimizing Employee Recruitment</a:t>
            </a:r>
            <a:endParaRPr/>
          </a:p>
        </p:txBody>
      </p:sp>
      <p:grpSp>
        <p:nvGrpSpPr>
          <p:cNvPr id="1147" name="Google Shape;1147;p40"/>
          <p:cNvGrpSpPr/>
          <p:nvPr/>
        </p:nvGrpSpPr>
        <p:grpSpPr>
          <a:xfrm>
            <a:off x="0" y="1083484"/>
            <a:ext cx="355196" cy="673460"/>
            <a:chOff x="0" y="823811"/>
            <a:chExt cx="355196" cy="673460"/>
          </a:xfrm>
        </p:grpSpPr>
        <p:sp>
          <p:nvSpPr>
            <p:cNvPr id="1148" name="Google Shape;1148;p40"/>
            <p:cNvSpPr/>
            <p:nvPr/>
          </p:nvSpPr>
          <p:spPr>
            <a:xfrm>
              <a:off x="0" y="823811"/>
              <a:ext cx="87363"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9" name="Google Shape;1149;p40"/>
            <p:cNvSpPr/>
            <p:nvPr/>
          </p:nvSpPr>
          <p:spPr>
            <a:xfrm>
              <a:off x="159341" y="823811"/>
              <a:ext cx="195855"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50" name="Google Shape;1150;p40"/>
          <p:cNvSpPr/>
          <p:nvPr/>
        </p:nvSpPr>
        <p:spPr>
          <a:xfrm flipH="1">
            <a:off x="665085" y="2090569"/>
            <a:ext cx="429768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1" name="Google Shape;1151;p40"/>
          <p:cNvSpPr txBox="1">
            <a:spLocks noGrp="1"/>
          </p:cNvSpPr>
          <p:nvPr>
            <p:ph type="body" idx="1"/>
          </p:nvPr>
        </p:nvSpPr>
        <p:spPr>
          <a:xfrm>
            <a:off x="590719" y="2330505"/>
            <a:ext cx="4559425" cy="39795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a:t>A global IT company is struggling with an overwhelming number of job applications for various roles. Their HR team manually reviews thousands of resumes, leading to delays, inefficiencies, and potential biases in the hiring process.</a:t>
            </a:r>
            <a:endParaRPr/>
          </a:p>
        </p:txBody>
      </p:sp>
      <p:sp>
        <p:nvSpPr>
          <p:cNvPr id="1152" name="Google Shape;1152;p40"/>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3" name="Google Shape;1153;p40"/>
          <p:cNvSpPr/>
          <p:nvPr/>
        </p:nvSpPr>
        <p:spPr>
          <a:xfrm>
            <a:off x="5685810" y="513853"/>
            <a:ext cx="6009366" cy="5834577"/>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54" name="Google Shape;1154;p40" descr="Magnifying glass showing decling performance"/>
          <p:cNvPicPr preferRelativeResize="0"/>
          <p:nvPr/>
        </p:nvPicPr>
        <p:blipFill rotWithShape="1">
          <a:blip r:embed="rId3">
            <a:alphaModFix/>
          </a:blip>
          <a:srcRect r="31143" b="1"/>
          <a:stretch/>
        </p:blipFill>
        <p:spPr>
          <a:xfrm>
            <a:off x="5977788" y="799352"/>
            <a:ext cx="5425410" cy="525929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8"/>
        <p:cNvGrpSpPr/>
        <p:nvPr/>
      </p:nvGrpSpPr>
      <p:grpSpPr>
        <a:xfrm>
          <a:off x="0" y="0"/>
          <a:ext cx="0" cy="0"/>
          <a:chOff x="0" y="0"/>
          <a:chExt cx="0" cy="0"/>
        </a:xfrm>
      </p:grpSpPr>
      <p:sp>
        <p:nvSpPr>
          <p:cNvPr id="1159" name="Google Shape;1159;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Solution</a:t>
            </a:r>
            <a:endParaRPr/>
          </a:p>
        </p:txBody>
      </p:sp>
      <p:grpSp>
        <p:nvGrpSpPr>
          <p:cNvPr id="1160" name="Google Shape;1160;p41"/>
          <p:cNvGrpSpPr/>
          <p:nvPr/>
        </p:nvGrpSpPr>
        <p:grpSpPr>
          <a:xfrm>
            <a:off x="1402587" y="1825625"/>
            <a:ext cx="9386824" cy="4351337"/>
            <a:chOff x="564387" y="0"/>
            <a:chExt cx="9386824" cy="4351337"/>
          </a:xfrm>
        </p:grpSpPr>
        <p:sp>
          <p:nvSpPr>
            <p:cNvPr id="1161" name="Google Shape;1161;p41"/>
            <p:cNvSpPr/>
            <p:nvPr/>
          </p:nvSpPr>
          <p:spPr>
            <a:xfrm>
              <a:off x="564387" y="0"/>
              <a:ext cx="1510523" cy="1377602"/>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1"/>
            <p:cNvSpPr/>
            <p:nvPr/>
          </p:nvSpPr>
          <p:spPr>
            <a:xfrm>
              <a:off x="564387" y="1548244"/>
              <a:ext cx="4315781" cy="59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1"/>
            <p:cNvSpPr txBox="1"/>
            <p:nvPr/>
          </p:nvSpPr>
          <p:spPr>
            <a:xfrm>
              <a:off x="564387" y="1548244"/>
              <a:ext cx="4315781" cy="59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AI- Solution</a:t>
              </a:r>
              <a:endParaRPr/>
            </a:p>
          </p:txBody>
        </p:sp>
        <p:sp>
          <p:nvSpPr>
            <p:cNvPr id="1164" name="Google Shape;1164;p41"/>
            <p:cNvSpPr/>
            <p:nvPr/>
          </p:nvSpPr>
          <p:spPr>
            <a:xfrm>
              <a:off x="564387" y="2218014"/>
              <a:ext cx="4315781" cy="21333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1"/>
            <p:cNvSpPr txBox="1"/>
            <p:nvPr/>
          </p:nvSpPr>
          <p:spPr>
            <a:xfrm>
              <a:off x="564387" y="2218014"/>
              <a:ext cx="4315781" cy="21333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a:solidFill>
                    <a:schemeClr val="dk1"/>
                  </a:solidFill>
                  <a:latin typeface="Arial"/>
                  <a:ea typeface="Arial"/>
                  <a:cs typeface="Arial"/>
                  <a:sym typeface="Arial"/>
                </a:rPr>
                <a:t>AI-Powered Resume Screening: </a:t>
              </a:r>
              <a:r>
                <a:rPr lang="en-US" sz="1700">
                  <a:solidFill>
                    <a:schemeClr val="dk1"/>
                  </a:solidFill>
                  <a:latin typeface="Arial"/>
                  <a:ea typeface="Arial"/>
                  <a:cs typeface="Arial"/>
                  <a:sym typeface="Arial"/>
                </a:rPr>
                <a:t>AI scans and ranks resumes based on skills and job match.</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Chatbot for Candidate Screening: </a:t>
              </a:r>
              <a:r>
                <a:rPr lang="en-US" sz="1700">
                  <a:solidFill>
                    <a:schemeClr val="dk1"/>
                  </a:solidFill>
                  <a:latin typeface="Arial"/>
                  <a:ea typeface="Arial"/>
                  <a:cs typeface="Arial"/>
                  <a:sym typeface="Arial"/>
                </a:rPr>
                <a:t>Conducts preliminary interviews and gathers information.</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Predictive Hiring Analytics: </a:t>
              </a:r>
              <a:r>
                <a:rPr lang="en-US" sz="1700">
                  <a:solidFill>
                    <a:schemeClr val="dk1"/>
                  </a:solidFill>
                  <a:latin typeface="Arial"/>
                  <a:ea typeface="Arial"/>
                  <a:cs typeface="Arial"/>
                  <a:sym typeface="Arial"/>
                </a:rPr>
                <a:t>Identifies candidates most likely to succeed in the company.</a:t>
              </a:r>
              <a:endParaRPr/>
            </a:p>
          </p:txBody>
        </p:sp>
        <p:sp>
          <p:nvSpPr>
            <p:cNvPr id="1166" name="Google Shape;1166;p41"/>
            <p:cNvSpPr/>
            <p:nvPr/>
          </p:nvSpPr>
          <p:spPr>
            <a:xfrm>
              <a:off x="5635430" y="0"/>
              <a:ext cx="1510523" cy="1377602"/>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1"/>
            <p:cNvSpPr/>
            <p:nvPr/>
          </p:nvSpPr>
          <p:spPr>
            <a:xfrm>
              <a:off x="5635430" y="1548244"/>
              <a:ext cx="4315781" cy="59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1"/>
            <p:cNvSpPr txBox="1"/>
            <p:nvPr/>
          </p:nvSpPr>
          <p:spPr>
            <a:xfrm>
              <a:off x="5635430" y="1548244"/>
              <a:ext cx="4315781" cy="590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Business Impact</a:t>
              </a:r>
              <a:endParaRPr/>
            </a:p>
          </p:txBody>
        </p:sp>
        <p:sp>
          <p:nvSpPr>
            <p:cNvPr id="1169" name="Google Shape;1169;p41"/>
            <p:cNvSpPr/>
            <p:nvPr/>
          </p:nvSpPr>
          <p:spPr>
            <a:xfrm>
              <a:off x="5635430" y="2218014"/>
              <a:ext cx="4315781" cy="213332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1"/>
            <p:cNvSpPr txBox="1"/>
            <p:nvPr/>
          </p:nvSpPr>
          <p:spPr>
            <a:xfrm>
              <a:off x="5635430" y="2218014"/>
              <a:ext cx="4315781" cy="21333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Reduced hiring time from months to weeks.</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Improved candidate quality with data-driven selection.</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Elimination of hiring biases through objective screening.</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4"/>
        <p:cNvGrpSpPr/>
        <p:nvPr/>
      </p:nvGrpSpPr>
      <p:grpSpPr>
        <a:xfrm>
          <a:off x="0" y="0"/>
          <a:ext cx="0" cy="0"/>
          <a:chOff x="0" y="0"/>
          <a:chExt cx="0" cy="0"/>
        </a:xfrm>
      </p:grpSpPr>
      <p:sp>
        <p:nvSpPr>
          <p:cNvPr id="1175" name="Google Shape;1175;p42"/>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6" name="Google Shape;1176;p42"/>
          <p:cNvSpPr txBox="1">
            <a:spLocks noGrp="1"/>
          </p:cNvSpPr>
          <p:nvPr>
            <p:ph type="title"/>
          </p:nvPr>
        </p:nvSpPr>
        <p:spPr>
          <a:xfrm>
            <a:off x="496824" y="203269"/>
            <a:ext cx="5101336" cy="178104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Play"/>
              <a:buNone/>
            </a:pPr>
            <a:r>
              <a:rPr lang="en-US"/>
              <a:t>AI in Marketing – Enhancing Customer Engagement</a:t>
            </a:r>
            <a:endParaRPr i="0" u="none" strike="noStrike"/>
          </a:p>
        </p:txBody>
      </p:sp>
      <p:grpSp>
        <p:nvGrpSpPr>
          <p:cNvPr id="1177" name="Google Shape;1177;p42"/>
          <p:cNvGrpSpPr/>
          <p:nvPr/>
        </p:nvGrpSpPr>
        <p:grpSpPr>
          <a:xfrm>
            <a:off x="0" y="1083484"/>
            <a:ext cx="355196" cy="673460"/>
            <a:chOff x="0" y="823811"/>
            <a:chExt cx="355196" cy="673460"/>
          </a:xfrm>
        </p:grpSpPr>
        <p:sp>
          <p:nvSpPr>
            <p:cNvPr id="1178" name="Google Shape;1178;p42"/>
            <p:cNvSpPr/>
            <p:nvPr/>
          </p:nvSpPr>
          <p:spPr>
            <a:xfrm>
              <a:off x="0" y="823811"/>
              <a:ext cx="87363"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79" name="Google Shape;1179;p42"/>
            <p:cNvSpPr/>
            <p:nvPr/>
          </p:nvSpPr>
          <p:spPr>
            <a:xfrm>
              <a:off x="159341" y="823811"/>
              <a:ext cx="195855" cy="67346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80" name="Google Shape;1180;p42"/>
          <p:cNvSpPr/>
          <p:nvPr/>
        </p:nvSpPr>
        <p:spPr>
          <a:xfrm flipH="1">
            <a:off x="665085" y="2090569"/>
            <a:ext cx="4297680" cy="2743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1" name="Google Shape;1181;p42"/>
          <p:cNvSpPr txBox="1">
            <a:spLocks noGrp="1"/>
          </p:cNvSpPr>
          <p:nvPr>
            <p:ph type="body" idx="1"/>
          </p:nvPr>
        </p:nvSpPr>
        <p:spPr>
          <a:xfrm>
            <a:off x="590719" y="2330505"/>
            <a:ext cx="5007441" cy="39795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a:t>A fashion e-commerce company is facing low customer engagement and high cart abandonment rates. Despite heavy investments in digital marketing, their campaigns fail to reach the right audience effectively.</a:t>
            </a:r>
            <a:endParaRPr/>
          </a:p>
        </p:txBody>
      </p:sp>
      <p:sp>
        <p:nvSpPr>
          <p:cNvPr id="1182" name="Google Shape;1182;p42"/>
          <p:cNvSpPr/>
          <p:nvPr/>
        </p:nvSpPr>
        <p:spPr>
          <a:xfrm flipH="1">
            <a:off x="10697670" y="0"/>
            <a:ext cx="1494330" cy="685800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3" name="Google Shape;1183;p42"/>
          <p:cNvSpPr/>
          <p:nvPr/>
        </p:nvSpPr>
        <p:spPr>
          <a:xfrm>
            <a:off x="5685810" y="513853"/>
            <a:ext cx="6009366" cy="5834577"/>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84" name="Google Shape;1184;p42" descr="Abstract blurred background of department store"/>
          <p:cNvPicPr preferRelativeResize="0"/>
          <p:nvPr/>
        </p:nvPicPr>
        <p:blipFill rotWithShape="1">
          <a:blip r:embed="rId3">
            <a:alphaModFix/>
          </a:blip>
          <a:srcRect l="10722" r="20420" b="1"/>
          <a:stretch/>
        </p:blipFill>
        <p:spPr>
          <a:xfrm>
            <a:off x="5977788" y="799352"/>
            <a:ext cx="5425410" cy="525929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Solution</a:t>
            </a:r>
            <a:endParaRPr/>
          </a:p>
        </p:txBody>
      </p:sp>
      <p:grpSp>
        <p:nvGrpSpPr>
          <p:cNvPr id="1190" name="Google Shape;1190;p43"/>
          <p:cNvGrpSpPr/>
          <p:nvPr/>
        </p:nvGrpSpPr>
        <p:grpSpPr>
          <a:xfrm>
            <a:off x="1398000" y="1894039"/>
            <a:ext cx="9396000" cy="4214508"/>
            <a:chOff x="559800" y="68414"/>
            <a:chExt cx="9396000" cy="4214508"/>
          </a:xfrm>
        </p:grpSpPr>
        <p:sp>
          <p:nvSpPr>
            <p:cNvPr id="1191" name="Google Shape;1191;p43"/>
            <p:cNvSpPr/>
            <p:nvPr/>
          </p:nvSpPr>
          <p:spPr>
            <a:xfrm>
              <a:off x="559800" y="68414"/>
              <a:ext cx="1512000" cy="15120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3"/>
            <p:cNvSpPr/>
            <p:nvPr/>
          </p:nvSpPr>
          <p:spPr>
            <a:xfrm>
              <a:off x="559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3"/>
            <p:cNvSpPr txBox="1"/>
            <p:nvPr/>
          </p:nvSpPr>
          <p:spPr>
            <a:xfrm>
              <a:off x="559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AI- Solution</a:t>
              </a:r>
              <a:endParaRPr/>
            </a:p>
          </p:txBody>
        </p:sp>
        <p:sp>
          <p:nvSpPr>
            <p:cNvPr id="1194" name="Google Shape;1194;p43"/>
            <p:cNvSpPr/>
            <p:nvPr/>
          </p:nvSpPr>
          <p:spPr>
            <a:xfrm>
              <a:off x="559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3"/>
            <p:cNvSpPr txBox="1"/>
            <p:nvPr/>
          </p:nvSpPr>
          <p:spPr>
            <a:xfrm>
              <a:off x="559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a:solidFill>
                    <a:schemeClr val="dk1"/>
                  </a:solidFill>
                  <a:latin typeface="Arial"/>
                  <a:ea typeface="Arial"/>
                  <a:cs typeface="Arial"/>
                  <a:sym typeface="Arial"/>
                </a:rPr>
                <a:t>Personalized Product Recommendations: </a:t>
              </a:r>
              <a:r>
                <a:rPr lang="en-US" sz="1700">
                  <a:solidFill>
                    <a:schemeClr val="dk1"/>
                  </a:solidFill>
                  <a:latin typeface="Arial"/>
                  <a:ea typeface="Arial"/>
                  <a:cs typeface="Arial"/>
                  <a:sym typeface="Arial"/>
                </a:rPr>
                <a:t>AI suggests products based on user behavior.</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Chatbots for Customer Support: </a:t>
              </a:r>
              <a:r>
                <a:rPr lang="en-US" sz="1700">
                  <a:solidFill>
                    <a:schemeClr val="dk1"/>
                  </a:solidFill>
                  <a:latin typeface="Arial"/>
                  <a:ea typeface="Arial"/>
                  <a:cs typeface="Arial"/>
                  <a:sym typeface="Arial"/>
                </a:rPr>
                <a:t>Assists with product queries and order tracking.</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AI-Powered Email &amp; Ad Targeting: </a:t>
              </a:r>
              <a:r>
                <a:rPr lang="en-US" sz="1700">
                  <a:solidFill>
                    <a:schemeClr val="dk1"/>
                  </a:solidFill>
                  <a:latin typeface="Arial"/>
                  <a:ea typeface="Arial"/>
                  <a:cs typeface="Arial"/>
                  <a:sym typeface="Arial"/>
                </a:rPr>
                <a:t>Optimizes campaigns based on audience insights.</a:t>
              </a:r>
              <a:endParaRPr/>
            </a:p>
          </p:txBody>
        </p:sp>
        <p:sp>
          <p:nvSpPr>
            <p:cNvPr id="1196" name="Google Shape;1196;p43"/>
            <p:cNvSpPr/>
            <p:nvPr/>
          </p:nvSpPr>
          <p:spPr>
            <a:xfrm>
              <a:off x="5635800" y="68414"/>
              <a:ext cx="1512000" cy="15120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3"/>
            <p:cNvSpPr/>
            <p:nvPr/>
          </p:nvSpPr>
          <p:spPr>
            <a:xfrm>
              <a:off x="5635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3"/>
            <p:cNvSpPr txBox="1"/>
            <p:nvPr/>
          </p:nvSpPr>
          <p:spPr>
            <a:xfrm>
              <a:off x="5635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Business Impact</a:t>
              </a:r>
              <a:endParaRPr/>
            </a:p>
          </p:txBody>
        </p:sp>
        <p:sp>
          <p:nvSpPr>
            <p:cNvPr id="1199" name="Google Shape;1199;p43"/>
            <p:cNvSpPr/>
            <p:nvPr/>
          </p:nvSpPr>
          <p:spPr>
            <a:xfrm>
              <a:off x="5635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3"/>
            <p:cNvSpPr txBox="1"/>
            <p:nvPr/>
          </p:nvSpPr>
          <p:spPr>
            <a:xfrm>
              <a:off x="5635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Increased conversion rates due to personalized shopping experiences.</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Higher customer retention with targeted recommendations.</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Optimized ad spend by reaching the right audience at the right time.</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4"/>
        <p:cNvGrpSpPr/>
        <p:nvPr/>
      </p:nvGrpSpPr>
      <p:grpSpPr>
        <a:xfrm>
          <a:off x="0" y="0"/>
          <a:ext cx="0" cy="0"/>
          <a:chOff x="0" y="0"/>
          <a:chExt cx="0" cy="0"/>
        </a:xfrm>
      </p:grpSpPr>
      <p:sp>
        <p:nvSpPr>
          <p:cNvPr id="1205" name="Google Shape;1205;p4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06" name="Google Shape;1206;p44"/>
          <p:cNvSpPr txBox="1">
            <a:spLocks noGrp="1"/>
          </p:cNvSpPr>
          <p:nvPr>
            <p:ph type="title"/>
          </p:nvPr>
        </p:nvSpPr>
        <p:spPr>
          <a:xfrm>
            <a:off x="838201" y="365125"/>
            <a:ext cx="5251316" cy="1968172"/>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1"/>
              </a:buClr>
              <a:buSzPts val="4400"/>
              <a:buFont typeface="Play"/>
              <a:buNone/>
            </a:pPr>
            <a:r>
              <a:rPr lang="en-US"/>
              <a:t>AI in Supply Chain – Reducing Inventory Wastage</a:t>
            </a:r>
            <a:endParaRPr b="1" i="0" u="none" strike="noStrike"/>
          </a:p>
        </p:txBody>
      </p:sp>
      <p:sp>
        <p:nvSpPr>
          <p:cNvPr id="1207" name="Google Shape;1207;p44"/>
          <p:cNvSpPr txBox="1">
            <a:spLocks noGrp="1"/>
          </p:cNvSpPr>
          <p:nvPr>
            <p:ph type="body" idx="1"/>
          </p:nvPr>
        </p:nvSpPr>
        <p:spPr>
          <a:xfrm>
            <a:off x="838200" y="2333297"/>
            <a:ext cx="5562600" cy="384366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a:t>A supermarket chain is experiencing significant inventory wastage due to overstocking and poor demand forecasting. Perishable goods often expire before they are sold, leading to financial losses and inefficiencies.</a:t>
            </a:r>
            <a:endParaRPr/>
          </a:p>
          <a:p>
            <a:pPr marL="0" lvl="0" indent="127000" algn="l" rtl="0">
              <a:lnSpc>
                <a:spcPct val="90000"/>
              </a:lnSpc>
              <a:spcBef>
                <a:spcPts val="1000"/>
              </a:spcBef>
              <a:spcAft>
                <a:spcPts val="0"/>
              </a:spcAft>
              <a:buClr>
                <a:schemeClr val="dk1"/>
              </a:buClr>
              <a:buSzPts val="2000"/>
              <a:buNone/>
            </a:pPr>
            <a:endParaRPr sz="2000"/>
          </a:p>
        </p:txBody>
      </p:sp>
      <p:pic>
        <p:nvPicPr>
          <p:cNvPr id="1208" name="Google Shape;1208;p44" descr="Rows of shopping trolleys"/>
          <p:cNvPicPr preferRelativeResize="0"/>
          <p:nvPr/>
        </p:nvPicPr>
        <p:blipFill rotWithShape="1">
          <a:blip r:embed="rId3">
            <a:alphaModFix/>
          </a:blip>
          <a:srcRect l="21644" r="18580" b="-1"/>
          <a:stretch/>
        </p:blipFill>
        <p:spPr>
          <a:xfrm>
            <a:off x="6229215" y="10"/>
            <a:ext cx="5962785" cy="6857990"/>
          </a:xfrm>
          <a:custGeom>
            <a:avLst/>
            <a:gdLst/>
            <a:ahLst/>
            <a:cxnLst/>
            <a:rect l="l" t="t" r="r" b="b"/>
            <a:pathLst>
              <a:path w="5962785" h="6858000" extrusionOk="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sp>
        <p:nvSpPr>
          <p:cNvPr id="1213" name="Google Shape;1213;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Solution</a:t>
            </a:r>
            <a:endParaRPr/>
          </a:p>
        </p:txBody>
      </p:sp>
      <p:grpSp>
        <p:nvGrpSpPr>
          <p:cNvPr id="1214" name="Google Shape;1214;p45"/>
          <p:cNvGrpSpPr/>
          <p:nvPr/>
        </p:nvGrpSpPr>
        <p:grpSpPr>
          <a:xfrm>
            <a:off x="1398000" y="1894039"/>
            <a:ext cx="9396000" cy="4214508"/>
            <a:chOff x="559800" y="68414"/>
            <a:chExt cx="9396000" cy="4214508"/>
          </a:xfrm>
        </p:grpSpPr>
        <p:sp>
          <p:nvSpPr>
            <p:cNvPr id="1215" name="Google Shape;1215;p45"/>
            <p:cNvSpPr/>
            <p:nvPr/>
          </p:nvSpPr>
          <p:spPr>
            <a:xfrm>
              <a:off x="559800" y="68414"/>
              <a:ext cx="1512000" cy="15120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5"/>
            <p:cNvSpPr/>
            <p:nvPr/>
          </p:nvSpPr>
          <p:spPr>
            <a:xfrm>
              <a:off x="559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5"/>
            <p:cNvSpPr txBox="1"/>
            <p:nvPr/>
          </p:nvSpPr>
          <p:spPr>
            <a:xfrm>
              <a:off x="559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AI Solution</a:t>
              </a:r>
              <a:endParaRPr/>
            </a:p>
          </p:txBody>
        </p:sp>
        <p:sp>
          <p:nvSpPr>
            <p:cNvPr id="1218" name="Google Shape;1218;p45"/>
            <p:cNvSpPr/>
            <p:nvPr/>
          </p:nvSpPr>
          <p:spPr>
            <a:xfrm>
              <a:off x="559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5"/>
            <p:cNvSpPr txBox="1"/>
            <p:nvPr/>
          </p:nvSpPr>
          <p:spPr>
            <a:xfrm>
              <a:off x="559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AI-Driven Demand Forecasting: Predicts demand using sales data and trends.</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Automated Inventory Management: Optimizes stock levels to prevent over/under-stocking.</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AI-Powered Logistics Optimization: Recommends efficient delivery routes.</a:t>
              </a:r>
              <a:endParaRPr/>
            </a:p>
          </p:txBody>
        </p:sp>
        <p:sp>
          <p:nvSpPr>
            <p:cNvPr id="1220" name="Google Shape;1220;p45"/>
            <p:cNvSpPr/>
            <p:nvPr/>
          </p:nvSpPr>
          <p:spPr>
            <a:xfrm>
              <a:off x="5635800" y="68414"/>
              <a:ext cx="1512000" cy="15120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5"/>
            <p:cNvSpPr/>
            <p:nvPr/>
          </p:nvSpPr>
          <p:spPr>
            <a:xfrm>
              <a:off x="5635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5"/>
            <p:cNvSpPr txBox="1"/>
            <p:nvPr/>
          </p:nvSpPr>
          <p:spPr>
            <a:xfrm>
              <a:off x="5635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Business Impact</a:t>
              </a:r>
              <a:endParaRPr/>
            </a:p>
          </p:txBody>
        </p:sp>
        <p:sp>
          <p:nvSpPr>
            <p:cNvPr id="1223" name="Google Shape;1223;p45"/>
            <p:cNvSpPr/>
            <p:nvPr/>
          </p:nvSpPr>
          <p:spPr>
            <a:xfrm>
              <a:off x="5635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5"/>
            <p:cNvSpPr txBox="1"/>
            <p:nvPr/>
          </p:nvSpPr>
          <p:spPr>
            <a:xfrm>
              <a:off x="5635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Reduced inventory waste by 30-50% through precise demand prediction.</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Improved supply chain efficiency with optimized restocking schedules.</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Lower operational costs by minimizing excess inventory and spoilage.</a:t>
              </a:r>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28"/>
        <p:cNvGrpSpPr/>
        <p:nvPr/>
      </p:nvGrpSpPr>
      <p:grpSpPr>
        <a:xfrm>
          <a:off x="0" y="0"/>
          <a:ext cx="0" cy="0"/>
          <a:chOff x="0" y="0"/>
          <a:chExt cx="0" cy="0"/>
        </a:xfrm>
      </p:grpSpPr>
      <p:sp>
        <p:nvSpPr>
          <p:cNvPr id="1229" name="Google Shape;1229;p4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0" name="Google Shape;1230;p46"/>
          <p:cNvSpPr/>
          <p:nvPr/>
        </p:nvSpPr>
        <p:spPr>
          <a:xfrm>
            <a:off x="0" y="0"/>
            <a:ext cx="12192000" cy="2146816"/>
          </a:xfrm>
          <a:prstGeom prst="rect">
            <a:avLst/>
          </a:prstGeom>
          <a:solidFill>
            <a:srgbClr val="D8D8D8">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1" name="Google Shape;1231;p46"/>
          <p:cNvSpPr txBox="1">
            <a:spLocks noGrp="1"/>
          </p:cNvSpPr>
          <p:nvPr>
            <p:ph type="title"/>
          </p:nvPr>
        </p:nvSpPr>
        <p:spPr>
          <a:xfrm>
            <a:off x="5401733" y="399675"/>
            <a:ext cx="6208621" cy="158836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dk1"/>
              </a:buClr>
              <a:buSzPts val="4400"/>
              <a:buFont typeface="Play"/>
              <a:buNone/>
            </a:pPr>
            <a:r>
              <a:rPr lang="en-US">
                <a:solidFill>
                  <a:schemeClr val="dk1"/>
                </a:solidFill>
                <a:latin typeface="Play"/>
                <a:ea typeface="Play"/>
                <a:cs typeface="Play"/>
                <a:sym typeface="Play"/>
              </a:rPr>
              <a:t>AI in Banking – Preventing Fraudulent Transactions</a:t>
            </a:r>
            <a:endParaRPr b="1" i="0" u="none" strike="noStrike">
              <a:solidFill>
                <a:schemeClr val="dk1"/>
              </a:solidFill>
              <a:latin typeface="Play"/>
              <a:ea typeface="Play"/>
              <a:cs typeface="Play"/>
              <a:sym typeface="Play"/>
            </a:endParaRPr>
          </a:p>
        </p:txBody>
      </p:sp>
      <p:sp>
        <p:nvSpPr>
          <p:cNvPr id="1232" name="Google Shape;1232;p46"/>
          <p:cNvSpPr/>
          <p:nvPr/>
        </p:nvSpPr>
        <p:spPr>
          <a:xfrm rot="5400000">
            <a:off x="-106441" y="6131892"/>
            <a:ext cx="524256"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3" name="Google Shape;1233;p46"/>
          <p:cNvSpPr/>
          <p:nvPr/>
        </p:nvSpPr>
        <p:spPr>
          <a:xfrm rot="-5400000" flipH="1">
            <a:off x="5998176" y="277912"/>
            <a:ext cx="524256" cy="1186339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4" name="Google Shape;1234;p46"/>
          <p:cNvSpPr/>
          <p:nvPr/>
        </p:nvSpPr>
        <p:spPr>
          <a:xfrm>
            <a:off x="329185" y="399675"/>
            <a:ext cx="4647368" cy="5809932"/>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235" name="Google Shape;1235;p46" descr="Bank"/>
          <p:cNvPicPr preferRelativeResize="0"/>
          <p:nvPr/>
        </p:nvPicPr>
        <p:blipFill rotWithShape="1">
          <a:blip r:embed="rId3">
            <a:alphaModFix/>
          </a:blip>
          <a:srcRect/>
          <a:stretch/>
        </p:blipFill>
        <p:spPr>
          <a:xfrm>
            <a:off x="535110" y="1186882"/>
            <a:ext cx="4235516" cy="4235516"/>
          </a:xfrm>
          <a:prstGeom prst="rect">
            <a:avLst/>
          </a:prstGeom>
          <a:noFill/>
          <a:ln>
            <a:noFill/>
          </a:ln>
        </p:spPr>
      </p:pic>
      <p:sp>
        <p:nvSpPr>
          <p:cNvPr id="1236" name="Google Shape;1236;p46"/>
          <p:cNvSpPr txBox="1">
            <a:spLocks noGrp="1"/>
          </p:cNvSpPr>
          <p:nvPr>
            <p:ph type="body" idx="1"/>
          </p:nvPr>
        </p:nvSpPr>
        <p:spPr>
          <a:xfrm>
            <a:off x="5766262" y="2620641"/>
            <a:ext cx="5837750" cy="302370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a:t>A leading retail bank is struggling with an increasing number of fraudulent transactions, leading to financial losses and declining customer trust. Manual fraud detection is slow and inefficient.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40"/>
        <p:cNvGrpSpPr/>
        <p:nvPr/>
      </p:nvGrpSpPr>
      <p:grpSpPr>
        <a:xfrm>
          <a:off x="0" y="0"/>
          <a:ext cx="0" cy="0"/>
          <a:chOff x="0" y="0"/>
          <a:chExt cx="0" cy="0"/>
        </a:xfrm>
      </p:grpSpPr>
      <p:sp>
        <p:nvSpPr>
          <p:cNvPr id="1241" name="Google Shape;1241;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Solution</a:t>
            </a:r>
            <a:endParaRPr/>
          </a:p>
        </p:txBody>
      </p:sp>
      <p:grpSp>
        <p:nvGrpSpPr>
          <p:cNvPr id="1242" name="Google Shape;1242;p47"/>
          <p:cNvGrpSpPr/>
          <p:nvPr/>
        </p:nvGrpSpPr>
        <p:grpSpPr>
          <a:xfrm>
            <a:off x="1398000" y="1894039"/>
            <a:ext cx="9396000" cy="4214508"/>
            <a:chOff x="559800" y="68414"/>
            <a:chExt cx="9396000" cy="4214508"/>
          </a:xfrm>
        </p:grpSpPr>
        <p:sp>
          <p:nvSpPr>
            <p:cNvPr id="1243" name="Google Shape;1243;p47"/>
            <p:cNvSpPr/>
            <p:nvPr/>
          </p:nvSpPr>
          <p:spPr>
            <a:xfrm>
              <a:off x="559800" y="68414"/>
              <a:ext cx="1512000" cy="151200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7"/>
            <p:cNvSpPr/>
            <p:nvPr/>
          </p:nvSpPr>
          <p:spPr>
            <a:xfrm>
              <a:off x="559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7"/>
            <p:cNvSpPr txBox="1"/>
            <p:nvPr/>
          </p:nvSpPr>
          <p:spPr>
            <a:xfrm>
              <a:off x="559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AI Solution</a:t>
              </a:r>
              <a:endParaRPr/>
            </a:p>
          </p:txBody>
        </p:sp>
        <p:sp>
          <p:nvSpPr>
            <p:cNvPr id="1246" name="Google Shape;1246;p47"/>
            <p:cNvSpPr/>
            <p:nvPr/>
          </p:nvSpPr>
          <p:spPr>
            <a:xfrm>
              <a:off x="559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7"/>
            <p:cNvSpPr txBox="1"/>
            <p:nvPr/>
          </p:nvSpPr>
          <p:spPr>
            <a:xfrm>
              <a:off x="559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b="1">
                  <a:solidFill>
                    <a:schemeClr val="dk1"/>
                  </a:solidFill>
                  <a:latin typeface="Arial"/>
                  <a:ea typeface="Arial"/>
                  <a:cs typeface="Arial"/>
                  <a:sym typeface="Arial"/>
                </a:rPr>
                <a:t>Real-Time Fraud Detection: </a:t>
              </a:r>
              <a:r>
                <a:rPr lang="en-US" sz="1700">
                  <a:solidFill>
                    <a:schemeClr val="dk1"/>
                  </a:solidFill>
                  <a:latin typeface="Arial"/>
                  <a:ea typeface="Arial"/>
                  <a:cs typeface="Arial"/>
                  <a:sym typeface="Arial"/>
                </a:rPr>
                <a:t>Analyzes transaction patterns for suspicious activity.</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Behavioral Biometrics: </a:t>
              </a:r>
              <a:r>
                <a:rPr lang="en-US" sz="1700">
                  <a:solidFill>
                    <a:schemeClr val="dk1"/>
                  </a:solidFill>
                  <a:latin typeface="Arial"/>
                  <a:ea typeface="Arial"/>
                  <a:cs typeface="Arial"/>
                  <a:sym typeface="Arial"/>
                </a:rPr>
                <a:t>Detects unauthorized access using typing speed and location.</a:t>
              </a:r>
              <a:endParaRPr/>
            </a:p>
            <a:p>
              <a:pPr marL="0" marR="0" lvl="0" indent="0" algn="l" rtl="0">
                <a:lnSpc>
                  <a:spcPct val="100000"/>
                </a:lnSpc>
                <a:spcBef>
                  <a:spcPts val="595"/>
                </a:spcBef>
                <a:spcAft>
                  <a:spcPts val="0"/>
                </a:spcAft>
                <a:buClr>
                  <a:schemeClr val="dk1"/>
                </a:buClr>
                <a:buSzPts val="1700"/>
                <a:buFont typeface="Arial"/>
                <a:buNone/>
              </a:pPr>
              <a:r>
                <a:rPr lang="en-US" sz="1700" b="1">
                  <a:solidFill>
                    <a:schemeClr val="dk1"/>
                  </a:solidFill>
                  <a:latin typeface="Arial"/>
                  <a:ea typeface="Arial"/>
                  <a:cs typeface="Arial"/>
                  <a:sym typeface="Arial"/>
                </a:rPr>
                <a:t>Automated Risk Assessment: </a:t>
              </a:r>
              <a:r>
                <a:rPr lang="en-US" sz="1700">
                  <a:solidFill>
                    <a:schemeClr val="dk1"/>
                  </a:solidFill>
                  <a:latin typeface="Arial"/>
                  <a:ea typeface="Arial"/>
                  <a:cs typeface="Arial"/>
                  <a:sym typeface="Arial"/>
                </a:rPr>
                <a:t>Assigns fraud risk scores to transactions for quick action.</a:t>
              </a:r>
              <a:endParaRPr/>
            </a:p>
          </p:txBody>
        </p:sp>
        <p:sp>
          <p:nvSpPr>
            <p:cNvPr id="1248" name="Google Shape;1248;p47"/>
            <p:cNvSpPr/>
            <p:nvPr/>
          </p:nvSpPr>
          <p:spPr>
            <a:xfrm>
              <a:off x="5635800" y="68414"/>
              <a:ext cx="1512000" cy="151200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7"/>
            <p:cNvSpPr/>
            <p:nvPr/>
          </p:nvSpPr>
          <p:spPr>
            <a:xfrm>
              <a:off x="5635800" y="1761638"/>
              <a:ext cx="4320000" cy="648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7"/>
            <p:cNvSpPr txBox="1"/>
            <p:nvPr/>
          </p:nvSpPr>
          <p:spPr>
            <a:xfrm>
              <a:off x="5635800" y="1761638"/>
              <a:ext cx="4320000" cy="6480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3600"/>
                <a:buFont typeface="Arial"/>
                <a:buNone/>
              </a:pPr>
              <a:r>
                <a:rPr lang="en-US" sz="3600" b="1">
                  <a:solidFill>
                    <a:schemeClr val="dk1"/>
                  </a:solidFill>
                  <a:latin typeface="Arial"/>
                  <a:ea typeface="Arial"/>
                  <a:cs typeface="Arial"/>
                  <a:sym typeface="Arial"/>
                </a:rPr>
                <a:t>Business Impact</a:t>
              </a:r>
              <a:endParaRPr/>
            </a:p>
          </p:txBody>
        </p:sp>
        <p:sp>
          <p:nvSpPr>
            <p:cNvPr id="1251" name="Google Shape;1251;p47"/>
            <p:cNvSpPr/>
            <p:nvPr/>
          </p:nvSpPr>
          <p:spPr>
            <a:xfrm>
              <a:off x="5635800" y="2493928"/>
              <a:ext cx="4320000" cy="178899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7"/>
            <p:cNvSpPr txBox="1"/>
            <p:nvPr/>
          </p:nvSpPr>
          <p:spPr>
            <a:xfrm>
              <a:off x="5635800" y="2493928"/>
              <a:ext cx="4320000" cy="178899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700"/>
                <a:buFont typeface="Arial"/>
                <a:buNone/>
              </a:pPr>
              <a:r>
                <a:rPr lang="en-US" sz="1700">
                  <a:solidFill>
                    <a:schemeClr val="dk1"/>
                  </a:solidFill>
                  <a:latin typeface="Arial"/>
                  <a:ea typeface="Arial"/>
                  <a:cs typeface="Arial"/>
                  <a:sym typeface="Arial"/>
                </a:rPr>
                <a:t>Fraud detection accuracy increased by over 90% with AI.</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Reduced financial losses through proactive fraud prevention.</a:t>
              </a:r>
              <a:endParaRPr/>
            </a:p>
            <a:p>
              <a:pPr marL="0" marR="0" lvl="0" indent="0" algn="l" rtl="0">
                <a:lnSpc>
                  <a:spcPct val="100000"/>
                </a:lnSpc>
                <a:spcBef>
                  <a:spcPts val="595"/>
                </a:spcBef>
                <a:spcAft>
                  <a:spcPts val="0"/>
                </a:spcAft>
                <a:buClr>
                  <a:schemeClr val="dk1"/>
                </a:buClr>
                <a:buSzPts val="1700"/>
                <a:buFont typeface="Arial"/>
                <a:buNone/>
              </a:pPr>
              <a:r>
                <a:rPr lang="en-US" sz="1700">
                  <a:solidFill>
                    <a:schemeClr val="dk1"/>
                  </a:solidFill>
                  <a:latin typeface="Arial"/>
                  <a:ea typeface="Arial"/>
                  <a:cs typeface="Arial"/>
                  <a:sym typeface="Arial"/>
                </a:rPr>
                <a:t>Enhanced customer trust with real-time security measures.</a:t>
              </a:r>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56"/>
        <p:cNvGrpSpPr/>
        <p:nvPr/>
      </p:nvGrpSpPr>
      <p:grpSpPr>
        <a:xfrm>
          <a:off x="0" y="0"/>
          <a:ext cx="0" cy="0"/>
          <a:chOff x="0" y="0"/>
          <a:chExt cx="0" cy="0"/>
        </a:xfrm>
      </p:grpSpPr>
      <p:sp>
        <p:nvSpPr>
          <p:cNvPr id="1257" name="Google Shape;1257;p4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58" name="Google Shape;1258;p48"/>
          <p:cNvSpPr txBox="1">
            <a:spLocks noGrp="1"/>
          </p:cNvSpPr>
          <p:nvPr>
            <p:ph type="title"/>
          </p:nvPr>
        </p:nvSpPr>
        <p:spPr>
          <a:xfrm>
            <a:off x="841248" y="685800"/>
            <a:ext cx="10506456" cy="1157005"/>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0"/>
              </a:spcBef>
              <a:spcAft>
                <a:spcPts val="0"/>
              </a:spcAft>
              <a:buClr>
                <a:schemeClr val="dk1"/>
              </a:buClr>
              <a:buSzPts val="4400"/>
              <a:buFont typeface="Play"/>
              <a:buNone/>
            </a:pPr>
            <a:r>
              <a:rPr lang="en-US" i="0" u="none" strike="noStrike">
                <a:solidFill>
                  <a:schemeClr val="dk1"/>
                </a:solidFill>
                <a:latin typeface="Play"/>
                <a:ea typeface="Play"/>
                <a:cs typeface="Play"/>
                <a:sym typeface="Play"/>
              </a:rPr>
              <a:t>Discussion &amp; Summary</a:t>
            </a:r>
            <a:endParaRPr/>
          </a:p>
        </p:txBody>
      </p:sp>
      <p:sp>
        <p:nvSpPr>
          <p:cNvPr id="1259" name="Google Shape;1259;p48"/>
          <p:cNvSpPr/>
          <p:nvPr/>
        </p:nvSpPr>
        <p:spPr>
          <a:xfrm rot="5400000">
            <a:off x="1120140" y="34093"/>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60" name="Google Shape;1260;p48"/>
          <p:cNvSpPr/>
          <p:nvPr/>
        </p:nvSpPr>
        <p:spPr>
          <a:xfrm>
            <a:off x="841248" y="1958056"/>
            <a:ext cx="10506456"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1261" name="Google Shape;1261;p48"/>
          <p:cNvGrpSpPr/>
          <p:nvPr/>
        </p:nvGrpSpPr>
        <p:grpSpPr>
          <a:xfrm>
            <a:off x="846215" y="2408446"/>
            <a:ext cx="10490425" cy="3650558"/>
            <a:chOff x="8015" y="113194"/>
            <a:chExt cx="10490425" cy="3650558"/>
          </a:xfrm>
        </p:grpSpPr>
        <p:sp>
          <p:nvSpPr>
            <p:cNvPr id="1262" name="Google Shape;1262;p48"/>
            <p:cNvSpPr/>
            <p:nvPr/>
          </p:nvSpPr>
          <p:spPr>
            <a:xfrm>
              <a:off x="8015" y="113194"/>
              <a:ext cx="1096014" cy="1096014"/>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8"/>
            <p:cNvSpPr/>
            <p:nvPr/>
          </p:nvSpPr>
          <p:spPr>
            <a:xfrm>
              <a:off x="8015" y="1366183"/>
              <a:ext cx="3131470" cy="46972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8"/>
            <p:cNvSpPr txBox="1"/>
            <p:nvPr/>
          </p:nvSpPr>
          <p:spPr>
            <a:xfrm>
              <a:off x="8015" y="1366183"/>
              <a:ext cx="3131470" cy="46972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100"/>
                <a:buFont typeface="Arial"/>
                <a:buNone/>
              </a:pPr>
              <a:r>
                <a:rPr lang="en-US" sz="2100" b="1">
                  <a:solidFill>
                    <a:schemeClr val="dk1"/>
                  </a:solidFill>
                  <a:latin typeface="Arial"/>
                  <a:ea typeface="Arial"/>
                  <a:cs typeface="Arial"/>
                  <a:sym typeface="Arial"/>
                </a:rPr>
                <a:t>Business Analysis:</a:t>
              </a:r>
              <a:endParaRPr sz="2100">
                <a:solidFill>
                  <a:schemeClr val="dk1"/>
                </a:solidFill>
                <a:latin typeface="Arial"/>
                <a:ea typeface="Arial"/>
                <a:cs typeface="Arial"/>
                <a:sym typeface="Arial"/>
              </a:endParaRPr>
            </a:p>
          </p:txBody>
        </p:sp>
        <p:sp>
          <p:nvSpPr>
            <p:cNvPr id="1265" name="Google Shape;1265;p48"/>
            <p:cNvSpPr/>
            <p:nvPr/>
          </p:nvSpPr>
          <p:spPr>
            <a:xfrm>
              <a:off x="8015" y="1908915"/>
              <a:ext cx="3131470" cy="185483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8"/>
            <p:cNvSpPr txBox="1"/>
            <p:nvPr/>
          </p:nvSpPr>
          <p:spPr>
            <a:xfrm>
              <a:off x="8015" y="1908915"/>
              <a:ext cx="3131470" cy="185483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a:solidFill>
                    <a:schemeClr val="dk1"/>
                  </a:solidFill>
                  <a:latin typeface="Arial"/>
                  <a:ea typeface="Arial"/>
                  <a:cs typeface="Arial"/>
                  <a:sym typeface="Arial"/>
                </a:rPr>
                <a:t>Identifies business needs and recommends solutions.</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Involves data analysis, process improvement, and decision-making.</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Helps organizations optimize performance and efficiency.</a:t>
              </a:r>
              <a:endParaRPr/>
            </a:p>
          </p:txBody>
        </p:sp>
        <p:sp>
          <p:nvSpPr>
            <p:cNvPr id="1267" name="Google Shape;1267;p48"/>
            <p:cNvSpPr/>
            <p:nvPr/>
          </p:nvSpPr>
          <p:spPr>
            <a:xfrm>
              <a:off x="3687492" y="113194"/>
              <a:ext cx="1096014" cy="1096014"/>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8"/>
            <p:cNvSpPr/>
            <p:nvPr/>
          </p:nvSpPr>
          <p:spPr>
            <a:xfrm>
              <a:off x="3687492" y="1366183"/>
              <a:ext cx="3131470" cy="46972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8"/>
            <p:cNvSpPr txBox="1"/>
            <p:nvPr/>
          </p:nvSpPr>
          <p:spPr>
            <a:xfrm>
              <a:off x="3687492" y="1366183"/>
              <a:ext cx="3131470" cy="46972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100"/>
                <a:buFont typeface="Arial"/>
                <a:buNone/>
              </a:pPr>
              <a:r>
                <a:rPr lang="en-US" sz="2100" b="1">
                  <a:solidFill>
                    <a:schemeClr val="dk1"/>
                  </a:solidFill>
                  <a:latin typeface="Arial"/>
                  <a:ea typeface="Arial"/>
                  <a:cs typeface="Arial"/>
                  <a:sym typeface="Arial"/>
                </a:rPr>
                <a:t>Artificial Intelligence (AI):</a:t>
              </a:r>
              <a:endParaRPr sz="2100">
                <a:solidFill>
                  <a:schemeClr val="dk1"/>
                </a:solidFill>
                <a:latin typeface="Arial"/>
                <a:ea typeface="Arial"/>
                <a:cs typeface="Arial"/>
                <a:sym typeface="Arial"/>
              </a:endParaRPr>
            </a:p>
          </p:txBody>
        </p:sp>
        <p:sp>
          <p:nvSpPr>
            <p:cNvPr id="1270" name="Google Shape;1270;p48"/>
            <p:cNvSpPr/>
            <p:nvPr/>
          </p:nvSpPr>
          <p:spPr>
            <a:xfrm>
              <a:off x="3687492" y="1908915"/>
              <a:ext cx="3131470" cy="185483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8"/>
            <p:cNvSpPr txBox="1"/>
            <p:nvPr/>
          </p:nvSpPr>
          <p:spPr>
            <a:xfrm>
              <a:off x="3687492" y="1908915"/>
              <a:ext cx="3131470" cy="185483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a:solidFill>
                    <a:schemeClr val="dk1"/>
                  </a:solidFill>
                  <a:latin typeface="Arial"/>
                  <a:ea typeface="Arial"/>
                  <a:cs typeface="Arial"/>
                  <a:sym typeface="Arial"/>
                </a:rPr>
                <a:t>AI automates decision-making and enhances business insights.</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Uses Machine Learning (ML) and Deep Learning (DL) for data-driven solutions.</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Improves efficiency in customer service, marketing, HR, and supply chain.</a:t>
              </a:r>
              <a:endParaRPr/>
            </a:p>
          </p:txBody>
        </p:sp>
        <p:sp>
          <p:nvSpPr>
            <p:cNvPr id="1272" name="Google Shape;1272;p48"/>
            <p:cNvSpPr/>
            <p:nvPr/>
          </p:nvSpPr>
          <p:spPr>
            <a:xfrm>
              <a:off x="7366970" y="113194"/>
              <a:ext cx="1096014" cy="1096014"/>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8"/>
            <p:cNvSpPr/>
            <p:nvPr/>
          </p:nvSpPr>
          <p:spPr>
            <a:xfrm>
              <a:off x="7366970" y="1366183"/>
              <a:ext cx="3131470" cy="46972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8"/>
            <p:cNvSpPr txBox="1"/>
            <p:nvPr/>
          </p:nvSpPr>
          <p:spPr>
            <a:xfrm>
              <a:off x="7366970" y="1366183"/>
              <a:ext cx="3131470" cy="46972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2100"/>
                <a:buFont typeface="Arial"/>
                <a:buNone/>
              </a:pPr>
              <a:r>
                <a:rPr lang="en-US" sz="2100" b="1">
                  <a:solidFill>
                    <a:schemeClr val="dk1"/>
                  </a:solidFill>
                  <a:latin typeface="Arial"/>
                  <a:ea typeface="Arial"/>
                  <a:cs typeface="Arial"/>
                  <a:sym typeface="Arial"/>
                </a:rPr>
                <a:t>AI in Business Analysis:</a:t>
              </a:r>
              <a:endParaRPr sz="2100">
                <a:solidFill>
                  <a:schemeClr val="dk1"/>
                </a:solidFill>
                <a:latin typeface="Arial"/>
                <a:ea typeface="Arial"/>
                <a:cs typeface="Arial"/>
                <a:sym typeface="Arial"/>
              </a:endParaRPr>
            </a:p>
          </p:txBody>
        </p:sp>
        <p:sp>
          <p:nvSpPr>
            <p:cNvPr id="1275" name="Google Shape;1275;p48"/>
            <p:cNvSpPr/>
            <p:nvPr/>
          </p:nvSpPr>
          <p:spPr>
            <a:xfrm>
              <a:off x="7366970" y="1908915"/>
              <a:ext cx="3131470" cy="185483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8"/>
            <p:cNvSpPr txBox="1"/>
            <p:nvPr/>
          </p:nvSpPr>
          <p:spPr>
            <a:xfrm>
              <a:off x="7366970" y="1908915"/>
              <a:ext cx="3131470" cy="1854837"/>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a:solidFill>
                    <a:schemeClr val="dk1"/>
                  </a:solidFill>
                  <a:latin typeface="Arial"/>
                  <a:ea typeface="Arial"/>
                  <a:cs typeface="Arial"/>
                  <a:sym typeface="Arial"/>
                </a:rPr>
                <a:t>Automates data collection and trend identification.</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Enhances predictive analytics for better decision-making.</a:t>
              </a:r>
              <a:endParaRPr/>
            </a:p>
            <a:p>
              <a:pPr marL="0" marR="0" lvl="0" indent="0" algn="l" rtl="0">
                <a:lnSpc>
                  <a:spcPct val="90000"/>
                </a:lnSpc>
                <a:spcBef>
                  <a:spcPts val="525"/>
                </a:spcBef>
                <a:spcAft>
                  <a:spcPts val="0"/>
                </a:spcAft>
                <a:buClr>
                  <a:schemeClr val="dk1"/>
                </a:buClr>
                <a:buSzPts val="1500"/>
                <a:buFont typeface="Arial"/>
                <a:buNone/>
              </a:pPr>
              <a:r>
                <a:rPr lang="en-US" sz="1500">
                  <a:solidFill>
                    <a:schemeClr val="dk1"/>
                  </a:solidFill>
                  <a:latin typeface="Arial"/>
                  <a:ea typeface="Arial"/>
                  <a:cs typeface="Arial"/>
                  <a:sym typeface="Arial"/>
                </a:rPr>
                <a:t>Reduces costs and improves business agility.</a:t>
              </a:r>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80"/>
        <p:cNvGrpSpPr/>
        <p:nvPr/>
      </p:nvGrpSpPr>
      <p:grpSpPr>
        <a:xfrm>
          <a:off x="0" y="0"/>
          <a:ext cx="0" cy="0"/>
          <a:chOff x="0" y="0"/>
          <a:chExt cx="0" cy="0"/>
        </a:xfrm>
      </p:grpSpPr>
      <p:sp>
        <p:nvSpPr>
          <p:cNvPr id="1281" name="Google Shape;1281;p4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2" name="Google Shape;1282;p49"/>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3" name="Google Shape;1283;p49"/>
          <p:cNvSpPr txBox="1">
            <a:spLocks noGrp="1"/>
          </p:cNvSpPr>
          <p:nvPr>
            <p:ph type="title"/>
          </p:nvPr>
        </p:nvSpPr>
        <p:spPr>
          <a:xfrm>
            <a:off x="6090573" y="279401"/>
            <a:ext cx="5661159" cy="170328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Play"/>
              <a:buNone/>
            </a:pPr>
            <a:r>
              <a:rPr lang="en-US">
                <a:latin typeface="Play"/>
                <a:ea typeface="Play"/>
                <a:cs typeface="Play"/>
                <a:sym typeface="Play"/>
              </a:rPr>
              <a:t>Growth Strategies for a Mom-and-Pop Store in India</a:t>
            </a:r>
            <a:endParaRPr/>
          </a:p>
        </p:txBody>
      </p:sp>
      <p:pic>
        <p:nvPicPr>
          <p:cNvPr id="1284" name="Google Shape;1284;p49" descr="Shop"/>
          <p:cNvPicPr preferRelativeResize="0"/>
          <p:nvPr/>
        </p:nvPicPr>
        <p:blipFill rotWithShape="1">
          <a:blip r:embed="rId3">
            <a:alphaModFix/>
          </a:blip>
          <a:srcRect/>
          <a:stretch/>
        </p:blipFill>
        <p:spPr>
          <a:xfrm>
            <a:off x="686951" y="1793846"/>
            <a:ext cx="3620021" cy="3620021"/>
          </a:xfrm>
          <a:prstGeom prst="rect">
            <a:avLst/>
          </a:prstGeom>
          <a:noFill/>
          <a:ln>
            <a:noFill/>
          </a:ln>
        </p:spPr>
      </p:pic>
      <p:sp>
        <p:nvSpPr>
          <p:cNvPr id="1285" name="Google Shape;1285;p49"/>
          <p:cNvSpPr txBox="1">
            <a:spLocks noGrp="1"/>
          </p:cNvSpPr>
          <p:nvPr>
            <p:ph type="body" idx="1"/>
          </p:nvPr>
        </p:nvSpPr>
        <p:spPr>
          <a:xfrm>
            <a:off x="6090574" y="1982685"/>
            <a:ext cx="5725506" cy="48753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2400"/>
              <a:buNone/>
            </a:pPr>
            <a:r>
              <a:rPr lang="en-US" sz="2400" b="1">
                <a:solidFill>
                  <a:schemeClr val="dk2"/>
                </a:solidFill>
              </a:rPr>
              <a:t>Introduction</a:t>
            </a:r>
            <a:endParaRPr/>
          </a:p>
          <a:p>
            <a:pPr marL="0" lvl="0" indent="0" algn="l" rtl="0">
              <a:lnSpc>
                <a:spcPct val="90000"/>
              </a:lnSpc>
              <a:spcBef>
                <a:spcPts val="1000"/>
              </a:spcBef>
              <a:spcAft>
                <a:spcPts val="0"/>
              </a:spcAft>
              <a:buClr>
                <a:schemeClr val="dk2"/>
              </a:buClr>
              <a:buSzPts val="2400"/>
              <a:buNone/>
            </a:pPr>
            <a:r>
              <a:rPr lang="en-US" sz="2400">
                <a:solidFill>
                  <a:schemeClr val="dk2"/>
                </a:solidFill>
              </a:rPr>
              <a:t>Mom-and-pop stores, also known as Kirana stores in India, are small family-owned retail outlets that serve local communities. Despite competition from supermarkets and e-commerce, these stores thrive due to personalized service, credit facilities, and deep customer relationships. This case study explores how </a:t>
            </a:r>
            <a:r>
              <a:rPr lang="en-US" sz="2400" b="1">
                <a:solidFill>
                  <a:schemeClr val="dk2"/>
                </a:solidFill>
              </a:rPr>
              <a:t>"Gupta General Store"</a:t>
            </a:r>
            <a:r>
              <a:rPr lang="en-US" sz="2400">
                <a:solidFill>
                  <a:schemeClr val="dk2"/>
                </a:solidFill>
              </a:rPr>
              <a:t>, a small Kirana shop in Mumbai, improved its operations and profitability using data analysis and digital adoption.</a:t>
            </a:r>
            <a:endParaRPr/>
          </a:p>
          <a:p>
            <a:pPr marL="0" lvl="0" indent="114300" algn="l" rtl="0">
              <a:lnSpc>
                <a:spcPct val="90000"/>
              </a:lnSpc>
              <a:spcBef>
                <a:spcPts val="1000"/>
              </a:spcBef>
              <a:spcAft>
                <a:spcPts val="0"/>
              </a:spcAft>
              <a:buClr>
                <a:schemeClr val="dk1"/>
              </a:buClr>
              <a:buSzPts val="1800"/>
              <a:buNone/>
            </a:pPr>
            <a:endParaRPr sz="1800">
              <a:solidFill>
                <a:schemeClr val="dk2"/>
              </a:solidFill>
            </a:endParaRPr>
          </a:p>
        </p:txBody>
      </p:sp>
      <p:grpSp>
        <p:nvGrpSpPr>
          <p:cNvPr id="1286" name="Google Shape;1286;p49"/>
          <p:cNvGrpSpPr/>
          <p:nvPr/>
        </p:nvGrpSpPr>
        <p:grpSpPr>
          <a:xfrm flipH="1">
            <a:off x="2635" y="52996"/>
            <a:ext cx="5928607" cy="6805005"/>
            <a:chOff x="6095999" y="52996"/>
            <a:chExt cx="6093363" cy="6805005"/>
          </a:xfrm>
        </p:grpSpPr>
        <p:sp>
          <p:nvSpPr>
            <p:cNvPr id="1287" name="Google Shape;1287;p49"/>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8" name="Google Shape;1288;p49"/>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89" name="Google Shape;1289;p49"/>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93"/>
        <p:cNvGrpSpPr/>
        <p:nvPr/>
      </p:nvGrpSpPr>
      <p:grpSpPr>
        <a:xfrm>
          <a:off x="0" y="0"/>
          <a:ext cx="0" cy="0"/>
          <a:chOff x="0" y="0"/>
          <a:chExt cx="0" cy="0"/>
        </a:xfrm>
      </p:grpSpPr>
      <p:sp>
        <p:nvSpPr>
          <p:cNvPr id="1294" name="Google Shape;1294;p5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95" name="Google Shape;1295;p50"/>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96" name="Google Shape;1296;p50"/>
          <p:cNvSpPr txBox="1">
            <a:spLocks noGrp="1"/>
          </p:cNvSpPr>
          <p:nvPr>
            <p:ph type="title"/>
          </p:nvPr>
        </p:nvSpPr>
        <p:spPr>
          <a:xfrm>
            <a:off x="6094105" y="802955"/>
            <a:ext cx="4977976" cy="145405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latin typeface="Play"/>
                <a:ea typeface="Play"/>
                <a:cs typeface="Play"/>
                <a:sym typeface="Play"/>
              </a:rPr>
              <a:t>Background</a:t>
            </a:r>
            <a:endParaRPr/>
          </a:p>
        </p:txBody>
      </p:sp>
      <p:pic>
        <p:nvPicPr>
          <p:cNvPr id="1297" name="Google Shape;1297;p50" descr="Store"/>
          <p:cNvPicPr preferRelativeResize="0"/>
          <p:nvPr/>
        </p:nvPicPr>
        <p:blipFill rotWithShape="1">
          <a:blip r:embed="rId3">
            <a:alphaModFix/>
          </a:blip>
          <a:srcRect/>
          <a:stretch/>
        </p:blipFill>
        <p:spPr>
          <a:xfrm>
            <a:off x="686951" y="1793846"/>
            <a:ext cx="3620021" cy="3620021"/>
          </a:xfrm>
          <a:prstGeom prst="rect">
            <a:avLst/>
          </a:prstGeom>
          <a:noFill/>
          <a:ln>
            <a:noFill/>
          </a:ln>
        </p:spPr>
      </p:pic>
      <p:sp>
        <p:nvSpPr>
          <p:cNvPr id="1298" name="Google Shape;1298;p50"/>
          <p:cNvSpPr txBox="1">
            <a:spLocks noGrp="1"/>
          </p:cNvSpPr>
          <p:nvPr>
            <p:ph type="body" idx="1"/>
          </p:nvPr>
        </p:nvSpPr>
        <p:spPr>
          <a:xfrm>
            <a:off x="6090574" y="2421682"/>
            <a:ext cx="4977578" cy="3639289"/>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chemeClr val="dk2"/>
              </a:buClr>
              <a:buSzPts val="2400"/>
              <a:buChar char="•"/>
            </a:pPr>
            <a:r>
              <a:rPr lang="en-US" sz="2400" b="1" i="0" u="none" strike="noStrike" cap="none">
                <a:solidFill>
                  <a:schemeClr val="dk2"/>
                </a:solidFill>
              </a:rPr>
              <a:t>Store Name</a:t>
            </a:r>
            <a:r>
              <a:rPr lang="en-US" sz="2400" b="0" i="0" u="none" strike="noStrike" cap="none">
                <a:solidFill>
                  <a:schemeClr val="dk2"/>
                </a:solidFill>
              </a:rPr>
              <a:t>: Gupta General Store</a:t>
            </a:r>
            <a:endParaRPr/>
          </a:p>
          <a:p>
            <a:pPr marL="0" marR="0" lvl="0" indent="0" algn="l" rtl="0">
              <a:lnSpc>
                <a:spcPct val="90000"/>
              </a:lnSpc>
              <a:spcBef>
                <a:spcPts val="600"/>
              </a:spcBef>
              <a:spcAft>
                <a:spcPts val="0"/>
              </a:spcAft>
              <a:buClr>
                <a:schemeClr val="dk2"/>
              </a:buClr>
              <a:buSzPts val="2400"/>
              <a:buChar char="•"/>
            </a:pPr>
            <a:r>
              <a:rPr lang="en-US" sz="2400" b="1" i="0" u="none" strike="noStrike" cap="none">
                <a:solidFill>
                  <a:schemeClr val="dk2"/>
                </a:solidFill>
              </a:rPr>
              <a:t>Location</a:t>
            </a:r>
            <a:r>
              <a:rPr lang="en-US" sz="2400" b="0" i="0" u="none" strike="noStrike" cap="none">
                <a:solidFill>
                  <a:schemeClr val="dk2"/>
                </a:solidFill>
              </a:rPr>
              <a:t>: Mumbai, Maharashtra</a:t>
            </a:r>
            <a:endParaRPr/>
          </a:p>
          <a:p>
            <a:pPr marL="0" marR="0" lvl="0" indent="0" algn="l" rtl="0">
              <a:lnSpc>
                <a:spcPct val="90000"/>
              </a:lnSpc>
              <a:spcBef>
                <a:spcPts val="600"/>
              </a:spcBef>
              <a:spcAft>
                <a:spcPts val="0"/>
              </a:spcAft>
              <a:buClr>
                <a:schemeClr val="dk2"/>
              </a:buClr>
              <a:buSzPts val="2400"/>
              <a:buChar char="•"/>
            </a:pPr>
            <a:r>
              <a:rPr lang="en-US" sz="2400" b="1" i="0" u="none" strike="noStrike" cap="none">
                <a:solidFill>
                  <a:schemeClr val="dk2"/>
                </a:solidFill>
              </a:rPr>
              <a:t>Owner</a:t>
            </a:r>
            <a:r>
              <a:rPr lang="en-US" sz="2400" b="0" i="0" u="none" strike="noStrike" cap="none">
                <a:solidFill>
                  <a:schemeClr val="dk2"/>
                </a:solidFill>
              </a:rPr>
              <a:t>: Mr. Ramesh Gupta</a:t>
            </a:r>
            <a:endParaRPr/>
          </a:p>
          <a:p>
            <a:pPr marL="0" marR="0" lvl="0" indent="0" algn="l" rtl="0">
              <a:lnSpc>
                <a:spcPct val="90000"/>
              </a:lnSpc>
              <a:spcBef>
                <a:spcPts val="600"/>
              </a:spcBef>
              <a:spcAft>
                <a:spcPts val="0"/>
              </a:spcAft>
              <a:buClr>
                <a:schemeClr val="dk2"/>
              </a:buClr>
              <a:buSzPts val="2400"/>
              <a:buChar char="•"/>
            </a:pPr>
            <a:r>
              <a:rPr lang="en-US" sz="2400" b="1" i="0" u="none" strike="noStrike" cap="none">
                <a:solidFill>
                  <a:schemeClr val="dk2"/>
                </a:solidFill>
              </a:rPr>
              <a:t>Established</a:t>
            </a:r>
            <a:r>
              <a:rPr lang="en-US" sz="2400" b="0" i="0" u="none" strike="noStrike" cap="none">
                <a:solidFill>
                  <a:schemeClr val="dk2"/>
                </a:solidFill>
              </a:rPr>
              <a:t>: 1998</a:t>
            </a:r>
            <a:endParaRPr/>
          </a:p>
          <a:p>
            <a:pPr marL="0" marR="0" lvl="0" indent="0" algn="l" rtl="0">
              <a:lnSpc>
                <a:spcPct val="90000"/>
              </a:lnSpc>
              <a:spcBef>
                <a:spcPts val="600"/>
              </a:spcBef>
              <a:spcAft>
                <a:spcPts val="0"/>
              </a:spcAft>
              <a:buClr>
                <a:schemeClr val="dk2"/>
              </a:buClr>
              <a:buSzPts val="2400"/>
              <a:buChar char="•"/>
            </a:pPr>
            <a:r>
              <a:rPr lang="en-US" sz="2400" b="1" i="0" u="none" strike="noStrike" cap="none">
                <a:solidFill>
                  <a:schemeClr val="dk2"/>
                </a:solidFill>
              </a:rPr>
              <a:t>Products Sold</a:t>
            </a:r>
            <a:r>
              <a:rPr lang="en-US" sz="2400" b="0" i="0" u="none" strike="noStrike" cap="none">
                <a:solidFill>
                  <a:schemeClr val="dk2"/>
                </a:solidFill>
              </a:rPr>
              <a:t>: Groceries, snacks, dairy, household items</a:t>
            </a:r>
            <a:endParaRPr/>
          </a:p>
          <a:p>
            <a:pPr marL="0" marR="0" lvl="0" indent="0" algn="l" rtl="0">
              <a:lnSpc>
                <a:spcPct val="90000"/>
              </a:lnSpc>
              <a:spcBef>
                <a:spcPts val="600"/>
              </a:spcBef>
              <a:spcAft>
                <a:spcPts val="0"/>
              </a:spcAft>
              <a:buClr>
                <a:schemeClr val="dk2"/>
              </a:buClr>
              <a:buSzPts val="2400"/>
              <a:buChar char="•"/>
            </a:pPr>
            <a:r>
              <a:rPr lang="en-US" sz="2400" b="1" i="0" u="none" strike="noStrike" cap="none">
                <a:solidFill>
                  <a:schemeClr val="dk2"/>
                </a:solidFill>
              </a:rPr>
              <a:t>Competitors</a:t>
            </a:r>
            <a:r>
              <a:rPr lang="en-US" sz="2400" b="0" i="0" u="none" strike="noStrike" cap="none">
                <a:solidFill>
                  <a:schemeClr val="dk2"/>
                </a:solidFill>
              </a:rPr>
              <a:t>: Supermarkets (D-Mart, Reliance Fresh), online grocery (BigBasket, Blinkit) </a:t>
            </a:r>
            <a:endParaRPr/>
          </a:p>
        </p:txBody>
      </p:sp>
      <p:grpSp>
        <p:nvGrpSpPr>
          <p:cNvPr id="1299" name="Google Shape;1299;p50"/>
          <p:cNvGrpSpPr/>
          <p:nvPr/>
        </p:nvGrpSpPr>
        <p:grpSpPr>
          <a:xfrm flipH="1">
            <a:off x="2635" y="52996"/>
            <a:ext cx="5928607" cy="6805005"/>
            <a:chOff x="6095999" y="52996"/>
            <a:chExt cx="6093363" cy="6805005"/>
          </a:xfrm>
        </p:grpSpPr>
        <p:sp>
          <p:nvSpPr>
            <p:cNvPr id="1300" name="Google Shape;1300;p50"/>
            <p:cNvSpPr/>
            <p:nvPr/>
          </p:nvSpPr>
          <p:spPr>
            <a:xfrm>
              <a:off x="6096001"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01" name="Google Shape;1301;p50"/>
            <p:cNvSpPr/>
            <p:nvPr/>
          </p:nvSpPr>
          <p:spPr>
            <a:xfrm>
              <a:off x="6095999"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02" name="Google Shape;1302;p50"/>
            <p:cNvSpPr/>
            <p:nvPr/>
          </p:nvSpPr>
          <p:spPr>
            <a:xfrm>
              <a:off x="6096000"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06"/>
        <p:cNvGrpSpPr/>
        <p:nvPr/>
      </p:nvGrpSpPr>
      <p:grpSpPr>
        <a:xfrm>
          <a:off x="0" y="0"/>
          <a:ext cx="0" cy="0"/>
          <a:chOff x="0" y="0"/>
          <a:chExt cx="0" cy="0"/>
        </a:xfrm>
      </p:grpSpPr>
      <p:sp>
        <p:nvSpPr>
          <p:cNvPr id="1307" name="Google Shape;130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Challenges Faced</a:t>
            </a:r>
            <a:endParaRPr/>
          </a:p>
        </p:txBody>
      </p:sp>
      <p:grpSp>
        <p:nvGrpSpPr>
          <p:cNvPr id="1308" name="Google Shape;1308;p51"/>
          <p:cNvGrpSpPr/>
          <p:nvPr/>
        </p:nvGrpSpPr>
        <p:grpSpPr>
          <a:xfrm>
            <a:off x="1050535" y="2295515"/>
            <a:ext cx="10090929" cy="3411557"/>
            <a:chOff x="212335" y="469890"/>
            <a:chExt cx="10090929" cy="3411557"/>
          </a:xfrm>
        </p:grpSpPr>
        <p:sp>
          <p:nvSpPr>
            <p:cNvPr id="1309" name="Google Shape;1309;p51"/>
            <p:cNvSpPr/>
            <p:nvPr/>
          </p:nvSpPr>
          <p:spPr>
            <a:xfrm>
              <a:off x="212335" y="469890"/>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51"/>
            <p:cNvSpPr/>
            <p:nvPr/>
          </p:nvSpPr>
          <p:spPr>
            <a:xfrm>
              <a:off x="492877" y="750432"/>
              <a:ext cx="774830" cy="774830"/>
            </a:xfrm>
            <a:prstGeom prst="rect">
              <a:avLst/>
            </a:prstGeom>
            <a:blipFill rotWithShape="1">
              <a:blip r:embed="rId3">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51"/>
            <p:cNvSpPr/>
            <p:nvPr/>
          </p:nvSpPr>
          <p:spPr>
            <a:xfrm>
              <a:off x="1834517" y="469890"/>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51"/>
            <p:cNvSpPr txBox="1"/>
            <p:nvPr/>
          </p:nvSpPr>
          <p:spPr>
            <a:xfrm>
              <a:off x="1834517" y="469890"/>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100"/>
                <a:buFont typeface="Arial"/>
                <a:buNone/>
              </a:pPr>
              <a:r>
                <a:rPr lang="en-US" sz="2100" b="1" i="0">
                  <a:solidFill>
                    <a:schemeClr val="dk1"/>
                  </a:solidFill>
                  <a:latin typeface="Arial"/>
                  <a:ea typeface="Arial"/>
                  <a:cs typeface="Arial"/>
                  <a:sym typeface="Arial"/>
                </a:rPr>
                <a:t>Declining Sales</a:t>
              </a:r>
              <a:r>
                <a:rPr lang="en-US" sz="2100" b="0" i="0">
                  <a:solidFill>
                    <a:schemeClr val="dk1"/>
                  </a:solidFill>
                  <a:latin typeface="Arial"/>
                  <a:ea typeface="Arial"/>
                  <a:cs typeface="Arial"/>
                  <a:sym typeface="Arial"/>
                </a:rPr>
                <a:t> due to competition from e-commerce platforms.</a:t>
              </a:r>
              <a:endParaRPr sz="2100">
                <a:solidFill>
                  <a:schemeClr val="dk1"/>
                </a:solidFill>
                <a:latin typeface="Arial"/>
                <a:ea typeface="Arial"/>
                <a:cs typeface="Arial"/>
                <a:sym typeface="Arial"/>
              </a:endParaRPr>
            </a:p>
          </p:txBody>
        </p:sp>
        <p:sp>
          <p:nvSpPr>
            <p:cNvPr id="1313" name="Google Shape;1313;p51"/>
            <p:cNvSpPr/>
            <p:nvPr/>
          </p:nvSpPr>
          <p:spPr>
            <a:xfrm>
              <a:off x="5532139" y="469890"/>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51"/>
            <p:cNvSpPr/>
            <p:nvPr/>
          </p:nvSpPr>
          <p:spPr>
            <a:xfrm>
              <a:off x="5812681" y="750432"/>
              <a:ext cx="774830" cy="774830"/>
            </a:xfrm>
            <a:prstGeom prst="rect">
              <a:avLst/>
            </a:prstGeom>
            <a:blipFill rotWithShape="1">
              <a:blip r:embed="rId4">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51"/>
            <p:cNvSpPr/>
            <p:nvPr/>
          </p:nvSpPr>
          <p:spPr>
            <a:xfrm>
              <a:off x="7154322" y="469890"/>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51"/>
            <p:cNvSpPr txBox="1"/>
            <p:nvPr/>
          </p:nvSpPr>
          <p:spPr>
            <a:xfrm>
              <a:off x="7154322" y="469890"/>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100"/>
                <a:buFont typeface="Arial"/>
                <a:buNone/>
              </a:pPr>
              <a:r>
                <a:rPr lang="en-US" sz="2100" b="1" i="0">
                  <a:solidFill>
                    <a:schemeClr val="dk1"/>
                  </a:solidFill>
                  <a:latin typeface="Arial"/>
                  <a:ea typeface="Arial"/>
                  <a:cs typeface="Arial"/>
                  <a:sym typeface="Arial"/>
                </a:rPr>
                <a:t>Inventory Mismanagement</a:t>
              </a:r>
              <a:r>
                <a:rPr lang="en-US" sz="2100" b="0" i="0">
                  <a:solidFill>
                    <a:schemeClr val="dk1"/>
                  </a:solidFill>
                  <a:latin typeface="Arial"/>
                  <a:ea typeface="Arial"/>
                  <a:cs typeface="Arial"/>
                  <a:sym typeface="Arial"/>
                </a:rPr>
                <a:t>, leading to overstocking or stockouts.</a:t>
              </a:r>
              <a:endParaRPr sz="2100">
                <a:solidFill>
                  <a:schemeClr val="dk1"/>
                </a:solidFill>
                <a:latin typeface="Arial"/>
                <a:ea typeface="Arial"/>
                <a:cs typeface="Arial"/>
                <a:sym typeface="Arial"/>
              </a:endParaRPr>
            </a:p>
          </p:txBody>
        </p:sp>
        <p:sp>
          <p:nvSpPr>
            <p:cNvPr id="1317" name="Google Shape;1317;p51"/>
            <p:cNvSpPr/>
            <p:nvPr/>
          </p:nvSpPr>
          <p:spPr>
            <a:xfrm>
              <a:off x="212335" y="2545532"/>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51"/>
            <p:cNvSpPr/>
            <p:nvPr/>
          </p:nvSpPr>
          <p:spPr>
            <a:xfrm>
              <a:off x="492877" y="2826074"/>
              <a:ext cx="774830" cy="774830"/>
            </a:xfrm>
            <a:prstGeom prst="rect">
              <a:avLst/>
            </a:prstGeom>
            <a:blipFill rotWithShape="1">
              <a:blip r:embed="rId5">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51"/>
            <p:cNvSpPr/>
            <p:nvPr/>
          </p:nvSpPr>
          <p:spPr>
            <a:xfrm>
              <a:off x="1834517" y="2545532"/>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51"/>
            <p:cNvSpPr txBox="1"/>
            <p:nvPr/>
          </p:nvSpPr>
          <p:spPr>
            <a:xfrm>
              <a:off x="1834517" y="2545532"/>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100"/>
                <a:buFont typeface="Arial"/>
                <a:buNone/>
              </a:pPr>
              <a:r>
                <a:rPr lang="en-US" sz="2100" b="1" i="0">
                  <a:solidFill>
                    <a:schemeClr val="dk1"/>
                  </a:solidFill>
                  <a:latin typeface="Arial"/>
                  <a:ea typeface="Arial"/>
                  <a:cs typeface="Arial"/>
                  <a:sym typeface="Arial"/>
                </a:rPr>
                <a:t>Lack of Customer Insights</a:t>
              </a:r>
              <a:r>
                <a:rPr lang="en-US" sz="2100" b="0" i="0">
                  <a:solidFill>
                    <a:schemeClr val="dk1"/>
                  </a:solidFill>
                  <a:latin typeface="Arial"/>
                  <a:ea typeface="Arial"/>
                  <a:cs typeface="Arial"/>
                  <a:sym typeface="Arial"/>
                </a:rPr>
                <a:t>, making it hard to offer discounts or loyalty programs.</a:t>
              </a:r>
              <a:endParaRPr sz="2100">
                <a:solidFill>
                  <a:schemeClr val="dk1"/>
                </a:solidFill>
                <a:latin typeface="Arial"/>
                <a:ea typeface="Arial"/>
                <a:cs typeface="Arial"/>
                <a:sym typeface="Arial"/>
              </a:endParaRPr>
            </a:p>
          </p:txBody>
        </p:sp>
        <p:sp>
          <p:nvSpPr>
            <p:cNvPr id="1321" name="Google Shape;1321;p51"/>
            <p:cNvSpPr/>
            <p:nvPr/>
          </p:nvSpPr>
          <p:spPr>
            <a:xfrm>
              <a:off x="5532139" y="2545532"/>
              <a:ext cx="1335915" cy="1335915"/>
            </a:xfrm>
            <a:prstGeom prst="ellipse">
              <a:avLst/>
            </a:prstGeom>
            <a:solidFill>
              <a:srgbClr val="CAD1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51"/>
            <p:cNvSpPr/>
            <p:nvPr/>
          </p:nvSpPr>
          <p:spPr>
            <a:xfrm>
              <a:off x="5812681" y="2826074"/>
              <a:ext cx="774830" cy="774830"/>
            </a:xfrm>
            <a:prstGeom prst="rect">
              <a:avLst/>
            </a:prstGeom>
            <a:blipFill rotWithShape="1">
              <a:blip r:embed="rId6">
                <a:alphaModFix/>
              </a:blip>
              <a:stretch>
                <a:fillRect/>
              </a:stretch>
            </a:blip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51"/>
            <p:cNvSpPr/>
            <p:nvPr/>
          </p:nvSpPr>
          <p:spPr>
            <a:xfrm>
              <a:off x="7154322" y="2545532"/>
              <a:ext cx="3148942" cy="133591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51"/>
            <p:cNvSpPr txBox="1"/>
            <p:nvPr/>
          </p:nvSpPr>
          <p:spPr>
            <a:xfrm>
              <a:off x="7154322" y="2545532"/>
              <a:ext cx="3148942" cy="1335915"/>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chemeClr val="dk1"/>
                </a:buClr>
                <a:buSzPts val="2100"/>
                <a:buFont typeface="Arial"/>
                <a:buNone/>
              </a:pPr>
              <a:r>
                <a:rPr lang="en-US" sz="2100" b="1" i="0">
                  <a:solidFill>
                    <a:schemeClr val="dk1"/>
                  </a:solidFill>
                  <a:latin typeface="Arial"/>
                  <a:ea typeface="Arial"/>
                  <a:cs typeface="Arial"/>
                  <a:sym typeface="Arial"/>
                </a:rPr>
                <a:t>Limited Digital Presence</a:t>
              </a:r>
              <a:r>
                <a:rPr lang="en-US" sz="2100" b="0" i="0">
                  <a:solidFill>
                    <a:schemeClr val="dk1"/>
                  </a:solidFill>
                  <a:latin typeface="Arial"/>
                  <a:ea typeface="Arial"/>
                  <a:cs typeface="Arial"/>
                  <a:sym typeface="Arial"/>
                </a:rPr>
                <a:t>, missing out on UPI and online orders. </a:t>
              </a:r>
              <a:endParaRPr sz="2100">
                <a:solidFill>
                  <a:schemeClr val="dk1"/>
                </a:solidFill>
                <a:latin typeface="Arial"/>
                <a:ea typeface="Arial"/>
                <a:cs typeface="Arial"/>
                <a:sym typeface="Aria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8"/>
        <p:cNvGrpSpPr/>
        <p:nvPr/>
      </p:nvGrpSpPr>
      <p:grpSpPr>
        <a:xfrm>
          <a:off x="0" y="0"/>
          <a:ext cx="0" cy="0"/>
          <a:chOff x="0" y="0"/>
          <a:chExt cx="0" cy="0"/>
        </a:xfrm>
      </p:grpSpPr>
      <p:sp>
        <p:nvSpPr>
          <p:cNvPr id="1329" name="Google Shape;1329;p52"/>
          <p:cNvSpPr/>
          <p:nvPr/>
        </p:nvSpPr>
        <p:spPr>
          <a:xfrm>
            <a:off x="0"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0" name="Google Shape;1330;p52"/>
          <p:cNvSpPr/>
          <p:nvPr/>
        </p:nvSpPr>
        <p:spPr>
          <a:xfrm>
            <a:off x="305" y="0"/>
            <a:ext cx="12191695"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1" name="Google Shape;1331;p52"/>
          <p:cNvSpPr txBox="1">
            <a:spLocks noGrp="1"/>
          </p:cNvSpPr>
          <p:nvPr>
            <p:ph type="title"/>
          </p:nvPr>
        </p:nvSpPr>
        <p:spPr>
          <a:xfrm>
            <a:off x="804672" y="4267832"/>
            <a:ext cx="4805996" cy="1297115"/>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2"/>
              </a:buClr>
              <a:buSzPts val="6000"/>
              <a:buFont typeface="Play"/>
              <a:buNone/>
            </a:pPr>
            <a:r>
              <a:rPr lang="en-US" sz="6000" b="1" i="0" u="none" strike="noStrike">
                <a:solidFill>
                  <a:schemeClr val="dk2"/>
                </a:solidFill>
                <a:latin typeface="Play"/>
                <a:ea typeface="Play"/>
                <a:cs typeface="Play"/>
                <a:sym typeface="Play"/>
              </a:rPr>
              <a:t>Thank You</a:t>
            </a:r>
            <a:endParaRPr/>
          </a:p>
        </p:txBody>
      </p:sp>
      <p:grpSp>
        <p:nvGrpSpPr>
          <p:cNvPr id="1332" name="Google Shape;1332;p52"/>
          <p:cNvGrpSpPr/>
          <p:nvPr/>
        </p:nvGrpSpPr>
        <p:grpSpPr>
          <a:xfrm>
            <a:off x="6101023" y="52996"/>
            <a:ext cx="6093363" cy="6805005"/>
            <a:chOff x="6101023" y="52996"/>
            <a:chExt cx="6093363" cy="6805005"/>
          </a:xfrm>
        </p:grpSpPr>
        <p:sp>
          <p:nvSpPr>
            <p:cNvPr id="1333" name="Google Shape;1333;p52"/>
            <p:cNvSpPr/>
            <p:nvPr/>
          </p:nvSpPr>
          <p:spPr>
            <a:xfrm>
              <a:off x="6101024" y="52997"/>
              <a:ext cx="6093362" cy="6805004"/>
            </a:xfrm>
            <a:custGeom>
              <a:avLst/>
              <a:gdLst/>
              <a:ahLst/>
              <a:cxnLst/>
              <a:rect l="l" t="t" r="r" b="b"/>
              <a:pathLst>
                <a:path w="5890490" h="6578439" extrusionOk="0">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rgbClr val="FFFFFF">
                    <a:alpha val="9803"/>
                  </a:srgbClr>
                </a:gs>
                <a:gs pos="2000">
                  <a:srgbClr val="FFFFFF">
                    <a:alpha val="9803"/>
                  </a:srgbClr>
                </a:gs>
                <a:gs pos="16000">
                  <a:srgbClr val="4EA72E">
                    <a:alpha val="4705"/>
                  </a:srgbClr>
                </a:gs>
                <a:gs pos="85000">
                  <a:srgbClr val="156082">
                    <a:alpha val="4705"/>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4" name="Google Shape;1334;p52"/>
            <p:cNvSpPr/>
            <p:nvPr/>
          </p:nvSpPr>
          <p:spPr>
            <a:xfrm>
              <a:off x="6101025" y="52996"/>
              <a:ext cx="6093361" cy="6805003"/>
            </a:xfrm>
            <a:custGeom>
              <a:avLst/>
              <a:gdLst/>
              <a:ahLst/>
              <a:cxnLst/>
              <a:rect l="l" t="t" r="r" b="b"/>
              <a:pathLst>
                <a:path w="5890489" h="6578438" extrusionOk="0">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0">
                  <a:srgbClr val="FFFFFF">
                    <a:alpha val="9803"/>
                  </a:srgbClr>
                </a:gs>
                <a:gs pos="2000">
                  <a:srgbClr val="FFFFFF">
                    <a:alpha val="9803"/>
                  </a:srgbClr>
                </a:gs>
                <a:gs pos="16000">
                  <a:srgbClr val="4EA72E">
                    <a:alpha val="4705"/>
                  </a:srgbClr>
                </a:gs>
                <a:gs pos="85000">
                  <a:srgbClr val="156082">
                    <a:alpha val="4705"/>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5" name="Google Shape;1335;p52"/>
            <p:cNvSpPr/>
            <p:nvPr/>
          </p:nvSpPr>
          <p:spPr>
            <a:xfrm>
              <a:off x="6101023" y="52997"/>
              <a:ext cx="6093363" cy="6805004"/>
            </a:xfrm>
            <a:custGeom>
              <a:avLst/>
              <a:gdLst/>
              <a:ahLst/>
              <a:cxnLst/>
              <a:rect l="l" t="t" r="r" b="b"/>
              <a:pathLst>
                <a:path w="5890491" h="6578439" extrusionOk="0">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0">
                  <a:schemeClr val="lt1"/>
                </a:gs>
                <a:gs pos="2000">
                  <a:schemeClr val="lt1"/>
                </a:gs>
                <a:gs pos="16000">
                  <a:srgbClr val="4EA72E">
                    <a:alpha val="9803"/>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36" name="Google Shape;1336;p52"/>
            <p:cNvSpPr/>
            <p:nvPr/>
          </p:nvSpPr>
          <p:spPr>
            <a:xfrm>
              <a:off x="6101024" y="52997"/>
              <a:ext cx="6093362" cy="6805004"/>
            </a:xfrm>
            <a:custGeom>
              <a:avLst/>
              <a:gdLst/>
              <a:ahLst/>
              <a:cxnLst/>
              <a:rect l="l" t="t" r="r" b="b"/>
              <a:pathLst>
                <a:path w="5890490" h="6578439" extrusionOk="0">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0">
                  <a:srgbClr val="FFFFFF">
                    <a:alpha val="9803"/>
                  </a:srgbClr>
                </a:gs>
                <a:gs pos="2000">
                  <a:srgbClr val="FFFFFF">
                    <a:alpha val="9803"/>
                  </a:srgbClr>
                </a:gs>
                <a:gs pos="16000">
                  <a:srgbClr val="4EA72E">
                    <a:alpha val="4705"/>
                  </a:srgbClr>
                </a:gs>
                <a:gs pos="85000">
                  <a:srgbClr val="156082">
                    <a:alpha val="9803"/>
                  </a:srgbClr>
                </a:gs>
                <a:gs pos="100000">
                  <a:srgbClr val="FFFFFF">
                    <a:alpha val="9803"/>
                  </a:srgbClr>
                </a:gs>
              </a:gsLst>
              <a:lin ang="12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1337" name="Google Shape;1337;p52" descr="Smiling Face with No Fill"/>
          <p:cNvPicPr preferRelativeResize="0"/>
          <p:nvPr/>
        </p:nvPicPr>
        <p:blipFill rotWithShape="1">
          <a:blip r:embed="rId3">
            <a:alphaModFix/>
          </a:blip>
          <a:srcRect/>
          <a:stretch/>
        </p:blipFill>
        <p:spPr>
          <a:xfrm>
            <a:off x="7729652" y="1859078"/>
            <a:ext cx="3821102" cy="382110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2948</Words>
  <Application>Microsoft Office PowerPoint</Application>
  <PresentationFormat>Widescreen</PresentationFormat>
  <Paragraphs>452</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Calibri</vt:lpstr>
      <vt:lpstr>Play</vt:lpstr>
      <vt:lpstr>Arial</vt:lpstr>
      <vt:lpstr>Office Theme</vt:lpstr>
      <vt:lpstr>PowerPoint Presentation</vt:lpstr>
      <vt:lpstr>Agenda</vt:lpstr>
      <vt:lpstr>A Story</vt:lpstr>
      <vt:lpstr>Understanding Business Analysis</vt:lpstr>
      <vt:lpstr>The Story</vt:lpstr>
      <vt:lpstr>Role of a Business Analyst</vt:lpstr>
      <vt:lpstr>BABOK Guide®</vt:lpstr>
      <vt:lpstr>PowerPoint Presentation</vt:lpstr>
      <vt:lpstr>The Story (Contd…)</vt:lpstr>
      <vt:lpstr>Core Competencies of a Business Analyst</vt:lpstr>
      <vt:lpstr>Key Responsibilities</vt:lpstr>
      <vt:lpstr>Impact on Business </vt:lpstr>
      <vt:lpstr>Business Analysis Process Overview</vt:lpstr>
      <vt:lpstr>Introduction to AI</vt:lpstr>
      <vt:lpstr>Founding Fathers of AI</vt:lpstr>
      <vt:lpstr>PowerPoint Presentation</vt:lpstr>
      <vt:lpstr>AI in</vt:lpstr>
      <vt:lpstr>Core Areas of AI</vt:lpstr>
      <vt:lpstr>Basic Concepts of AI</vt:lpstr>
      <vt:lpstr>How AI Works: 5-Step Process</vt:lpstr>
      <vt:lpstr>What is Artificial Intelligence? | Artificial Intelligence In 5 Minutes | AI Explained | Simplilearn</vt:lpstr>
      <vt:lpstr>Machine Learning (ML)</vt:lpstr>
      <vt:lpstr>Machine Learning: Key Concepts</vt:lpstr>
      <vt:lpstr>Deep Learning</vt:lpstr>
      <vt:lpstr>Deep Learning: Key Concepts</vt:lpstr>
      <vt:lpstr>AI in Business Overview</vt:lpstr>
      <vt:lpstr>AI in Business: Key Applications</vt:lpstr>
      <vt:lpstr>AI in Business: HR</vt:lpstr>
      <vt:lpstr>AI in Business: Marketing</vt:lpstr>
      <vt:lpstr>AI in Business: Supply Chain</vt:lpstr>
      <vt:lpstr>AI in Business: Banking</vt:lpstr>
      <vt:lpstr>AI in Business: Stock Market</vt:lpstr>
      <vt:lpstr>MCQ</vt:lpstr>
      <vt:lpstr>What is one major role of AI in HR?</vt:lpstr>
      <vt:lpstr>Which AI technology is commonly used in Marketing to provide personalized recommendations?</vt:lpstr>
      <vt:lpstr>In Supply Chain Management, AI helps with:</vt:lpstr>
      <vt:lpstr>How does AI improve fraud detection in Banking?</vt:lpstr>
      <vt:lpstr>What is Algorithmic Trading in the Stock Market?</vt:lpstr>
      <vt:lpstr>Exercise Overview</vt:lpstr>
      <vt:lpstr>AI in HR: Optimizing Employee Recruitment</vt:lpstr>
      <vt:lpstr>Solution</vt:lpstr>
      <vt:lpstr>AI in Marketing – Enhancing Customer Engagement</vt:lpstr>
      <vt:lpstr>Solution</vt:lpstr>
      <vt:lpstr>AI in Supply Chain – Reducing Inventory Wastage</vt:lpstr>
      <vt:lpstr>Solution</vt:lpstr>
      <vt:lpstr>AI in Banking – Preventing Fraudulent Transactions</vt:lpstr>
      <vt:lpstr>Solution</vt:lpstr>
      <vt:lpstr>Discussion &amp; Summary</vt:lpstr>
      <vt:lpstr>Growth Strategies for a Mom-and-Pop Store in India</vt:lpstr>
      <vt:lpstr>Background</vt:lpstr>
      <vt:lpstr>Challenges Faced</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Akshay Raj</dc:creator>
  <cp:lastModifiedBy>Diptarko Das Sharma</cp:lastModifiedBy>
  <cp:revision>3</cp:revision>
  <dcterms:created xsi:type="dcterms:W3CDTF">2025-02-10T07:44:50Z</dcterms:created>
  <dcterms:modified xsi:type="dcterms:W3CDTF">2025-04-06T03:08:22Z</dcterms:modified>
</cp:coreProperties>
</file>