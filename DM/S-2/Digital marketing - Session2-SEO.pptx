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38"/>
  </p:notesMasterIdLst>
  <p:handoutMasterIdLst>
    <p:handoutMasterId r:id="rId39"/>
  </p:handoutMasterIdLst>
  <p:sldIdLst>
    <p:sldId id="312" r:id="rId5"/>
    <p:sldId id="304" r:id="rId6"/>
    <p:sldId id="307" r:id="rId7"/>
    <p:sldId id="282" r:id="rId8"/>
    <p:sldId id="323" r:id="rId9"/>
    <p:sldId id="325" r:id="rId10"/>
    <p:sldId id="324" r:id="rId11"/>
    <p:sldId id="314" r:id="rId12"/>
    <p:sldId id="330" r:id="rId13"/>
    <p:sldId id="315" r:id="rId14"/>
    <p:sldId id="326" r:id="rId15"/>
    <p:sldId id="328" r:id="rId16"/>
    <p:sldId id="329" r:id="rId17"/>
    <p:sldId id="331" r:id="rId18"/>
    <p:sldId id="317" r:id="rId19"/>
    <p:sldId id="332" r:id="rId20"/>
    <p:sldId id="333" r:id="rId21"/>
    <p:sldId id="334" r:id="rId22"/>
    <p:sldId id="336" r:id="rId23"/>
    <p:sldId id="335" r:id="rId24"/>
    <p:sldId id="318" r:id="rId25"/>
    <p:sldId id="338" r:id="rId26"/>
    <p:sldId id="337" r:id="rId27"/>
    <p:sldId id="339" r:id="rId28"/>
    <p:sldId id="340" r:id="rId29"/>
    <p:sldId id="341" r:id="rId30"/>
    <p:sldId id="342" r:id="rId31"/>
    <p:sldId id="343" r:id="rId32"/>
    <p:sldId id="345" r:id="rId33"/>
    <p:sldId id="344" r:id="rId34"/>
    <p:sldId id="346" r:id="rId35"/>
    <p:sldId id="347" r:id="rId36"/>
    <p:sldId id="297" r:id="rId37"/>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0353" autoAdjust="0"/>
  </p:normalViewPr>
  <p:slideViewPr>
    <p:cSldViewPr snapToGrid="0" snapToObjects="1">
      <p:cViewPr varScale="1">
        <p:scale>
          <a:sx n="72" d="100"/>
          <a:sy n="72" d="100"/>
        </p:scale>
        <p:origin x="660" y="66"/>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8223929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4863414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744549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7063582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71339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3146667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6941456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4382595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0083707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2375264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5640943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845417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8506875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4894230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217095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2799439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589584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1490590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30224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3250864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971188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4305958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6177802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www.semrush.com/blog/what-is-seo/" TargetMode="External"/><Relationship Id="rId2" Type="http://schemas.openxmlformats.org/officeDocument/2006/relationships/notesSlide" Target="../notesSlides/notesSlide4.xml"/><Relationship Id="rId1" Type="http://schemas.openxmlformats.org/officeDocument/2006/relationships/slideLayout" Target="../slideLayouts/slideLayout16.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hyperlink" Target="https://www.semrush.com/blog/search-engine-list/" TargetMode="External"/><Relationship Id="rId2" Type="http://schemas.openxmlformats.org/officeDocument/2006/relationships/notesSlide" Target="../notesSlides/notesSlide5.xml"/><Relationship Id="rId1" Type="http://schemas.openxmlformats.org/officeDocument/2006/relationships/slideLayout" Target="../slideLayouts/slideLayout16.xml"/><Relationship Id="rId4" Type="http://schemas.openxmlformats.org/officeDocument/2006/relationships/hyperlink" Target="https://www.semrush.com/blog/organic-traffic/"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semrush.com/blog/what-are-crawlability-and-indexability-of-a-website/" TargetMode="External"/><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6.xml"/><Relationship Id="rId6" Type="http://schemas.openxmlformats.org/officeDocument/2006/relationships/hyperlink" Target="https://www.semrush.com/blog/xml-sitemap/" TargetMode="External"/><Relationship Id="rId5" Type="http://schemas.openxmlformats.org/officeDocument/2006/relationships/hyperlink" Target="https://www.semrush.com/blog/google-search-console/#how-to-set-up-google-search-console" TargetMode="External"/><Relationship Id="rId4" Type="http://schemas.openxmlformats.org/officeDocument/2006/relationships/hyperlink" Target="https://search.google.com/search-console/about"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www.xml-sitemaps.com/" TargetMode="External"/><Relationship Id="rId2" Type="http://schemas.openxmlformats.org/officeDocument/2006/relationships/notesSlide" Target="../notesSlides/notesSlide7.xml"/><Relationship Id="rId1" Type="http://schemas.openxmlformats.org/officeDocument/2006/relationships/slideLayout" Target="../slideLayouts/slideLayout16.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slideLayout" Target="../slideLayouts/slideLayout7.xml"/><Relationship Id="rId1" Type="http://schemas.openxmlformats.org/officeDocument/2006/relationships/video" Target="https://www.youtube.com/embed/nYykbUPQ9eo?feature=oembed"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semrush.com/blog/keyword-research/"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hyperlink" Target="https://www.semrush.com/analytics/keywordmagic/" TargetMode="External"/><Relationship Id="rId4" Type="http://schemas.openxmlformats.org/officeDocument/2006/relationships/hyperlink" Target="https://www.semrush.com/blog/search-intent/"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www.semrush.com/blog/how-to-choose-keywords-for-seo/"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hyperlink" Target="https://www.semrush.com/blog/keyword-difficulty/" TargetMode="External"/><Relationship Id="rId4" Type="http://schemas.openxmlformats.org/officeDocument/2006/relationships/hyperlink" Target="https://www.semrush.com/blog/keyword-search-volume/"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www.semrush.com/analytics/keywordmagic"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hyperlink" Target="https://www.semrush.com/blog/quality-content/" TargetMode="External"/><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4.png"/><Relationship Id="rId4" Type="http://schemas.openxmlformats.org/officeDocument/2006/relationships/hyperlink" Target="https://www.semrush.com/swa/"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hyperlink" Target="https://www.semrush.com/blog/above-the-fold/"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developers.google.com/search/docs/appearance/page-experience" TargetMode="External"/><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hyperlink" Target="https://www.semrush.com/blog/what-is-a-call-to-action/"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hyperlink" Target="https://www.semrush.com/blog/on-page-seo/" TargetMode="External"/><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32.png"/><Relationship Id="rId4" Type="http://schemas.openxmlformats.org/officeDocument/2006/relationships/hyperlink" Target="https://www.semrush.com/blog/title-tag/"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www.semrush.com/blog/meta-description/" TargetMode="External"/><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33.png"/><Relationship Id="rId4" Type="http://schemas.openxmlformats.org/officeDocument/2006/relationships/hyperlink" Target="https://www.semrush.com/blog/click-through-rate/"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www.semrush.com/blog/h1-tag/" TargetMode="External"/><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28.xml.rels><?xml version="1.0" encoding="UTF-8" standalone="yes"?>
<Relationships xmlns="http://schemas.openxmlformats.org/package/2006/relationships"><Relationship Id="rId3" Type="http://schemas.openxmlformats.org/officeDocument/2006/relationships/hyperlink" Target="https://www.semrush.com/blog/internal-links/" TargetMode="External"/><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image" Target="../media/image35.png"/><Relationship Id="rId5" Type="http://schemas.openxmlformats.org/officeDocument/2006/relationships/hyperlink" Target="https://www.semrush.com/blog/anchor-text/" TargetMode="External"/><Relationship Id="rId4" Type="http://schemas.openxmlformats.org/officeDocument/2006/relationships/hyperlink" Target="https://www.semrush.com/blog/website-structure/"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www.semrush.com/blog/anchor-text/" TargetMode="External"/><Relationship Id="rId2" Type="http://schemas.openxmlformats.org/officeDocument/2006/relationships/notesSlide" Target="../notesSlides/notesSlide27.xml"/><Relationship Id="rId1" Type="http://schemas.openxmlformats.org/officeDocument/2006/relationships/slideLayout" Target="../slideLayouts/slideLayout8.xml"/><Relationship Id="rId5" Type="http://schemas.openxmlformats.org/officeDocument/2006/relationships/image" Target="../media/image36.png"/><Relationship Id="rId4" Type="http://schemas.openxmlformats.org/officeDocument/2006/relationships/hyperlink" Target="https://www.semrush.com/siteaudit/"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www.semrush.com/blog/alt-text/" TargetMode="External"/><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hyperlink" Target="https://tinypng.com/"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www.semrush.com/blog/alt-text/" TargetMode="External"/><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hyperlink" Target="https://tinypng.com/"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s://www.semrush.com/listings-management/" TargetMode="External"/><Relationship Id="rId2" Type="http://schemas.openxmlformats.org/officeDocument/2006/relationships/notesSlide" Target="../notesSlides/notesSlide30.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dirty="0"/>
              <a:t>SEARCH</a:t>
            </a:r>
            <a:br>
              <a:rPr lang="en-US" dirty="0"/>
            </a:br>
            <a:r>
              <a:rPr lang="en-US" dirty="0"/>
              <a:t>ENGINE</a:t>
            </a:r>
            <a:br>
              <a:rPr lang="en-US" dirty="0"/>
            </a:br>
            <a:r>
              <a:rPr lang="en-US" dirty="0"/>
              <a:t>OPTIMIZATION</a:t>
            </a:r>
            <a:br>
              <a:rPr lang="en-US" dirty="0"/>
            </a:br>
            <a:r>
              <a:rPr lang="en-US" dirty="0"/>
              <a:t>(SEO)</a:t>
            </a: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1057274"/>
            <a:ext cx="6583680" cy="1531357"/>
          </a:xfrm>
        </p:spPr>
        <p:txBody>
          <a:bodyPr/>
          <a:lstStyle/>
          <a:p>
            <a:r>
              <a:rPr lang="en-US" dirty="0"/>
              <a:t>agenda</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2834640"/>
            <a:ext cx="6583680" cy="3207344"/>
          </a:xfrm>
        </p:spPr>
        <p:txBody>
          <a:bodyPr/>
          <a:lstStyle/>
          <a:p>
            <a:r>
              <a:rPr lang="en-US" dirty="0"/>
              <a:t>Introduction to SEO</a:t>
            </a:r>
          </a:p>
          <a:p>
            <a:r>
              <a:rPr lang="en-US" dirty="0"/>
              <a:t>Keyword Research</a:t>
            </a:r>
          </a:p>
          <a:p>
            <a:r>
              <a:rPr lang="en-US" dirty="0"/>
              <a:t>On Page SEO</a:t>
            </a:r>
          </a:p>
          <a:p>
            <a:r>
              <a:rPr lang="en-US" dirty="0"/>
              <a:t>Technical SEO</a:t>
            </a:r>
          </a:p>
          <a:p>
            <a:r>
              <a:rPr lang="en-US" dirty="0"/>
              <a:t>Hands On </a:t>
            </a: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5702441" y="1061623"/>
            <a:ext cx="5723586" cy="4739104"/>
          </a:xfrm>
        </p:spPr>
        <p:txBody>
          <a:bodyPr/>
          <a:lstStyle/>
          <a:p>
            <a:r>
              <a:rPr lang="en-US" dirty="0"/>
              <a:t>What is SEO</a:t>
            </a:r>
          </a:p>
        </p:txBody>
      </p:sp>
      <p:pic>
        <p:nvPicPr>
          <p:cNvPr id="7" name="Picture Placeholder 6" descr="A person standing in front of a whiteboard">
            <a:extLst>
              <a:ext uri="{FF2B5EF4-FFF2-40B4-BE49-F238E27FC236}">
                <a16:creationId xmlns:a16="http://schemas.microsoft.com/office/drawing/2014/main" id="{DD186EAB-37C7-E7E6-AE8D-F077D02804F9}"/>
              </a:ext>
            </a:extLst>
          </p:cNvPr>
          <p:cNvPicPr>
            <a:picLocks noGrp="1" noChangeAspect="1"/>
          </p:cNvPicPr>
          <p:nvPr>
            <p:ph type="pic" sz="quarter" idx="11"/>
          </p:nvPr>
        </p:nvPicPr>
        <p:blipFill>
          <a:blip r:embed="rId3">
            <a:duotone>
              <a:prstClr val="black"/>
              <a:schemeClr val="accent1">
                <a:tint val="45000"/>
                <a:satMod val="400000"/>
              </a:schemeClr>
            </a:duotone>
          </a:blip>
          <a:srcRect l="27208" r="27208"/>
          <a:stretch/>
        </p:blipFill>
        <p:spPr>
          <a:xfrm>
            <a:off x="443345" y="0"/>
            <a:ext cx="4344695" cy="6359525"/>
          </a:xfrm>
        </p:spPr>
      </p:pic>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0" y="457199"/>
            <a:ext cx="3932237" cy="762331"/>
          </a:xfrm>
        </p:spPr>
        <p:txBody>
          <a:bodyPr/>
          <a:lstStyle/>
          <a:p>
            <a:r>
              <a:rPr lang="en-US" dirty="0"/>
              <a:t>SEO</a:t>
            </a:r>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2"/>
          </p:nvPr>
        </p:nvSpPr>
        <p:spPr/>
        <p:txBody>
          <a:bodyPr/>
          <a:lstStyle/>
          <a:p>
            <a:fld id="{48F63A3B-78C7-47BE-AE5E-E10140E04643}" type="slidenum">
              <a:rPr lang="en-US" smtClean="0"/>
              <a:pPr/>
              <a:t>4</a:t>
            </a:fld>
            <a:endParaRPr lang="en-US" dirty="0"/>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idx="1"/>
          </p:nvPr>
        </p:nvSpPr>
        <p:spPr>
          <a:xfrm>
            <a:off x="119270" y="1527176"/>
            <a:ext cx="6242839" cy="5119592"/>
          </a:xfrm>
        </p:spPr>
        <p:txBody>
          <a:bodyPr>
            <a:normAutofit lnSpcReduction="10000"/>
          </a:bodyPr>
          <a:lstStyle/>
          <a:p>
            <a:pPr algn="l"/>
            <a:r>
              <a:rPr lang="en-US" dirty="0">
                <a:hlinkClick r:id="rId3">
                  <a:extLst>
                    <a:ext uri="{A12FA001-AC4F-418D-AE19-62706E023703}">
                      <ahyp:hlinkClr xmlns:ahyp="http://schemas.microsoft.com/office/drawing/2018/hyperlinkcolor" val="tx"/>
                    </a:ext>
                  </a:extLst>
                </a:hlinkClick>
              </a:rPr>
              <a:t>Search engine optimization</a:t>
            </a:r>
            <a:r>
              <a:rPr lang="en-US" dirty="0"/>
              <a:t> (SEO) is the process of improving your website to help it appear more prominently for relevant topics when people search using Google and other search engines.</a:t>
            </a:r>
          </a:p>
          <a:p>
            <a:pPr algn="l"/>
            <a:r>
              <a:rPr lang="en-US" dirty="0"/>
              <a:t>For example, SEO helps websites focusing on the term “best coffee makers” appear among the top results.</a:t>
            </a:r>
          </a:p>
        </p:txBody>
      </p:sp>
      <p:pic>
        <p:nvPicPr>
          <p:cNvPr id="6" name="Picture 2" descr="SERP for best coffee makers shows organic listings that answer the query.">
            <a:extLst>
              <a:ext uri="{FF2B5EF4-FFF2-40B4-BE49-F238E27FC236}">
                <a16:creationId xmlns:a16="http://schemas.microsoft.com/office/drawing/2014/main" id="{AB99E383-8C20-41C5-8DBA-EFE9F6891A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1217" y="1527176"/>
            <a:ext cx="5377312" cy="4873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5681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119269" y="198284"/>
            <a:ext cx="5791200" cy="762331"/>
          </a:xfrm>
        </p:spPr>
        <p:txBody>
          <a:bodyPr/>
          <a:lstStyle/>
          <a:p>
            <a:r>
              <a:rPr lang="en-US" dirty="0"/>
              <a:t>Importance of SEO</a:t>
            </a:r>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2"/>
          </p:nvPr>
        </p:nvSpPr>
        <p:spPr/>
        <p:txBody>
          <a:bodyPr/>
          <a:lstStyle/>
          <a:p>
            <a:fld id="{48F63A3B-78C7-47BE-AE5E-E10140E04643}" type="slidenum">
              <a:rPr lang="en-US" smtClean="0"/>
              <a:pPr/>
              <a:t>5</a:t>
            </a:fld>
            <a:endParaRPr lang="en-US" dirty="0"/>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idx="1"/>
          </p:nvPr>
        </p:nvSpPr>
        <p:spPr>
          <a:xfrm>
            <a:off x="119269" y="960615"/>
            <a:ext cx="11198087" cy="5686153"/>
          </a:xfrm>
        </p:spPr>
        <p:txBody>
          <a:bodyPr>
            <a:normAutofit fontScale="40000" lnSpcReduction="20000"/>
          </a:bodyPr>
          <a:lstStyle/>
          <a:p>
            <a:pPr>
              <a:lnSpc>
                <a:spcPct val="120000"/>
              </a:lnSpc>
            </a:pPr>
            <a:r>
              <a:rPr lang="en-US" sz="5800" dirty="0"/>
              <a:t>SEO is important because it brings free, targeted traffic to your website every month.</a:t>
            </a:r>
          </a:p>
          <a:p>
            <a:pPr>
              <a:lnSpc>
                <a:spcPct val="120000"/>
              </a:lnSpc>
            </a:pPr>
            <a:r>
              <a:rPr lang="en-US" sz="5800" dirty="0"/>
              <a:t>Consider that most online experiences start with a </a:t>
            </a:r>
            <a:r>
              <a:rPr lang="en-US" sz="5800" dirty="0">
                <a:hlinkClick r:id="rId3">
                  <a:extLst>
                    <a:ext uri="{A12FA001-AC4F-418D-AE19-62706E023703}">
                      <ahyp:hlinkClr xmlns:ahyp="http://schemas.microsoft.com/office/drawing/2018/hyperlinkcolor" val="tx"/>
                    </a:ext>
                  </a:extLst>
                </a:hlinkClick>
              </a:rPr>
              <a:t>search engine</a:t>
            </a:r>
            <a:r>
              <a:rPr lang="en-US" sz="5800" dirty="0"/>
              <a:t>. </a:t>
            </a:r>
          </a:p>
          <a:p>
            <a:pPr>
              <a:lnSpc>
                <a:spcPct val="120000"/>
              </a:lnSpc>
            </a:pPr>
            <a:r>
              <a:rPr lang="en-US" sz="5800" dirty="0"/>
              <a:t>When someone needs a product, service, or information, they head straight to Google. If your website shows up for these searches, you can attract visitors actively looking for what you offer.</a:t>
            </a:r>
          </a:p>
          <a:p>
            <a:pPr>
              <a:lnSpc>
                <a:spcPct val="120000"/>
              </a:lnSpc>
            </a:pPr>
            <a:r>
              <a:rPr lang="en-US" sz="5800" dirty="0"/>
              <a:t>Plus, people generally trust organic (free) results more than ads. </a:t>
            </a:r>
          </a:p>
          <a:p>
            <a:pPr>
              <a:lnSpc>
                <a:spcPct val="120000"/>
              </a:lnSpc>
            </a:pPr>
            <a:r>
              <a:rPr lang="en-US" sz="5800" dirty="0"/>
              <a:t>Users know businesses pay for ad spots, but earning a top organic spot means Google considers your content relevant and helpful. This can help build credibility with potential customers.</a:t>
            </a:r>
          </a:p>
          <a:p>
            <a:pPr>
              <a:lnSpc>
                <a:spcPct val="120000"/>
              </a:lnSpc>
            </a:pPr>
            <a:r>
              <a:rPr lang="en-US" sz="5800" dirty="0"/>
              <a:t>The best part? </a:t>
            </a:r>
          </a:p>
          <a:p>
            <a:pPr>
              <a:lnSpc>
                <a:spcPct val="120000"/>
              </a:lnSpc>
            </a:pPr>
            <a:r>
              <a:rPr lang="en-US" sz="5800" dirty="0"/>
              <a:t>Once you rank well, you can get consistent </a:t>
            </a:r>
            <a:r>
              <a:rPr lang="en-US" sz="5800" dirty="0">
                <a:hlinkClick r:id="rId4">
                  <a:extLst>
                    <a:ext uri="{A12FA001-AC4F-418D-AE19-62706E023703}">
                      <ahyp:hlinkClr xmlns:ahyp="http://schemas.microsoft.com/office/drawing/2018/hyperlinkcolor" val="tx"/>
                    </a:ext>
                  </a:extLst>
                </a:hlinkClick>
              </a:rPr>
              <a:t>organic traffic</a:t>
            </a:r>
            <a:r>
              <a:rPr lang="en-US" sz="5800" dirty="0"/>
              <a:t> without paying for visitors. </a:t>
            </a:r>
          </a:p>
          <a:p>
            <a:pPr>
              <a:lnSpc>
                <a:spcPct val="120000"/>
              </a:lnSpc>
            </a:pPr>
            <a:r>
              <a:rPr lang="en-US" sz="5800" dirty="0"/>
              <a:t>Compare that to social media, where your posts lose traction over time. Or paid ads that drain your budget with every click.</a:t>
            </a:r>
          </a:p>
          <a:p>
            <a:pPr algn="l"/>
            <a:endParaRPr lang="en-US" dirty="0"/>
          </a:p>
        </p:txBody>
      </p:sp>
    </p:spTree>
    <p:extLst>
      <p:ext uri="{BB962C8B-B14F-4D97-AF65-F5344CB8AC3E}">
        <p14:creationId xmlns:p14="http://schemas.microsoft.com/office/powerpoint/2010/main" val="1090855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0" y="211138"/>
            <a:ext cx="9303026" cy="663506"/>
          </a:xfrm>
        </p:spPr>
        <p:txBody>
          <a:bodyPr/>
          <a:lstStyle/>
          <a:p>
            <a:pPr algn="l"/>
            <a:r>
              <a:rPr lang="en-US" sz="2400" dirty="0">
                <a:latin typeface="+mn-lt"/>
                <a:ea typeface="+mn-ea"/>
                <a:cs typeface="+mn-cs"/>
              </a:rPr>
              <a:t>How DOES Google Index Your Site?</a:t>
            </a:r>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2"/>
          </p:nvPr>
        </p:nvSpPr>
        <p:spPr/>
        <p:txBody>
          <a:bodyPr/>
          <a:lstStyle/>
          <a:p>
            <a:fld id="{48F63A3B-78C7-47BE-AE5E-E10140E04643}" type="slidenum">
              <a:rPr lang="en-US" smtClean="0"/>
              <a:pPr/>
              <a:t>6</a:t>
            </a:fld>
            <a:endParaRPr lang="en-US" dirty="0"/>
          </a:p>
        </p:txBody>
      </p:sp>
      <p:sp>
        <p:nvSpPr>
          <p:cNvPr id="5" name="Content Placeholder 2">
            <a:extLst>
              <a:ext uri="{FF2B5EF4-FFF2-40B4-BE49-F238E27FC236}">
                <a16:creationId xmlns:a16="http://schemas.microsoft.com/office/drawing/2014/main" id="{30EAFE3F-AA10-4018-AA3B-A37CA7BE16B7}"/>
              </a:ext>
            </a:extLst>
          </p:cNvPr>
          <p:cNvSpPr>
            <a:spLocks noGrp="1"/>
          </p:cNvSpPr>
          <p:nvPr>
            <p:ph idx="1"/>
          </p:nvPr>
        </p:nvSpPr>
        <p:spPr>
          <a:xfrm>
            <a:off x="119063" y="1285461"/>
            <a:ext cx="5976937" cy="5361402"/>
          </a:xfrm>
        </p:spPr>
        <p:txBody>
          <a:bodyPr>
            <a:normAutofit fontScale="77500" lnSpcReduction="20000"/>
          </a:bodyPr>
          <a:lstStyle/>
          <a:p>
            <a:pPr algn="l"/>
            <a:r>
              <a:rPr lang="en-US" sz="2700" dirty="0"/>
              <a:t>The first step to SEO is making sure Google can crawl (find) and index (i.e., store your pages in a database) your site.</a:t>
            </a:r>
          </a:p>
          <a:p>
            <a:pPr algn="l"/>
            <a:r>
              <a:rPr lang="en-US" sz="2700" dirty="0"/>
              <a:t>Google uses crawlers (also known as spiders) to discover pages and read their content. It can then add those pages to its index.</a:t>
            </a:r>
          </a:p>
          <a:p>
            <a:pPr algn="l"/>
            <a:r>
              <a:rPr lang="en-US" sz="2700" dirty="0"/>
              <a:t>Here’s a simplified visualization of how crawling, indexing, and displaying results works (though there are problems that can get in the way of any step in the process):</a:t>
            </a:r>
          </a:p>
          <a:p>
            <a:r>
              <a:rPr lang="en-US" sz="2700" dirty="0"/>
              <a:t>To help Google </a:t>
            </a:r>
            <a:r>
              <a:rPr lang="en-US" sz="2700" dirty="0">
                <a:hlinkClick r:id="rId3">
                  <a:extLst>
                    <a:ext uri="{A12FA001-AC4F-418D-AE19-62706E023703}">
                      <ahyp:hlinkClr xmlns:ahyp="http://schemas.microsoft.com/office/drawing/2018/hyperlinkcolor" val="tx"/>
                    </a:ext>
                  </a:extLst>
                </a:hlinkClick>
              </a:rPr>
              <a:t>crawl and index</a:t>
            </a:r>
            <a:r>
              <a:rPr lang="en-US" sz="2700" dirty="0"/>
              <a:t> your pages, you’ll want to use Google Search Console. This free tool shows you how Google sees your pages and alerts you about major issues that could hurt your rankings.</a:t>
            </a:r>
          </a:p>
          <a:p>
            <a:pPr algn="l"/>
            <a:r>
              <a:rPr lang="en-US" sz="2700" dirty="0">
                <a:hlinkClick r:id="rId4">
                  <a:extLst>
                    <a:ext uri="{A12FA001-AC4F-418D-AE19-62706E023703}">
                      <ahyp:hlinkClr xmlns:ahyp="http://schemas.microsoft.com/office/drawing/2018/hyperlinkcolor" val="tx"/>
                    </a:ext>
                  </a:extLst>
                </a:hlinkClick>
              </a:rPr>
              <a:t>Sign up for GSC</a:t>
            </a:r>
            <a:r>
              <a:rPr lang="en-US" sz="2700" dirty="0"/>
              <a:t> to begin.</a:t>
            </a:r>
          </a:p>
          <a:p>
            <a:pPr algn="l"/>
            <a:r>
              <a:rPr lang="en-US" sz="2700" dirty="0"/>
              <a:t>After </a:t>
            </a:r>
            <a:r>
              <a:rPr lang="en-US" sz="2700" dirty="0">
                <a:hlinkClick r:id="rId5">
                  <a:extLst>
                    <a:ext uri="{A12FA001-AC4F-418D-AE19-62706E023703}">
                      <ahyp:hlinkClr xmlns:ahyp="http://schemas.microsoft.com/office/drawing/2018/hyperlinkcolor" val="tx"/>
                    </a:ext>
                  </a:extLst>
                </a:hlinkClick>
              </a:rPr>
              <a:t>setting up</a:t>
            </a:r>
            <a:r>
              <a:rPr lang="en-US" sz="2700" dirty="0"/>
              <a:t> your account, create an </a:t>
            </a:r>
            <a:r>
              <a:rPr lang="en-US" sz="2700" dirty="0">
                <a:hlinkClick r:id="rId6">
                  <a:extLst>
                    <a:ext uri="{A12FA001-AC4F-418D-AE19-62706E023703}">
                      <ahyp:hlinkClr xmlns:ahyp="http://schemas.microsoft.com/office/drawing/2018/hyperlinkcolor" val="tx"/>
                    </a:ext>
                  </a:extLst>
                </a:hlinkClick>
              </a:rPr>
              <a:t>XML sitemap</a:t>
            </a:r>
            <a:r>
              <a:rPr lang="en-US" sz="2700" dirty="0"/>
              <a:t> to guide crawlers.</a:t>
            </a:r>
          </a:p>
          <a:p>
            <a:endParaRPr lang="en-US" dirty="0"/>
          </a:p>
        </p:txBody>
      </p:sp>
      <p:pic>
        <p:nvPicPr>
          <p:cNvPr id="6" name="Picture 4" descr="You publish content, bots crawl your site, Google indexes pages, then if your page meets ranking criteria, Google shows it in search results.">
            <a:extLst>
              <a:ext uri="{FF2B5EF4-FFF2-40B4-BE49-F238E27FC236}">
                <a16:creationId xmlns:a16="http://schemas.microsoft.com/office/drawing/2014/main" id="{F38D7217-F5EC-40B4-AFB3-1EB092C758C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15063" y="1195347"/>
            <a:ext cx="5976937" cy="54515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6605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0" y="211137"/>
            <a:ext cx="7659757" cy="974271"/>
          </a:xfrm>
        </p:spPr>
        <p:txBody>
          <a:bodyPr/>
          <a:lstStyle/>
          <a:p>
            <a:pPr algn="l"/>
            <a:r>
              <a:rPr lang="en-US" sz="2700" dirty="0">
                <a:latin typeface="+mn-lt"/>
                <a:ea typeface="+mn-ea"/>
                <a:cs typeface="+mn-cs"/>
              </a:rPr>
              <a:t>How Do You Make Sure Google Can Index Your Site?</a:t>
            </a:r>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2"/>
          </p:nvPr>
        </p:nvSpPr>
        <p:spPr/>
        <p:txBody>
          <a:bodyPr/>
          <a:lstStyle/>
          <a:p>
            <a:fld id="{48F63A3B-78C7-47BE-AE5E-E10140E04643}" type="slidenum">
              <a:rPr lang="en-US" smtClean="0"/>
              <a:pPr/>
              <a:t>7</a:t>
            </a:fld>
            <a:endParaRPr lang="en-US" dirty="0"/>
          </a:p>
        </p:txBody>
      </p:sp>
      <p:sp>
        <p:nvSpPr>
          <p:cNvPr id="5" name="Content Placeholder 2">
            <a:extLst>
              <a:ext uri="{FF2B5EF4-FFF2-40B4-BE49-F238E27FC236}">
                <a16:creationId xmlns:a16="http://schemas.microsoft.com/office/drawing/2014/main" id="{30EAFE3F-AA10-4018-AA3B-A37CA7BE16B7}"/>
              </a:ext>
            </a:extLst>
          </p:cNvPr>
          <p:cNvSpPr>
            <a:spLocks noGrp="1"/>
          </p:cNvSpPr>
          <p:nvPr>
            <p:ph idx="1"/>
          </p:nvPr>
        </p:nvSpPr>
        <p:spPr>
          <a:xfrm>
            <a:off x="119063" y="1285461"/>
            <a:ext cx="5857875" cy="2623930"/>
          </a:xfrm>
        </p:spPr>
        <p:txBody>
          <a:bodyPr>
            <a:normAutofit fontScale="77500" lnSpcReduction="20000"/>
          </a:bodyPr>
          <a:lstStyle/>
          <a:p>
            <a:r>
              <a:rPr lang="en-US" sz="3000" dirty="0"/>
              <a:t>Most website platforms (like WordPress and </a:t>
            </a:r>
            <a:r>
              <a:rPr lang="en-US" sz="3000" dirty="0" err="1"/>
              <a:t>Wix</a:t>
            </a:r>
            <a:r>
              <a:rPr lang="en-US" sz="3000" dirty="0"/>
              <a:t>) create sitemaps automatically. But you can also create one using a tool like </a:t>
            </a:r>
            <a:r>
              <a:rPr lang="en-US" sz="3000" dirty="0">
                <a:hlinkClick r:id="rId3">
                  <a:extLst>
                    <a:ext uri="{A12FA001-AC4F-418D-AE19-62706E023703}">
                      <ahyp:hlinkClr xmlns:ahyp="http://schemas.microsoft.com/office/drawing/2018/hyperlinkcolor" val="tx"/>
                    </a:ext>
                  </a:extLst>
                </a:hlinkClick>
              </a:rPr>
              <a:t>XML Sitemaps Generator</a:t>
            </a:r>
            <a:r>
              <a:rPr lang="en-US" sz="3000" dirty="0"/>
              <a:t>.</a:t>
            </a:r>
          </a:p>
          <a:p>
            <a:r>
              <a:rPr lang="en-US" sz="3000" dirty="0"/>
              <a:t>Once you have a sitemap, submit it in Search Console by going to “Sitemaps” and entering your sitemap URL.</a:t>
            </a:r>
          </a:p>
          <a:p>
            <a:r>
              <a:rPr lang="en-US" sz="3000" dirty="0"/>
              <a:t>The status column should read “Success.”</a:t>
            </a:r>
          </a:p>
          <a:p>
            <a:endParaRPr lang="en-US" dirty="0"/>
          </a:p>
        </p:txBody>
      </p:sp>
      <p:pic>
        <p:nvPicPr>
          <p:cNvPr id="7" name="Picture 4" descr="AD_4nXdvvye7eU4OHKZ3leQPPHicB1V2hCiID3cwtowpx2e7B94UPA-q2jUFftLPNUyJcFvYCqmH3OZ31LdufN08-2vMqAGNG1VQL3f-GA0dYDg3Fw_te1yE7Duj9u4Nx6sE7q8RJ7tngQ?key=HiH5nylccNQicEVHBCilgWHa">
            <a:extLst>
              <a:ext uri="{FF2B5EF4-FFF2-40B4-BE49-F238E27FC236}">
                <a16:creationId xmlns:a16="http://schemas.microsoft.com/office/drawing/2014/main" id="{5A3A4183-F47D-4DE9-B542-17E1FCFF6E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844688"/>
            <a:ext cx="6541363" cy="290222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Sitemap index contains the URLs of all the sitemaps for a domain such as separate sitemaps for new, webinars, blog, etc.">
            <a:extLst>
              <a:ext uri="{FF2B5EF4-FFF2-40B4-BE49-F238E27FC236}">
                <a16:creationId xmlns:a16="http://schemas.microsoft.com/office/drawing/2014/main" id="{847A7727-D511-49D5-8418-270AB6528A3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46574" y="1185408"/>
            <a:ext cx="5344353" cy="54614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0834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Close-up of a microscope against a white background">
            <a:extLst>
              <a:ext uri="{FF2B5EF4-FFF2-40B4-BE49-F238E27FC236}">
                <a16:creationId xmlns:a16="http://schemas.microsoft.com/office/drawing/2014/main" id="{81324B8D-233B-4C63-BAEF-B06A7E821E93}"/>
              </a:ext>
            </a:extLst>
          </p:cNvPr>
          <p:cNvPicPr>
            <a:picLocks noChangeAspect="1"/>
          </p:cNvPicPr>
          <p:nvPr/>
        </p:nvPicPr>
        <p:blipFill>
          <a:blip r:embed="rId3"/>
          <a:stretch>
            <a:fillRect/>
          </a:stretch>
        </p:blipFill>
        <p:spPr>
          <a:xfrm>
            <a:off x="3489830" y="231580"/>
            <a:ext cx="8630624" cy="6394839"/>
          </a:xfrm>
          <a:prstGeom prst="rect">
            <a:avLst/>
          </a:prstGeom>
        </p:spPr>
      </p:pic>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3489830" y="1587606"/>
            <a:ext cx="7043617" cy="2520217"/>
          </a:xfrm>
        </p:spPr>
        <p:txBody>
          <a:bodyPr/>
          <a:lstStyle/>
          <a:p>
            <a:r>
              <a:rPr lang="en-US" dirty="0"/>
              <a:t>Keyword    RESEARCH</a:t>
            </a:r>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8</a:t>
            </a:fld>
            <a:endParaRPr lang="en-US" dirty="0"/>
          </a:p>
        </p:txBody>
      </p:sp>
      <p:sp>
        <p:nvSpPr>
          <p:cNvPr id="4" name="Content Placeholder 3">
            <a:extLst>
              <a:ext uri="{FF2B5EF4-FFF2-40B4-BE49-F238E27FC236}">
                <a16:creationId xmlns:a16="http://schemas.microsoft.com/office/drawing/2014/main" id="{BDDD6BDC-E008-6AB7-55A1-46ED9BCF054F}"/>
              </a:ext>
            </a:extLst>
          </p:cNvPr>
          <p:cNvSpPr>
            <a:spLocks noGrp="1"/>
          </p:cNvSpPr>
          <p:nvPr>
            <p:ph idx="11"/>
          </p:nvPr>
        </p:nvSpPr>
        <p:spPr>
          <a:xfrm>
            <a:off x="4364808" y="4073437"/>
            <a:ext cx="7043618" cy="2233233"/>
          </a:xfrm>
        </p:spPr>
        <p:txBody>
          <a:bodyPr/>
          <a:lstStyle/>
          <a:p>
            <a:r>
              <a:rPr lang="en-US" dirty="0"/>
              <a:t>Enhancing your Search capabilities</a:t>
            </a:r>
          </a:p>
        </p:txBody>
      </p:sp>
    </p:spTree>
    <p:extLst>
      <p:ext uri="{BB962C8B-B14F-4D97-AF65-F5344CB8AC3E}">
        <p14:creationId xmlns:p14="http://schemas.microsoft.com/office/powerpoint/2010/main" val="1131718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3508C-1085-4BDC-938A-8E70AA0593E7}"/>
              </a:ext>
            </a:extLst>
          </p:cNvPr>
          <p:cNvSpPr>
            <a:spLocks noGrp="1"/>
          </p:cNvSpPr>
          <p:nvPr>
            <p:ph type="title"/>
          </p:nvPr>
        </p:nvSpPr>
        <p:spPr>
          <a:xfrm>
            <a:off x="538952" y="223443"/>
            <a:ext cx="7596863" cy="819912"/>
          </a:xfrm>
        </p:spPr>
        <p:txBody>
          <a:bodyPr/>
          <a:lstStyle/>
          <a:p>
            <a:r>
              <a:rPr lang="en-US" dirty="0"/>
              <a:t>About </a:t>
            </a:r>
            <a:r>
              <a:rPr lang="en-US" dirty="0" err="1"/>
              <a:t>semrush</a:t>
            </a:r>
            <a:endParaRPr lang="en-US" dirty="0"/>
          </a:p>
        </p:txBody>
      </p:sp>
      <p:sp>
        <p:nvSpPr>
          <p:cNvPr id="3" name="Slide Number Placeholder 2">
            <a:extLst>
              <a:ext uri="{FF2B5EF4-FFF2-40B4-BE49-F238E27FC236}">
                <a16:creationId xmlns:a16="http://schemas.microsoft.com/office/drawing/2014/main" id="{99591DE8-6876-42A0-8118-14C06DE80485}"/>
              </a:ext>
            </a:extLst>
          </p:cNvPr>
          <p:cNvSpPr>
            <a:spLocks noGrp="1"/>
          </p:cNvSpPr>
          <p:nvPr>
            <p:ph type="sldNum" sz="quarter" idx="10"/>
          </p:nvPr>
        </p:nvSpPr>
        <p:spPr/>
        <p:txBody>
          <a:bodyPr/>
          <a:lstStyle/>
          <a:p>
            <a:fld id="{48F63A3B-78C7-47BE-AE5E-E10140E04643}" type="slidenum">
              <a:rPr lang="en-US" smtClean="0"/>
              <a:pPr/>
              <a:t>9</a:t>
            </a:fld>
            <a:endParaRPr lang="en-US" dirty="0"/>
          </a:p>
        </p:txBody>
      </p:sp>
      <p:pic>
        <p:nvPicPr>
          <p:cNvPr id="6" name="Online Media 5" title="What is Semrush? Digital Marketing Tool EXPLAINED">
            <a:hlinkClick r:id="" action="ppaction://media"/>
            <a:extLst>
              <a:ext uri="{FF2B5EF4-FFF2-40B4-BE49-F238E27FC236}">
                <a16:creationId xmlns:a16="http://schemas.microsoft.com/office/drawing/2014/main" id="{72CACCC1-532A-4FC7-941F-EAA1E2DAC3CA}"/>
              </a:ext>
            </a:extLst>
          </p:cNvPr>
          <p:cNvPicPr>
            <a:picLocks noGrp="1" noRot="1" noChangeAspect="1"/>
          </p:cNvPicPr>
          <p:nvPr>
            <p:ph sz="half" idx="2"/>
            <a:videoFile r:link="rId1"/>
          </p:nvPr>
        </p:nvPicPr>
        <p:blipFill>
          <a:blip r:embed="rId3"/>
          <a:stretch>
            <a:fillRect/>
          </a:stretch>
        </p:blipFill>
        <p:spPr>
          <a:xfrm>
            <a:off x="538952" y="1137139"/>
            <a:ext cx="7421017" cy="3997569"/>
          </a:xfrm>
          <a:prstGeom prst="rect">
            <a:avLst/>
          </a:prstGeom>
        </p:spPr>
      </p:pic>
    </p:spTree>
    <p:extLst>
      <p:ext uri="{BB962C8B-B14F-4D97-AF65-F5344CB8AC3E}">
        <p14:creationId xmlns:p14="http://schemas.microsoft.com/office/powerpoint/2010/main" val="870653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34A6-22BC-27A4-2C79-EE98A4943B14}"/>
              </a:ext>
            </a:extLst>
          </p:cNvPr>
          <p:cNvSpPr>
            <a:spLocks noGrp="1"/>
          </p:cNvSpPr>
          <p:nvPr>
            <p:ph type="title"/>
          </p:nvPr>
        </p:nvSpPr>
        <p:spPr>
          <a:xfrm>
            <a:off x="111620" y="59634"/>
            <a:ext cx="7796464" cy="1222385"/>
          </a:xfrm>
        </p:spPr>
        <p:txBody>
          <a:bodyPr/>
          <a:lstStyle/>
          <a:p>
            <a:r>
              <a:rPr lang="en-US" dirty="0"/>
              <a:t>Effective KEYWORD RESEARCH</a:t>
            </a:r>
          </a:p>
        </p:txBody>
      </p:sp>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10</a:t>
            </a:fld>
            <a:endParaRPr lang="en-US" dirty="0"/>
          </a:p>
        </p:txBody>
      </p:sp>
      <p:sp>
        <p:nvSpPr>
          <p:cNvPr id="16" name="Content Placeholder 4">
            <a:extLst>
              <a:ext uri="{FF2B5EF4-FFF2-40B4-BE49-F238E27FC236}">
                <a16:creationId xmlns:a16="http://schemas.microsoft.com/office/drawing/2014/main" id="{AEF9954A-E263-8A7E-58B1-4D03F7D1BD9B}"/>
              </a:ext>
            </a:extLst>
          </p:cNvPr>
          <p:cNvSpPr>
            <a:spLocks noGrp="1"/>
          </p:cNvSpPr>
          <p:nvPr>
            <p:ph sz="half" idx="2"/>
          </p:nvPr>
        </p:nvSpPr>
        <p:spPr>
          <a:xfrm>
            <a:off x="0" y="1341401"/>
            <a:ext cx="4848266" cy="5244928"/>
          </a:xfrm>
        </p:spPr>
        <p:txBody>
          <a:bodyPr>
            <a:noAutofit/>
          </a:bodyPr>
          <a:lstStyle/>
          <a:p>
            <a:pPr algn="l"/>
            <a:r>
              <a:rPr lang="en-US" sz="1500" b="1" dirty="0">
                <a:hlinkClick r:id="rId3">
                  <a:extLst>
                    <a:ext uri="{A12FA001-AC4F-418D-AE19-62706E023703}">
                      <ahyp:hlinkClr xmlns:ahyp="http://schemas.microsoft.com/office/drawing/2018/hyperlinkcolor" val="tx"/>
                    </a:ext>
                  </a:extLst>
                </a:hlinkClick>
              </a:rPr>
              <a:t>Keyword research</a:t>
            </a:r>
            <a:r>
              <a:rPr lang="en-US" sz="1500" b="1" dirty="0"/>
              <a:t> is the process of identifying terms your potential customers use when searching for topics related to your brand, products, or services.</a:t>
            </a:r>
          </a:p>
          <a:p>
            <a:pPr algn="l"/>
            <a:r>
              <a:rPr lang="en-US" sz="1500" b="1" dirty="0"/>
              <a:t>In other words, keyword research shows you what users are actually searching for. So you can create content that answers their queries and attracts them to your site.</a:t>
            </a:r>
          </a:p>
          <a:p>
            <a:pPr algn="l"/>
            <a:r>
              <a:rPr lang="en-US" sz="1500" b="1" dirty="0"/>
              <a:t>For example, a coffee shop owner might know that “best coffee shop” is a good keyword to target. </a:t>
            </a:r>
          </a:p>
          <a:p>
            <a:pPr algn="l"/>
            <a:r>
              <a:rPr lang="en-US" sz="1500" b="1" dirty="0"/>
              <a:t>But they likely need to do keyword research to find out that their audience is also searching for queries like “where to get oat milk lattes” and “coffee shop with workspace near me.”</a:t>
            </a:r>
          </a:p>
          <a:p>
            <a:pPr algn="l"/>
            <a:r>
              <a:rPr lang="en-US" sz="1500" b="1" dirty="0"/>
              <a:t>Effective keyword research lets you find topics your audience cares about and understand the </a:t>
            </a:r>
            <a:r>
              <a:rPr lang="en-US" sz="1500" b="1" dirty="0">
                <a:hlinkClick r:id="rId4">
                  <a:extLst>
                    <a:ext uri="{A12FA001-AC4F-418D-AE19-62706E023703}">
                      <ahyp:hlinkClr xmlns:ahyp="http://schemas.microsoft.com/office/drawing/2018/hyperlinkcolor" val="tx"/>
                    </a:ext>
                  </a:extLst>
                </a:hlinkClick>
              </a:rPr>
              <a:t>search intent</a:t>
            </a:r>
            <a:r>
              <a:rPr lang="en-US" sz="1500" b="1" dirty="0"/>
              <a:t> (the goal behind the search), so you can create effective content. </a:t>
            </a:r>
          </a:p>
          <a:p>
            <a:pPr algn="l"/>
            <a:r>
              <a:rPr lang="en-US" sz="1500" b="1" dirty="0"/>
              <a:t>Find relevant keywords using the </a:t>
            </a:r>
            <a:r>
              <a:rPr lang="en-US" sz="1500" b="1" dirty="0">
                <a:hlinkClick r:id="rId5">
                  <a:extLst>
                    <a:ext uri="{A12FA001-AC4F-418D-AE19-62706E023703}">
                      <ahyp:hlinkClr xmlns:ahyp="http://schemas.microsoft.com/office/drawing/2018/hyperlinkcolor" val="tx"/>
                    </a:ext>
                  </a:extLst>
                </a:hlinkClick>
              </a:rPr>
              <a:t>Keyword Magic Tool</a:t>
            </a:r>
            <a:r>
              <a:rPr lang="en-US" sz="1500" b="1" dirty="0"/>
              <a:t>. </a:t>
            </a:r>
          </a:p>
          <a:p>
            <a:pPr algn="l"/>
            <a:r>
              <a:rPr lang="en-US" sz="1500" b="1" dirty="0"/>
              <a:t>Enter a broad term related to your niche, set a country, and click “Search.”</a:t>
            </a:r>
          </a:p>
        </p:txBody>
      </p:sp>
      <p:pic>
        <p:nvPicPr>
          <p:cNvPr id="6" name="Content Placeholder 8">
            <a:extLst>
              <a:ext uri="{FF2B5EF4-FFF2-40B4-BE49-F238E27FC236}">
                <a16:creationId xmlns:a16="http://schemas.microsoft.com/office/drawing/2014/main" id="{E5F58F21-47D7-4E9A-9522-8E03D5401918}"/>
              </a:ext>
            </a:extLst>
          </p:cNvPr>
          <p:cNvPicPr>
            <a:picLocks noGrp="1" noChangeAspect="1"/>
          </p:cNvPicPr>
          <p:nvPr>
            <p:ph sz="quarter" idx="4"/>
          </p:nvPr>
        </p:nvPicPr>
        <p:blipFill>
          <a:blip r:embed="rId6"/>
          <a:stretch>
            <a:fillRect/>
          </a:stretch>
        </p:blipFill>
        <p:spPr>
          <a:xfrm>
            <a:off x="4525108" y="1823512"/>
            <a:ext cx="4419601" cy="5034488"/>
          </a:xfrm>
        </p:spPr>
      </p:pic>
    </p:spTree>
    <p:extLst>
      <p:ext uri="{BB962C8B-B14F-4D97-AF65-F5344CB8AC3E}">
        <p14:creationId xmlns:p14="http://schemas.microsoft.com/office/powerpoint/2010/main" val="24685957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34A6-22BC-27A4-2C79-EE98A4943B14}"/>
              </a:ext>
            </a:extLst>
          </p:cNvPr>
          <p:cNvSpPr>
            <a:spLocks noGrp="1"/>
          </p:cNvSpPr>
          <p:nvPr>
            <p:ph type="title"/>
          </p:nvPr>
        </p:nvSpPr>
        <p:spPr>
          <a:xfrm>
            <a:off x="111620" y="59634"/>
            <a:ext cx="7796464" cy="1222385"/>
          </a:xfrm>
        </p:spPr>
        <p:txBody>
          <a:bodyPr/>
          <a:lstStyle/>
          <a:p>
            <a:r>
              <a:rPr lang="en-US" dirty="0"/>
              <a:t>Effective KEYWORD RESEARCH</a:t>
            </a:r>
          </a:p>
        </p:txBody>
      </p:sp>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11</a:t>
            </a:fld>
            <a:endParaRPr lang="en-US" dirty="0"/>
          </a:p>
        </p:txBody>
      </p:sp>
      <p:sp>
        <p:nvSpPr>
          <p:cNvPr id="16" name="Content Placeholder 4">
            <a:extLst>
              <a:ext uri="{FF2B5EF4-FFF2-40B4-BE49-F238E27FC236}">
                <a16:creationId xmlns:a16="http://schemas.microsoft.com/office/drawing/2014/main" id="{AEF9954A-E263-8A7E-58B1-4D03F7D1BD9B}"/>
              </a:ext>
            </a:extLst>
          </p:cNvPr>
          <p:cNvSpPr>
            <a:spLocks noGrp="1"/>
          </p:cNvSpPr>
          <p:nvPr>
            <p:ph sz="half" idx="2"/>
          </p:nvPr>
        </p:nvSpPr>
        <p:spPr>
          <a:xfrm>
            <a:off x="262996" y="1341402"/>
            <a:ext cx="4401769" cy="5244928"/>
          </a:xfrm>
        </p:spPr>
        <p:txBody>
          <a:bodyPr>
            <a:noAutofit/>
          </a:bodyPr>
          <a:lstStyle/>
          <a:p>
            <a:r>
              <a:rPr lang="en-US" sz="1600" b="1" dirty="0"/>
              <a:t>When </a:t>
            </a:r>
            <a:r>
              <a:rPr lang="en-US" sz="1600" b="1" dirty="0">
                <a:hlinkClick r:id="rId3">
                  <a:extLst>
                    <a:ext uri="{A12FA001-AC4F-418D-AE19-62706E023703}">
                      <ahyp:hlinkClr xmlns:ahyp="http://schemas.microsoft.com/office/drawing/2018/hyperlinkcolor" val="tx"/>
                    </a:ext>
                  </a:extLst>
                </a:hlinkClick>
              </a:rPr>
              <a:t>choosing keywords</a:t>
            </a:r>
            <a:r>
              <a:rPr lang="en-US" sz="1600" b="1" dirty="0"/>
              <a:t> for your site (or a specific page), focus on relevance first.</a:t>
            </a:r>
          </a:p>
          <a:p>
            <a:r>
              <a:rPr lang="en-US" sz="1600" b="1" dirty="0"/>
              <a:t>For example, a business shouldn’t target “specialty coffee” if it doesn’t sell specialty coffee.</a:t>
            </a:r>
          </a:p>
          <a:p>
            <a:r>
              <a:rPr lang="en-US" sz="1600" b="1" dirty="0"/>
              <a:t>After ensuring relevance, consider two other keyword metrics:</a:t>
            </a:r>
          </a:p>
          <a:p>
            <a:r>
              <a:rPr lang="en-US" sz="1600" b="1" dirty="0"/>
              <a:t>Volume: The </a:t>
            </a:r>
            <a:r>
              <a:rPr lang="en-US" sz="1600" b="1" dirty="0">
                <a:hlinkClick r:id="rId4">
                  <a:extLst>
                    <a:ext uri="{A12FA001-AC4F-418D-AE19-62706E023703}">
                      <ahyp:hlinkClr xmlns:ahyp="http://schemas.microsoft.com/office/drawing/2018/hyperlinkcolor" val="tx"/>
                    </a:ext>
                  </a:extLst>
                </a:hlinkClick>
              </a:rPr>
              <a:t>keyword search volume</a:t>
            </a:r>
            <a:r>
              <a:rPr lang="en-US" sz="1600" b="1" dirty="0"/>
              <a:t>—the average number of monthly searches</a:t>
            </a:r>
          </a:p>
          <a:p>
            <a:r>
              <a:rPr lang="en-US" sz="1600" b="1" dirty="0"/>
              <a:t>KD %: The </a:t>
            </a:r>
            <a:r>
              <a:rPr lang="en-US" sz="1600" b="1" dirty="0">
                <a:hlinkClick r:id="rId5">
                  <a:extLst>
                    <a:ext uri="{A12FA001-AC4F-418D-AE19-62706E023703}">
                      <ahyp:hlinkClr xmlns:ahyp="http://schemas.microsoft.com/office/drawing/2018/hyperlinkcolor" val="tx"/>
                    </a:ext>
                  </a:extLst>
                </a:hlinkClick>
              </a:rPr>
              <a:t>keyword difficulty</a:t>
            </a:r>
            <a:r>
              <a:rPr lang="en-US" sz="1600" b="1" dirty="0"/>
              <a:t> score—a measure of how challenging it will be to achieve a top-10 ranking for a given term</a:t>
            </a:r>
          </a:p>
          <a:p>
            <a:r>
              <a:rPr lang="en-US" sz="1600" b="1" dirty="0"/>
              <a:t>Keep in mind that ranking highly for low-volume, highly relevant keywords often drives valuable traffic.</a:t>
            </a:r>
          </a:p>
          <a:p>
            <a:r>
              <a:rPr lang="en-US" sz="1600" b="1" dirty="0"/>
              <a:t>Start small, then aim for more competitive terms as your site’s SEO performance improves</a:t>
            </a:r>
          </a:p>
          <a:p>
            <a:pPr algn="l"/>
            <a:endParaRPr lang="en-US" sz="1500" b="1" dirty="0"/>
          </a:p>
        </p:txBody>
      </p:sp>
      <p:pic>
        <p:nvPicPr>
          <p:cNvPr id="8" name="Picture 7">
            <a:extLst>
              <a:ext uri="{FF2B5EF4-FFF2-40B4-BE49-F238E27FC236}">
                <a16:creationId xmlns:a16="http://schemas.microsoft.com/office/drawing/2014/main" id="{289F3015-E8B3-498F-8CAB-57ABE2330957}"/>
              </a:ext>
            </a:extLst>
          </p:cNvPr>
          <p:cNvPicPr>
            <a:picLocks noChangeAspect="1"/>
          </p:cNvPicPr>
          <p:nvPr/>
        </p:nvPicPr>
        <p:blipFill>
          <a:blip r:embed="rId6"/>
          <a:stretch>
            <a:fillRect/>
          </a:stretch>
        </p:blipFill>
        <p:spPr>
          <a:xfrm>
            <a:off x="4473725" y="1257299"/>
            <a:ext cx="4401769" cy="5541067"/>
          </a:xfrm>
          <a:prstGeom prst="rect">
            <a:avLst/>
          </a:prstGeom>
        </p:spPr>
      </p:pic>
    </p:spTree>
    <p:extLst>
      <p:ext uri="{BB962C8B-B14F-4D97-AF65-F5344CB8AC3E}">
        <p14:creationId xmlns:p14="http://schemas.microsoft.com/office/powerpoint/2010/main" val="2636797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12</a:t>
            </a:fld>
            <a:endParaRPr lang="en-US" dirty="0"/>
          </a:p>
        </p:txBody>
      </p:sp>
      <p:pic>
        <p:nvPicPr>
          <p:cNvPr id="1028" name="Picture 4" descr="Semrush KD scores: 0-14 very easy, 15-29 easy, 30-49 possible, 50-69 difficult, 70-84 hard, 85-100 very hard">
            <a:extLst>
              <a:ext uri="{FF2B5EF4-FFF2-40B4-BE49-F238E27FC236}">
                <a16:creationId xmlns:a16="http://schemas.microsoft.com/office/drawing/2014/main" id="{9F4F54CA-4229-4E1D-B4D8-63B813DA18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
            <a:ext cx="8909538" cy="58146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41810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17672-77D8-48F9-98B1-83DFEA3E570E}"/>
              </a:ext>
            </a:extLst>
          </p:cNvPr>
          <p:cNvSpPr>
            <a:spLocks noGrp="1"/>
          </p:cNvSpPr>
          <p:nvPr>
            <p:ph type="title"/>
          </p:nvPr>
        </p:nvSpPr>
        <p:spPr>
          <a:xfrm>
            <a:off x="367388" y="104576"/>
            <a:ext cx="7639473" cy="705246"/>
          </a:xfrm>
        </p:spPr>
        <p:txBody>
          <a:bodyPr/>
          <a:lstStyle/>
          <a:p>
            <a:r>
              <a:rPr lang="en-US" dirty="0"/>
              <a:t>Quick Assignment</a:t>
            </a:r>
          </a:p>
        </p:txBody>
      </p:sp>
      <p:sp>
        <p:nvSpPr>
          <p:cNvPr id="3" name="Slide Number Placeholder 2">
            <a:extLst>
              <a:ext uri="{FF2B5EF4-FFF2-40B4-BE49-F238E27FC236}">
                <a16:creationId xmlns:a16="http://schemas.microsoft.com/office/drawing/2014/main" id="{EF8217EC-7D23-4108-BD17-A0A4A73C454C}"/>
              </a:ext>
            </a:extLst>
          </p:cNvPr>
          <p:cNvSpPr>
            <a:spLocks noGrp="1"/>
          </p:cNvSpPr>
          <p:nvPr>
            <p:ph type="sldNum" sz="quarter" idx="10"/>
          </p:nvPr>
        </p:nvSpPr>
        <p:spPr/>
        <p:txBody>
          <a:bodyPr/>
          <a:lstStyle/>
          <a:p>
            <a:fld id="{48F63A3B-78C7-47BE-AE5E-E10140E04643}" type="slidenum">
              <a:rPr lang="en-US" smtClean="0"/>
              <a:pPr/>
              <a:t>13</a:t>
            </a:fld>
            <a:endParaRPr lang="en-US" dirty="0"/>
          </a:p>
        </p:txBody>
      </p:sp>
      <p:sp>
        <p:nvSpPr>
          <p:cNvPr id="4" name="Content Placeholder 3">
            <a:extLst>
              <a:ext uri="{FF2B5EF4-FFF2-40B4-BE49-F238E27FC236}">
                <a16:creationId xmlns:a16="http://schemas.microsoft.com/office/drawing/2014/main" id="{4120AA86-6F5C-4D03-86A7-3D4B7AC0A77A}"/>
              </a:ext>
            </a:extLst>
          </p:cNvPr>
          <p:cNvSpPr>
            <a:spLocks noGrp="1"/>
          </p:cNvSpPr>
          <p:nvPr>
            <p:ph sz="half" idx="2"/>
          </p:nvPr>
        </p:nvSpPr>
        <p:spPr>
          <a:xfrm>
            <a:off x="105509" y="1107274"/>
            <a:ext cx="3943584" cy="4318213"/>
          </a:xfrm>
        </p:spPr>
        <p:txBody>
          <a:bodyPr/>
          <a:lstStyle/>
          <a:p>
            <a:pPr marL="285750" indent="-285750">
              <a:buFont typeface="Wingdings" panose="05000000000000000000" pitchFamily="2" charset="2"/>
              <a:buChar char="§"/>
            </a:pPr>
            <a:r>
              <a:rPr lang="en-US" dirty="0"/>
              <a:t>Open </a:t>
            </a:r>
            <a:r>
              <a:rPr lang="en-US" dirty="0" err="1"/>
              <a:t>Semrush’s</a:t>
            </a:r>
            <a:r>
              <a:rPr lang="en-US" dirty="0"/>
              <a:t> keyword research tool and search for the search patterns of </a:t>
            </a:r>
            <a:r>
              <a:rPr lang="en-US" dirty="0" err="1"/>
              <a:t>atleast</a:t>
            </a:r>
            <a:r>
              <a:rPr lang="en-US" dirty="0"/>
              <a:t> 3 keywords of your choice. Note the words Volume and KD%</a:t>
            </a:r>
          </a:p>
          <a:p>
            <a:r>
              <a:rPr lang="en-US" dirty="0"/>
              <a:t> </a:t>
            </a:r>
            <a:r>
              <a:rPr lang="en-US" dirty="0">
                <a:hlinkClick r:id="rId2"/>
              </a:rPr>
              <a:t>Link</a:t>
            </a:r>
            <a:endParaRPr lang="en-US" dirty="0"/>
          </a:p>
          <a:p>
            <a:pPr marL="285750" indent="-285750">
              <a:buFont typeface="Wingdings" panose="05000000000000000000" pitchFamily="2" charset="2"/>
              <a:buChar char="§"/>
            </a:pPr>
            <a:endParaRPr lang="en-US" dirty="0"/>
          </a:p>
        </p:txBody>
      </p:sp>
      <p:sp>
        <p:nvSpPr>
          <p:cNvPr id="5" name="Content Placeholder 4">
            <a:extLst>
              <a:ext uri="{FF2B5EF4-FFF2-40B4-BE49-F238E27FC236}">
                <a16:creationId xmlns:a16="http://schemas.microsoft.com/office/drawing/2014/main" id="{8F6B7344-1F9A-4369-8E1F-AADE04BBD1E2}"/>
              </a:ext>
            </a:extLst>
          </p:cNvPr>
          <p:cNvSpPr>
            <a:spLocks noGrp="1"/>
          </p:cNvSpPr>
          <p:nvPr>
            <p:ph sz="quarter" idx="4"/>
          </p:nvPr>
        </p:nvSpPr>
        <p:spPr>
          <a:xfrm>
            <a:off x="4453524" y="1136024"/>
            <a:ext cx="3284951" cy="3720337"/>
          </a:xfrm>
        </p:spPr>
        <p:txBody>
          <a:bodyPr/>
          <a:lstStyle/>
          <a:p>
            <a:r>
              <a:rPr lang="en-US" dirty="0"/>
              <a:t>Open Google Trends and note the short term, kid term and long term trends of a region and also 3 Keywords of your choice </a:t>
            </a:r>
          </a:p>
        </p:txBody>
      </p:sp>
      <p:pic>
        <p:nvPicPr>
          <p:cNvPr id="9" name="Picture 8">
            <a:extLst>
              <a:ext uri="{FF2B5EF4-FFF2-40B4-BE49-F238E27FC236}">
                <a16:creationId xmlns:a16="http://schemas.microsoft.com/office/drawing/2014/main" id="{6435380A-C6B3-407C-B9C6-5375518721C5}"/>
              </a:ext>
            </a:extLst>
          </p:cNvPr>
          <p:cNvPicPr>
            <a:picLocks noChangeAspect="1"/>
          </p:cNvPicPr>
          <p:nvPr/>
        </p:nvPicPr>
        <p:blipFill>
          <a:blip r:embed="rId3"/>
          <a:stretch>
            <a:fillRect/>
          </a:stretch>
        </p:blipFill>
        <p:spPr>
          <a:xfrm>
            <a:off x="105509" y="2891616"/>
            <a:ext cx="8886091" cy="3861808"/>
          </a:xfrm>
          <a:prstGeom prst="rect">
            <a:avLst/>
          </a:prstGeom>
        </p:spPr>
      </p:pic>
    </p:spTree>
    <p:extLst>
      <p:ext uri="{BB962C8B-B14F-4D97-AF65-F5344CB8AC3E}">
        <p14:creationId xmlns:p14="http://schemas.microsoft.com/office/powerpoint/2010/main" val="19102738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4364809" y="1057274"/>
            <a:ext cx="7043617" cy="2520217"/>
          </a:xfrm>
        </p:spPr>
        <p:txBody>
          <a:bodyPr/>
          <a:lstStyle/>
          <a:p>
            <a:r>
              <a:rPr lang="en-US" dirty="0"/>
              <a:t>CREATING HIGH QUALITY CONTENT</a:t>
            </a:r>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14</a:t>
            </a:fld>
            <a:endParaRPr lang="en-US" dirty="0"/>
          </a:p>
        </p:txBody>
      </p:sp>
      <p:sp>
        <p:nvSpPr>
          <p:cNvPr id="4" name="Content Placeholder 3">
            <a:extLst>
              <a:ext uri="{FF2B5EF4-FFF2-40B4-BE49-F238E27FC236}">
                <a16:creationId xmlns:a16="http://schemas.microsoft.com/office/drawing/2014/main" id="{BDDD6BDC-E008-6AB7-55A1-46ED9BCF054F}"/>
              </a:ext>
            </a:extLst>
          </p:cNvPr>
          <p:cNvSpPr>
            <a:spLocks noGrp="1"/>
          </p:cNvSpPr>
          <p:nvPr>
            <p:ph idx="11"/>
          </p:nvPr>
        </p:nvSpPr>
        <p:spPr>
          <a:xfrm>
            <a:off x="4364808" y="3808750"/>
            <a:ext cx="7043618" cy="2233233"/>
          </a:xfrm>
        </p:spPr>
        <p:txBody>
          <a:bodyPr/>
          <a:lstStyle/>
          <a:p>
            <a:r>
              <a:rPr lang="en-US" dirty="0"/>
              <a:t>SO THAT YOUR AUDIENCE LOVES IT!!</a:t>
            </a:r>
          </a:p>
        </p:txBody>
      </p:sp>
    </p:spTree>
    <p:extLst>
      <p:ext uri="{BB962C8B-B14F-4D97-AF65-F5344CB8AC3E}">
        <p14:creationId xmlns:p14="http://schemas.microsoft.com/office/powerpoint/2010/main" val="28548824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55F2D4-C20E-BEBC-1CCF-4449B0456A7E}"/>
              </a:ext>
            </a:extLst>
          </p:cNvPr>
          <p:cNvSpPr>
            <a:spLocks noGrp="1"/>
          </p:cNvSpPr>
          <p:nvPr>
            <p:ph type="title"/>
          </p:nvPr>
        </p:nvSpPr>
        <p:spPr>
          <a:xfrm>
            <a:off x="531513" y="0"/>
            <a:ext cx="7631709" cy="1091627"/>
          </a:xfrm>
        </p:spPr>
        <p:txBody>
          <a:bodyPr/>
          <a:lstStyle/>
          <a:p>
            <a:r>
              <a:rPr lang="en-US" dirty="0"/>
              <a:t>High quality content</a:t>
            </a:r>
          </a:p>
        </p:txBody>
      </p:sp>
      <p:sp>
        <p:nvSpPr>
          <p:cNvPr id="14" name="Content Placeholder 7">
            <a:extLst>
              <a:ext uri="{FF2B5EF4-FFF2-40B4-BE49-F238E27FC236}">
                <a16:creationId xmlns:a16="http://schemas.microsoft.com/office/drawing/2014/main" id="{749C7CD1-A9AA-49E3-6734-AD9546F2DF5B}"/>
              </a:ext>
            </a:extLst>
          </p:cNvPr>
          <p:cNvSpPr>
            <a:spLocks noGrp="1"/>
          </p:cNvSpPr>
          <p:nvPr>
            <p:ph sz="half" idx="15"/>
          </p:nvPr>
        </p:nvSpPr>
        <p:spPr>
          <a:xfrm>
            <a:off x="433754" y="1103350"/>
            <a:ext cx="5662245" cy="5754650"/>
          </a:xfrm>
        </p:spPr>
        <p:txBody>
          <a:bodyPr>
            <a:normAutofit/>
          </a:bodyPr>
          <a:lstStyle/>
          <a:p>
            <a:pPr algn="l"/>
            <a:r>
              <a:rPr lang="en-US" dirty="0">
                <a:hlinkClick r:id="rId3">
                  <a:extLst>
                    <a:ext uri="{A12FA001-AC4F-418D-AE19-62706E023703}">
                      <ahyp:hlinkClr xmlns:ahyp="http://schemas.microsoft.com/office/drawing/2018/hyperlinkcolor" val="tx"/>
                    </a:ext>
                  </a:extLst>
                </a:hlinkClick>
              </a:rPr>
              <a:t>High-quality content</a:t>
            </a:r>
            <a:r>
              <a:rPr lang="en-US" dirty="0"/>
              <a:t> is accurate, helpful, trustworthy, relevant, and user-friendly, which is exactly the type of content Google wants to reward.</a:t>
            </a:r>
          </a:p>
          <a:p>
            <a:pPr algn="l"/>
            <a:r>
              <a:rPr lang="en-US" dirty="0"/>
              <a:t>Some characteristics of quality content include: </a:t>
            </a:r>
          </a:p>
          <a:p>
            <a:pPr lvl="1">
              <a:buFont typeface="Arial" panose="020B0604020202020204" pitchFamily="34" charset="0"/>
              <a:buChar char="•"/>
            </a:pPr>
            <a:r>
              <a:rPr lang="en-US" dirty="0"/>
              <a:t>Thorough coverage of the topic</a:t>
            </a:r>
          </a:p>
          <a:p>
            <a:pPr lvl="1">
              <a:buFont typeface="Arial" panose="020B0604020202020204" pitchFamily="34" charset="0"/>
              <a:buChar char="•"/>
            </a:pPr>
            <a:r>
              <a:rPr lang="en-US" dirty="0"/>
              <a:t>Clear organization and structure</a:t>
            </a:r>
          </a:p>
          <a:p>
            <a:pPr lvl="1">
              <a:buFont typeface="Arial" panose="020B0604020202020204" pitchFamily="34" charset="0"/>
              <a:buChar char="•"/>
            </a:pPr>
            <a:r>
              <a:rPr lang="en-US" dirty="0"/>
              <a:t>Up-to-date information</a:t>
            </a:r>
          </a:p>
          <a:p>
            <a:pPr lvl="1">
              <a:buFont typeface="Arial" panose="020B0604020202020204" pitchFamily="34" charset="0"/>
              <a:buChar char="•"/>
            </a:pPr>
            <a:r>
              <a:rPr lang="en-US" dirty="0"/>
              <a:t>Expert insights and/or original research</a:t>
            </a:r>
          </a:p>
          <a:p>
            <a:pPr lvl="1">
              <a:buFont typeface="Arial" panose="020B0604020202020204" pitchFamily="34" charset="0"/>
              <a:buChar char="•"/>
            </a:pPr>
            <a:r>
              <a:rPr lang="en-US" dirty="0"/>
              <a:t>Engaging visuals</a:t>
            </a:r>
          </a:p>
          <a:p>
            <a:pPr lvl="1">
              <a:buFont typeface="Arial" panose="020B0604020202020204" pitchFamily="34" charset="0"/>
              <a:buChar char="•"/>
            </a:pPr>
            <a:r>
              <a:rPr lang="en-US" dirty="0"/>
              <a:t>Error-free writing</a:t>
            </a:r>
          </a:p>
          <a:p>
            <a:pPr lvl="1">
              <a:buFont typeface="Arial" panose="020B0604020202020204" pitchFamily="34" charset="0"/>
              <a:buChar char="•"/>
            </a:pPr>
            <a:r>
              <a:rPr lang="en-US" dirty="0"/>
              <a:t>Mobile-friendly formatting</a:t>
            </a:r>
          </a:p>
          <a:p>
            <a:pPr algn="l"/>
            <a:r>
              <a:rPr lang="en-US" dirty="0"/>
              <a:t>Use the </a:t>
            </a:r>
            <a:r>
              <a:rPr lang="en-US" dirty="0">
                <a:hlinkClick r:id="rId4">
                  <a:extLst>
                    <a:ext uri="{A12FA001-AC4F-418D-AE19-62706E023703}">
                      <ahyp:hlinkClr xmlns:ahyp="http://schemas.microsoft.com/office/drawing/2018/hyperlinkcolor" val="tx"/>
                    </a:ext>
                  </a:extLst>
                </a:hlinkClick>
              </a:rPr>
              <a:t>SEO Writing Assistant</a:t>
            </a:r>
            <a:r>
              <a:rPr lang="en-US" dirty="0"/>
              <a:t> to help you craft quality content. </a:t>
            </a:r>
          </a:p>
          <a:p>
            <a:pPr algn="l"/>
            <a:r>
              <a:rPr lang="en-US" dirty="0"/>
              <a:t>Add your target keywords, and the tool will provide recommendations for readability, originality, tone of voice, and SEO. </a:t>
            </a:r>
          </a:p>
        </p:txBody>
      </p:sp>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15</a:t>
            </a:fld>
            <a:endParaRPr lang="en-US" dirty="0"/>
          </a:p>
        </p:txBody>
      </p:sp>
      <p:pic>
        <p:nvPicPr>
          <p:cNvPr id="11" name="Picture Placeholder 10">
            <a:extLst>
              <a:ext uri="{FF2B5EF4-FFF2-40B4-BE49-F238E27FC236}">
                <a16:creationId xmlns:a16="http://schemas.microsoft.com/office/drawing/2014/main" id="{0E057AFC-3F35-4736-B5ED-ED1D23A06C47}"/>
              </a:ext>
            </a:extLst>
          </p:cNvPr>
          <p:cNvPicPr>
            <a:picLocks noGrp="1" noChangeAspect="1"/>
          </p:cNvPicPr>
          <p:nvPr>
            <p:ph type="pic" sz="quarter" idx="14"/>
          </p:nvPr>
        </p:nvPicPr>
        <p:blipFill>
          <a:blip r:embed="rId5"/>
          <a:srcRect l="14119" r="14119"/>
          <a:stretch>
            <a:fillRect/>
          </a:stretch>
        </p:blipFill>
        <p:spPr>
          <a:xfrm>
            <a:off x="6271847" y="1406769"/>
            <a:ext cx="5486400" cy="5451231"/>
          </a:xfrm>
        </p:spPr>
      </p:pic>
    </p:spTree>
    <p:extLst>
      <p:ext uri="{BB962C8B-B14F-4D97-AF65-F5344CB8AC3E}">
        <p14:creationId xmlns:p14="http://schemas.microsoft.com/office/powerpoint/2010/main" val="19416196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4" descr="Above the fold is navigation, breadcrumbs, the title, author, contributors, table of contents, and first paragraphs of an article.">
            <a:extLst>
              <a:ext uri="{FF2B5EF4-FFF2-40B4-BE49-F238E27FC236}">
                <a16:creationId xmlns:a16="http://schemas.microsoft.com/office/drawing/2014/main" id="{096CB618-861E-4955-B1EC-10A457308C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4446" y="1336430"/>
            <a:ext cx="6242077" cy="5533121"/>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16</a:t>
            </a:fld>
            <a:endParaRPr lang="en-US" dirty="0"/>
          </a:p>
        </p:txBody>
      </p:sp>
      <p:sp>
        <p:nvSpPr>
          <p:cNvPr id="6" name="Title 5">
            <a:extLst>
              <a:ext uri="{FF2B5EF4-FFF2-40B4-BE49-F238E27FC236}">
                <a16:creationId xmlns:a16="http://schemas.microsoft.com/office/drawing/2014/main" id="{6E1178D8-E724-47D1-A258-011AFF8553C3}"/>
              </a:ext>
            </a:extLst>
          </p:cNvPr>
          <p:cNvSpPr txBox="1">
            <a:spLocks/>
          </p:cNvSpPr>
          <p:nvPr/>
        </p:nvSpPr>
        <p:spPr>
          <a:xfrm>
            <a:off x="445477" y="419497"/>
            <a:ext cx="8664570" cy="537232"/>
          </a:xfrm>
          <a:prstGeom prst="rect">
            <a:avLst/>
          </a:prstGeom>
        </p:spPr>
        <p:txBody>
          <a:bodyPr vert="horz" lIns="91440" tIns="0" rIns="91440" bIns="0" rtlCol="0" anchor="b" anchorCtr="0">
            <a:normAutofit fontScale="25000" lnSpcReduction="20000"/>
          </a:bodyPr>
          <a:lstStyle>
            <a:lvl1pPr algn="l" defTabSz="914400" rtl="0" eaLnBrk="1" latinLnBrk="0" hangingPunct="1">
              <a:lnSpc>
                <a:spcPct val="100000"/>
              </a:lnSpc>
              <a:spcBef>
                <a:spcPct val="0"/>
              </a:spcBef>
              <a:buNone/>
              <a:defRPr sz="3600" b="1" kern="1200" cap="all" baseline="0">
                <a:solidFill>
                  <a:schemeClr val="accent6"/>
                </a:solidFill>
                <a:latin typeface="+mj-lt"/>
                <a:ea typeface="+mj-ea"/>
                <a:cs typeface="+mj-cs"/>
              </a:defRPr>
            </a:lvl1pPr>
          </a:lstStyle>
          <a:p>
            <a:br>
              <a:rPr lang="en-US" dirty="0">
                <a:solidFill>
                  <a:srgbClr val="000000"/>
                </a:solidFill>
                <a:latin typeface="Factor A"/>
              </a:rPr>
            </a:br>
            <a:br>
              <a:rPr lang="en-US" dirty="0"/>
            </a:br>
            <a:r>
              <a:rPr lang="en-US" sz="8000" dirty="0"/>
              <a:t>Optimize</a:t>
            </a:r>
            <a:r>
              <a:rPr lang="en-US" dirty="0">
                <a:solidFill>
                  <a:srgbClr val="000000"/>
                </a:solidFill>
                <a:latin typeface="Factor A"/>
              </a:rPr>
              <a:t>   </a:t>
            </a:r>
            <a:r>
              <a:rPr lang="en-US" sz="8000" dirty="0"/>
              <a:t>Content that Appears Above the Fold</a:t>
            </a:r>
          </a:p>
        </p:txBody>
      </p:sp>
      <p:sp>
        <p:nvSpPr>
          <p:cNvPr id="8" name="Content Placeholder 7">
            <a:extLst>
              <a:ext uri="{FF2B5EF4-FFF2-40B4-BE49-F238E27FC236}">
                <a16:creationId xmlns:a16="http://schemas.microsoft.com/office/drawing/2014/main" id="{241C54E0-FAA4-4DE1-92FA-9508AF4FFC2B}"/>
              </a:ext>
            </a:extLst>
          </p:cNvPr>
          <p:cNvSpPr>
            <a:spLocks noGrp="1"/>
          </p:cNvSpPr>
          <p:nvPr>
            <p:ph sz="half" idx="15"/>
          </p:nvPr>
        </p:nvSpPr>
        <p:spPr>
          <a:xfrm>
            <a:off x="445477" y="1160414"/>
            <a:ext cx="5058969" cy="5697586"/>
          </a:xfrm>
        </p:spPr>
        <p:txBody>
          <a:bodyPr>
            <a:normAutofit fontScale="92500"/>
          </a:bodyPr>
          <a:lstStyle/>
          <a:p>
            <a:pPr algn="l"/>
            <a:r>
              <a:rPr lang="en-US" sz="2400" dirty="0"/>
              <a:t>Content that appears “</a:t>
            </a:r>
            <a:r>
              <a:rPr lang="en-US" sz="2400" dirty="0">
                <a:hlinkClick r:id="rId4">
                  <a:extLst>
                    <a:ext uri="{A12FA001-AC4F-418D-AE19-62706E023703}">
                      <ahyp:hlinkClr xmlns:ahyp="http://schemas.microsoft.com/office/drawing/2018/hyperlinkcolor" val="tx"/>
                    </a:ext>
                  </a:extLst>
                </a:hlinkClick>
              </a:rPr>
              <a:t>above the fold</a:t>
            </a:r>
            <a:r>
              <a:rPr lang="en-US" sz="2400" dirty="0"/>
              <a:t>” refers to the first screen users see when they land on your webpage and serves as the page’s first impression. </a:t>
            </a:r>
          </a:p>
          <a:p>
            <a:pPr algn="l"/>
            <a:r>
              <a:rPr lang="en-US" sz="2400" dirty="0"/>
              <a:t>If visitors don’t quickly find what they’re looking for, they might leave. Which can hurt your performance.</a:t>
            </a:r>
          </a:p>
          <a:p>
            <a:pPr algn="l"/>
            <a:r>
              <a:rPr lang="en-US" sz="2400" dirty="0"/>
              <a:t>A good above-the-fold section does the following:</a:t>
            </a:r>
          </a:p>
          <a:p>
            <a:pPr algn="l">
              <a:buFont typeface="Arial" panose="020B0604020202020204" pitchFamily="34" charset="0"/>
              <a:buChar char="•"/>
            </a:pPr>
            <a:r>
              <a:rPr lang="en-US" sz="2400" dirty="0"/>
              <a:t>Includes your main keyword naturally</a:t>
            </a:r>
          </a:p>
          <a:p>
            <a:pPr algn="l">
              <a:buFont typeface="Arial" panose="020B0604020202020204" pitchFamily="34" charset="0"/>
              <a:buChar char="•"/>
            </a:pPr>
            <a:r>
              <a:rPr lang="en-US" sz="2400" dirty="0"/>
              <a:t>Clearly provides value</a:t>
            </a:r>
          </a:p>
          <a:p>
            <a:pPr algn="l">
              <a:buFont typeface="Arial" panose="020B0604020202020204" pitchFamily="34" charset="0"/>
              <a:buChar char="•"/>
            </a:pPr>
            <a:r>
              <a:rPr lang="en-US" sz="2400" dirty="0"/>
              <a:t>Uses clear, simple language</a:t>
            </a:r>
          </a:p>
          <a:p>
            <a:pPr algn="l">
              <a:buFont typeface="Arial" panose="020B0604020202020204" pitchFamily="34" charset="0"/>
              <a:buChar char="•"/>
            </a:pPr>
            <a:r>
              <a:rPr lang="en-US" sz="2400" dirty="0"/>
              <a:t>Avoids intrusive elements</a:t>
            </a:r>
          </a:p>
        </p:txBody>
      </p:sp>
    </p:spTree>
    <p:extLst>
      <p:ext uri="{BB962C8B-B14F-4D97-AF65-F5344CB8AC3E}">
        <p14:creationId xmlns:p14="http://schemas.microsoft.com/office/powerpoint/2010/main" val="3081638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17</a:t>
            </a:fld>
            <a:endParaRPr lang="en-US" dirty="0"/>
          </a:p>
        </p:txBody>
      </p:sp>
      <p:sp>
        <p:nvSpPr>
          <p:cNvPr id="6" name="Title 5">
            <a:extLst>
              <a:ext uri="{FF2B5EF4-FFF2-40B4-BE49-F238E27FC236}">
                <a16:creationId xmlns:a16="http://schemas.microsoft.com/office/drawing/2014/main" id="{6E1178D8-E724-47D1-A258-011AFF8553C3}"/>
              </a:ext>
            </a:extLst>
          </p:cNvPr>
          <p:cNvSpPr txBox="1">
            <a:spLocks/>
          </p:cNvSpPr>
          <p:nvPr/>
        </p:nvSpPr>
        <p:spPr>
          <a:xfrm>
            <a:off x="445477" y="419497"/>
            <a:ext cx="8664570" cy="537232"/>
          </a:xfrm>
          <a:prstGeom prst="rect">
            <a:avLst/>
          </a:prstGeom>
        </p:spPr>
        <p:txBody>
          <a:bodyPr vert="horz" lIns="91440" tIns="0" rIns="91440" bIns="0" rtlCol="0" anchor="b" anchorCtr="0">
            <a:normAutofit fontScale="25000" lnSpcReduction="20000"/>
          </a:bodyPr>
          <a:lstStyle>
            <a:lvl1pPr algn="l" defTabSz="914400" rtl="0" eaLnBrk="1" latinLnBrk="0" hangingPunct="1">
              <a:lnSpc>
                <a:spcPct val="100000"/>
              </a:lnSpc>
              <a:spcBef>
                <a:spcPct val="0"/>
              </a:spcBef>
              <a:buNone/>
              <a:defRPr sz="3600" b="1" kern="1200" cap="all" baseline="0">
                <a:solidFill>
                  <a:schemeClr val="accent6"/>
                </a:solidFill>
                <a:latin typeface="+mj-lt"/>
                <a:ea typeface="+mj-ea"/>
                <a:cs typeface="+mj-cs"/>
              </a:defRPr>
            </a:lvl1pPr>
          </a:lstStyle>
          <a:p>
            <a:br>
              <a:rPr lang="en-US" dirty="0">
                <a:solidFill>
                  <a:srgbClr val="000000"/>
                </a:solidFill>
                <a:latin typeface="Factor A"/>
              </a:rPr>
            </a:br>
            <a:br>
              <a:rPr lang="en-US" dirty="0"/>
            </a:br>
            <a:r>
              <a:rPr lang="en-US" sz="8000" dirty="0"/>
              <a:t>Above the Fold – BEST PRACTICES</a:t>
            </a:r>
          </a:p>
        </p:txBody>
      </p:sp>
      <p:sp>
        <p:nvSpPr>
          <p:cNvPr id="8" name="Content Placeholder 7">
            <a:extLst>
              <a:ext uri="{FF2B5EF4-FFF2-40B4-BE49-F238E27FC236}">
                <a16:creationId xmlns:a16="http://schemas.microsoft.com/office/drawing/2014/main" id="{241C54E0-FAA4-4DE1-92FA-9508AF4FFC2B}"/>
              </a:ext>
            </a:extLst>
          </p:cNvPr>
          <p:cNvSpPr>
            <a:spLocks noGrp="1"/>
          </p:cNvSpPr>
          <p:nvPr>
            <p:ph sz="half" idx="15"/>
          </p:nvPr>
        </p:nvSpPr>
        <p:spPr>
          <a:xfrm>
            <a:off x="445477" y="956729"/>
            <a:ext cx="5058969" cy="5901271"/>
          </a:xfrm>
        </p:spPr>
        <p:txBody>
          <a:bodyPr>
            <a:normAutofit fontScale="92500" lnSpcReduction="20000"/>
          </a:bodyPr>
          <a:lstStyle/>
          <a:p>
            <a:pPr marL="0" indent="0">
              <a:buNone/>
            </a:pPr>
            <a:r>
              <a:rPr lang="en-US" sz="2400" b="1" dirty="0"/>
              <a:t>User experience (UX)</a:t>
            </a:r>
            <a:r>
              <a:rPr lang="en-US" sz="2400" dirty="0"/>
              <a:t> is how visitors interact with and perceive your site (its design, usability, etc.)—and </a:t>
            </a:r>
            <a:r>
              <a:rPr lang="en-US" sz="2400" dirty="0">
                <a:hlinkClick r:id="rId3">
                  <a:extLst>
                    <a:ext uri="{A12FA001-AC4F-418D-AE19-62706E023703}">
                      <ahyp:hlinkClr xmlns:ahyp="http://schemas.microsoft.com/office/drawing/2018/hyperlinkcolor" val="tx"/>
                    </a:ext>
                  </a:extLst>
                </a:hlinkClick>
              </a:rPr>
              <a:t>Google values</a:t>
            </a:r>
            <a:r>
              <a:rPr lang="en-US" sz="2400" dirty="0"/>
              <a:t> a positive user experience.</a:t>
            </a:r>
          </a:p>
          <a:p>
            <a:pPr marL="0" indent="0">
              <a:buNone/>
            </a:pPr>
            <a:r>
              <a:rPr lang="en-US" sz="2400" dirty="0"/>
              <a:t>Here are some key best practices for ensuring a positive UX:</a:t>
            </a:r>
          </a:p>
          <a:p>
            <a:pPr algn="l"/>
            <a:r>
              <a:rPr lang="en-US" sz="2400" b="1" dirty="0"/>
              <a:t>Use Enticing CTAs</a:t>
            </a:r>
          </a:p>
          <a:p>
            <a:pPr marL="0" indent="0" algn="l">
              <a:buNone/>
            </a:pPr>
            <a:r>
              <a:rPr lang="en-US" sz="2400" dirty="0"/>
              <a:t>A </a:t>
            </a:r>
            <a:r>
              <a:rPr lang="en-US" sz="2400" dirty="0">
                <a:hlinkClick r:id="rId4">
                  <a:extLst>
                    <a:ext uri="{A12FA001-AC4F-418D-AE19-62706E023703}">
                      <ahyp:hlinkClr xmlns:ahyp="http://schemas.microsoft.com/office/drawing/2018/hyperlinkcolor" val="tx"/>
                    </a:ext>
                  </a:extLst>
                </a:hlinkClick>
              </a:rPr>
              <a:t>call to action (CTA)</a:t>
            </a:r>
            <a:r>
              <a:rPr lang="en-US" sz="2400" dirty="0"/>
              <a:t> is a prompt that encourages site visitors to take a specific action, like subscribing to your newsletter, scheduling a demo, or making a purchase.</a:t>
            </a:r>
          </a:p>
          <a:p>
            <a:pPr marL="0" indent="0" algn="l">
              <a:buNone/>
            </a:pPr>
            <a:r>
              <a:rPr lang="en-US" sz="2400" dirty="0"/>
              <a:t>Make your CTAs specific and value-focused:</a:t>
            </a:r>
          </a:p>
          <a:p>
            <a:pPr algn="l">
              <a:buFont typeface="Arial" panose="020B0604020202020204" pitchFamily="34" charset="0"/>
              <a:buChar char="•"/>
            </a:pPr>
            <a:r>
              <a:rPr lang="en-US" sz="2400" b="1" dirty="0"/>
              <a:t>Not great</a:t>
            </a:r>
            <a:r>
              <a:rPr lang="en-US" sz="2400" dirty="0"/>
              <a:t>: "Click here"</a:t>
            </a:r>
          </a:p>
          <a:p>
            <a:pPr algn="l">
              <a:buFont typeface="Arial" panose="020B0604020202020204" pitchFamily="34" charset="0"/>
              <a:buChar char="•"/>
            </a:pPr>
            <a:r>
              <a:rPr lang="en-US" sz="2400" b="1" dirty="0"/>
              <a:t>Better</a:t>
            </a:r>
            <a:r>
              <a:rPr lang="en-US" sz="2400" dirty="0"/>
              <a:t>: "Get your free SEO checklist"</a:t>
            </a:r>
          </a:p>
          <a:p>
            <a:pPr marL="0" indent="0" algn="l">
              <a:buNone/>
            </a:pPr>
            <a:r>
              <a:rPr lang="en-US" sz="2400" dirty="0"/>
              <a:t>Here’s an example of a CTA to get visitors to sign up for a free trial: </a:t>
            </a:r>
          </a:p>
          <a:p>
            <a:pPr marL="0" indent="0" algn="l">
              <a:buNone/>
            </a:pPr>
            <a:endParaRPr lang="en-US" sz="2400" b="1" dirty="0"/>
          </a:p>
        </p:txBody>
      </p:sp>
      <p:pic>
        <p:nvPicPr>
          <p:cNvPr id="7" name="Picture 2" descr="CTA says, &quot;Get started with Semrush today. Get 7 days of full access to all toolkits. Cancel anytime.&quot; The button says, &quot;Start your free trial.&quot;">
            <a:extLst>
              <a:ext uri="{FF2B5EF4-FFF2-40B4-BE49-F238E27FC236}">
                <a16:creationId xmlns:a16="http://schemas.microsoft.com/office/drawing/2014/main" id="{6C959590-6BBB-4F5F-90A7-50912CE595E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38092" y="688113"/>
            <a:ext cx="6353908" cy="357505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39F9B4B-951D-449C-A030-59AA98D0EDFE}"/>
              </a:ext>
            </a:extLst>
          </p:cNvPr>
          <p:cNvSpPr txBox="1"/>
          <p:nvPr/>
        </p:nvSpPr>
        <p:spPr>
          <a:xfrm>
            <a:off x="5930534" y="4646478"/>
            <a:ext cx="6169024" cy="830997"/>
          </a:xfrm>
          <a:prstGeom prst="rect">
            <a:avLst/>
          </a:prstGeom>
          <a:noFill/>
        </p:spPr>
        <p:txBody>
          <a:bodyPr wrap="square" rtlCol="0">
            <a:spAutoFit/>
          </a:bodyPr>
          <a:lstStyle/>
          <a:p>
            <a:pPr algn="l"/>
            <a:r>
              <a:rPr lang="en-US" sz="1600" i="1" dirty="0">
                <a:solidFill>
                  <a:schemeClr val="accent6"/>
                </a:solidFill>
              </a:rPr>
              <a:t>The CTA is clear, highlights a tangible benefit, and drives action. </a:t>
            </a:r>
          </a:p>
          <a:p>
            <a:pPr algn="l"/>
            <a:r>
              <a:rPr lang="en-US" sz="1600" i="1" dirty="0">
                <a:solidFill>
                  <a:schemeClr val="accent6"/>
                </a:solidFill>
              </a:rPr>
              <a:t>Place your main CTA above the fold for conversion-oriented pages</a:t>
            </a:r>
          </a:p>
          <a:p>
            <a:pPr algn="l"/>
            <a:r>
              <a:rPr lang="en-US" sz="1600" i="1" dirty="0">
                <a:solidFill>
                  <a:schemeClr val="accent6"/>
                </a:solidFill>
              </a:rPr>
              <a:t> and test variations to see what resonates best with your audience.</a:t>
            </a:r>
          </a:p>
        </p:txBody>
      </p:sp>
    </p:spTree>
    <p:extLst>
      <p:ext uri="{BB962C8B-B14F-4D97-AF65-F5344CB8AC3E}">
        <p14:creationId xmlns:p14="http://schemas.microsoft.com/office/powerpoint/2010/main" val="34068446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18</a:t>
            </a:fld>
            <a:endParaRPr lang="en-US" dirty="0"/>
          </a:p>
        </p:txBody>
      </p:sp>
      <p:sp>
        <p:nvSpPr>
          <p:cNvPr id="6" name="Title 5">
            <a:extLst>
              <a:ext uri="{FF2B5EF4-FFF2-40B4-BE49-F238E27FC236}">
                <a16:creationId xmlns:a16="http://schemas.microsoft.com/office/drawing/2014/main" id="{6E1178D8-E724-47D1-A258-011AFF8553C3}"/>
              </a:ext>
            </a:extLst>
          </p:cNvPr>
          <p:cNvSpPr txBox="1">
            <a:spLocks/>
          </p:cNvSpPr>
          <p:nvPr/>
        </p:nvSpPr>
        <p:spPr>
          <a:xfrm>
            <a:off x="445477" y="419497"/>
            <a:ext cx="8664570" cy="537232"/>
          </a:xfrm>
          <a:prstGeom prst="rect">
            <a:avLst/>
          </a:prstGeom>
        </p:spPr>
        <p:txBody>
          <a:bodyPr vert="horz" lIns="91440" tIns="0" rIns="91440" bIns="0" rtlCol="0" anchor="b" anchorCtr="0">
            <a:normAutofit fontScale="25000" lnSpcReduction="20000"/>
          </a:bodyPr>
          <a:lstStyle>
            <a:lvl1pPr algn="l" defTabSz="914400" rtl="0" eaLnBrk="1" latinLnBrk="0" hangingPunct="1">
              <a:lnSpc>
                <a:spcPct val="100000"/>
              </a:lnSpc>
              <a:spcBef>
                <a:spcPct val="0"/>
              </a:spcBef>
              <a:buNone/>
              <a:defRPr sz="3600" b="1" kern="1200" cap="all" baseline="0">
                <a:solidFill>
                  <a:schemeClr val="accent6"/>
                </a:solidFill>
                <a:latin typeface="+mj-lt"/>
                <a:ea typeface="+mj-ea"/>
                <a:cs typeface="+mj-cs"/>
              </a:defRPr>
            </a:lvl1pPr>
          </a:lstStyle>
          <a:p>
            <a:br>
              <a:rPr lang="en-US" dirty="0">
                <a:solidFill>
                  <a:srgbClr val="000000"/>
                </a:solidFill>
                <a:latin typeface="Factor A"/>
              </a:rPr>
            </a:br>
            <a:br>
              <a:rPr lang="en-US" dirty="0"/>
            </a:br>
            <a:r>
              <a:rPr lang="en-US" sz="8000" dirty="0"/>
              <a:t>Above the Fold – BEST PRACTICES</a:t>
            </a:r>
          </a:p>
        </p:txBody>
      </p:sp>
      <p:sp>
        <p:nvSpPr>
          <p:cNvPr id="8" name="Content Placeholder 7">
            <a:extLst>
              <a:ext uri="{FF2B5EF4-FFF2-40B4-BE49-F238E27FC236}">
                <a16:creationId xmlns:a16="http://schemas.microsoft.com/office/drawing/2014/main" id="{241C54E0-FAA4-4DE1-92FA-9508AF4FFC2B}"/>
              </a:ext>
            </a:extLst>
          </p:cNvPr>
          <p:cNvSpPr>
            <a:spLocks noGrp="1"/>
          </p:cNvSpPr>
          <p:nvPr>
            <p:ph sz="half" idx="15"/>
          </p:nvPr>
        </p:nvSpPr>
        <p:spPr>
          <a:xfrm>
            <a:off x="445477" y="956729"/>
            <a:ext cx="5275385" cy="5901271"/>
          </a:xfrm>
        </p:spPr>
        <p:txBody>
          <a:bodyPr>
            <a:normAutofit fontScale="92500" lnSpcReduction="20000"/>
          </a:bodyPr>
          <a:lstStyle/>
          <a:p>
            <a:pPr marL="0" indent="0">
              <a:lnSpc>
                <a:spcPct val="90000"/>
              </a:lnSpc>
              <a:buNone/>
            </a:pPr>
            <a:endParaRPr lang="en-US" sz="2200" b="1" dirty="0"/>
          </a:p>
          <a:p>
            <a:pPr marL="0" indent="0">
              <a:lnSpc>
                <a:spcPct val="90000"/>
              </a:lnSpc>
              <a:buNone/>
            </a:pPr>
            <a:r>
              <a:rPr lang="en-US" sz="2600" b="1" dirty="0"/>
              <a:t>2. Avoid walls of Text</a:t>
            </a:r>
            <a:endParaRPr lang="en-US" sz="2200" b="1" dirty="0"/>
          </a:p>
          <a:p>
            <a:pPr marL="342900" indent="-342900" algn="l">
              <a:buFont typeface="Wingdings" panose="05000000000000000000" pitchFamily="2" charset="2"/>
              <a:buChar char="§"/>
            </a:pPr>
            <a:r>
              <a:rPr lang="en-US" sz="2400" dirty="0"/>
              <a:t>Most readers scan rather than read every word, so steering clear of large blocks of text makes it easier to quickly spot key information.</a:t>
            </a:r>
          </a:p>
          <a:p>
            <a:pPr marL="342900" indent="-342900" algn="l">
              <a:buFont typeface="Wingdings" panose="05000000000000000000" pitchFamily="2" charset="2"/>
              <a:buChar char="§"/>
            </a:pPr>
            <a:r>
              <a:rPr lang="en-US" sz="2400" dirty="0"/>
              <a:t>Break up your content into easy-to-scan chunks by doing the following:</a:t>
            </a:r>
          </a:p>
          <a:p>
            <a:pPr lvl="1">
              <a:buFont typeface="Arial" panose="020B0604020202020204" pitchFamily="34" charset="0"/>
              <a:buChar char="•"/>
            </a:pPr>
            <a:r>
              <a:rPr lang="en-US" sz="2400" dirty="0"/>
              <a:t>Use short sentences and paragraphs</a:t>
            </a:r>
          </a:p>
          <a:p>
            <a:pPr lvl="1">
              <a:buFont typeface="Arial" panose="020B0604020202020204" pitchFamily="34" charset="0"/>
              <a:buChar char="•"/>
            </a:pPr>
            <a:r>
              <a:rPr lang="en-US" sz="2400" dirty="0"/>
              <a:t>Add white space</a:t>
            </a:r>
          </a:p>
          <a:p>
            <a:pPr lvl="1">
              <a:buFont typeface="Arial" panose="020B0604020202020204" pitchFamily="34" charset="0"/>
              <a:buChar char="•"/>
            </a:pPr>
            <a:r>
              <a:rPr lang="en-US" sz="2400" dirty="0"/>
              <a:t>Include images or other visual breaks every 200-300 words</a:t>
            </a:r>
          </a:p>
          <a:p>
            <a:pPr lvl="1">
              <a:buFont typeface="Arial" panose="020B0604020202020204" pitchFamily="34" charset="0"/>
              <a:buChar char="•"/>
            </a:pPr>
            <a:r>
              <a:rPr lang="en-US" sz="2400" dirty="0"/>
              <a:t>Write descriptive subheadings</a:t>
            </a:r>
          </a:p>
          <a:p>
            <a:pPr marL="0" indent="0" algn="l">
              <a:buNone/>
            </a:pPr>
            <a:r>
              <a:rPr lang="en-US" sz="2400" dirty="0"/>
              <a:t>For example, the screenshot on the side  uses short paragraphs, images, and headings to break up the text. Which makes it very easy to read and follow. </a:t>
            </a:r>
          </a:p>
          <a:p>
            <a:pPr marL="0" indent="0">
              <a:lnSpc>
                <a:spcPct val="90000"/>
              </a:lnSpc>
              <a:buNone/>
            </a:pPr>
            <a:endParaRPr lang="en-US" sz="2200" b="1" dirty="0"/>
          </a:p>
          <a:p>
            <a:pPr marL="0" indent="0">
              <a:lnSpc>
                <a:spcPct val="90000"/>
              </a:lnSpc>
              <a:buNone/>
            </a:pPr>
            <a:endParaRPr lang="en-US" sz="2200" b="1" dirty="0"/>
          </a:p>
          <a:p>
            <a:pPr marL="0" indent="0" algn="l">
              <a:buNone/>
            </a:pPr>
            <a:endParaRPr lang="en-US" sz="2400" b="1" dirty="0"/>
          </a:p>
        </p:txBody>
      </p:sp>
      <p:pic>
        <p:nvPicPr>
          <p:cNvPr id="10" name="Picture 2" descr="AD_4nXd5HOqTFqapYghauLIwl9qkQQlwz9nfO1CPbQuPKAPSsq8jR5OGnWoi-H3qwnff4RAhhPtRkARyBQ4mMH5DA-Saxxsr-EmcJF-GtPHxkZxZIfotrRQStnGHCl-ihfipUDZfRcYPRg?key=HiH5nylccNQicEVHBCilgWHa">
            <a:extLst>
              <a:ext uri="{FF2B5EF4-FFF2-40B4-BE49-F238E27FC236}">
                <a16:creationId xmlns:a16="http://schemas.microsoft.com/office/drawing/2014/main" id="{DE368C14-3421-4229-8365-B3D5A0D7821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5720862" y="956730"/>
            <a:ext cx="6025661" cy="59012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34774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19</a:t>
            </a:fld>
            <a:endParaRPr lang="en-US" dirty="0"/>
          </a:p>
        </p:txBody>
      </p:sp>
      <p:sp>
        <p:nvSpPr>
          <p:cNvPr id="6" name="Title 5">
            <a:extLst>
              <a:ext uri="{FF2B5EF4-FFF2-40B4-BE49-F238E27FC236}">
                <a16:creationId xmlns:a16="http://schemas.microsoft.com/office/drawing/2014/main" id="{6E1178D8-E724-47D1-A258-011AFF8553C3}"/>
              </a:ext>
            </a:extLst>
          </p:cNvPr>
          <p:cNvSpPr txBox="1">
            <a:spLocks/>
          </p:cNvSpPr>
          <p:nvPr/>
        </p:nvSpPr>
        <p:spPr>
          <a:xfrm>
            <a:off x="445477" y="419497"/>
            <a:ext cx="8664570" cy="537232"/>
          </a:xfrm>
          <a:prstGeom prst="rect">
            <a:avLst/>
          </a:prstGeom>
        </p:spPr>
        <p:txBody>
          <a:bodyPr vert="horz" lIns="91440" tIns="0" rIns="91440" bIns="0" rtlCol="0" anchor="b" anchorCtr="0">
            <a:normAutofit fontScale="25000" lnSpcReduction="20000"/>
          </a:bodyPr>
          <a:lstStyle>
            <a:lvl1pPr algn="l" defTabSz="914400" rtl="0" eaLnBrk="1" latinLnBrk="0" hangingPunct="1">
              <a:lnSpc>
                <a:spcPct val="100000"/>
              </a:lnSpc>
              <a:spcBef>
                <a:spcPct val="0"/>
              </a:spcBef>
              <a:buNone/>
              <a:defRPr sz="3600" b="1" kern="1200" cap="all" baseline="0">
                <a:solidFill>
                  <a:schemeClr val="accent6"/>
                </a:solidFill>
                <a:latin typeface="+mj-lt"/>
                <a:ea typeface="+mj-ea"/>
                <a:cs typeface="+mj-cs"/>
              </a:defRPr>
            </a:lvl1pPr>
          </a:lstStyle>
          <a:p>
            <a:br>
              <a:rPr lang="en-US" dirty="0">
                <a:solidFill>
                  <a:srgbClr val="000000"/>
                </a:solidFill>
                <a:latin typeface="Factor A"/>
              </a:rPr>
            </a:br>
            <a:br>
              <a:rPr lang="en-US" dirty="0"/>
            </a:br>
            <a:r>
              <a:rPr lang="en-US" sz="8000" dirty="0"/>
              <a:t>Above the Fold – BEST PRACTICES</a:t>
            </a:r>
          </a:p>
        </p:txBody>
      </p:sp>
      <p:sp>
        <p:nvSpPr>
          <p:cNvPr id="8" name="Content Placeholder 7">
            <a:extLst>
              <a:ext uri="{FF2B5EF4-FFF2-40B4-BE49-F238E27FC236}">
                <a16:creationId xmlns:a16="http://schemas.microsoft.com/office/drawing/2014/main" id="{241C54E0-FAA4-4DE1-92FA-9508AF4FFC2B}"/>
              </a:ext>
            </a:extLst>
          </p:cNvPr>
          <p:cNvSpPr>
            <a:spLocks noGrp="1"/>
          </p:cNvSpPr>
          <p:nvPr>
            <p:ph sz="half" idx="15"/>
          </p:nvPr>
        </p:nvSpPr>
        <p:spPr>
          <a:xfrm>
            <a:off x="445477" y="956729"/>
            <a:ext cx="5275385" cy="5901271"/>
          </a:xfrm>
        </p:spPr>
        <p:txBody>
          <a:bodyPr>
            <a:normAutofit fontScale="92500" lnSpcReduction="10000"/>
          </a:bodyPr>
          <a:lstStyle/>
          <a:p>
            <a:pPr marL="0" indent="0">
              <a:lnSpc>
                <a:spcPct val="90000"/>
              </a:lnSpc>
              <a:buNone/>
            </a:pPr>
            <a:endParaRPr lang="en-US" sz="2200" b="1" dirty="0"/>
          </a:p>
          <a:p>
            <a:pPr marL="0" indent="0">
              <a:lnSpc>
                <a:spcPct val="90000"/>
              </a:lnSpc>
              <a:buNone/>
            </a:pPr>
            <a:r>
              <a:rPr lang="en-US" sz="2600" b="1" dirty="0"/>
              <a:t>3. Use Bullets, Numbered Lists, and Short Paragraphs</a:t>
            </a:r>
          </a:p>
          <a:p>
            <a:pPr marL="0" indent="0" algn="l">
              <a:buNone/>
            </a:pPr>
            <a:r>
              <a:rPr lang="en-US" sz="2400" dirty="0"/>
              <a:t>Here are some ways to use these elements effectively:</a:t>
            </a:r>
          </a:p>
          <a:p>
            <a:pPr lvl="1">
              <a:buFont typeface="Arial" panose="020B0604020202020204" pitchFamily="34" charset="0"/>
              <a:buChar char="•"/>
            </a:pPr>
            <a:r>
              <a:rPr lang="en-US" sz="2200" dirty="0"/>
              <a:t>Turn long paragraphs into bullet points</a:t>
            </a:r>
          </a:p>
          <a:p>
            <a:pPr lvl="1">
              <a:buFont typeface="Arial" panose="020B0604020202020204" pitchFamily="34" charset="0"/>
              <a:buChar char="•"/>
            </a:pPr>
            <a:r>
              <a:rPr lang="en-US" sz="2200" dirty="0"/>
              <a:t>Start list items with action words</a:t>
            </a:r>
          </a:p>
          <a:p>
            <a:pPr lvl="1">
              <a:buFont typeface="Arial" panose="020B0604020202020204" pitchFamily="34" charset="0"/>
              <a:buChar char="•"/>
            </a:pPr>
            <a:r>
              <a:rPr lang="en-US" sz="2200" dirty="0"/>
              <a:t>Keep bullets consistent in length and style</a:t>
            </a:r>
          </a:p>
          <a:p>
            <a:pPr lvl="1">
              <a:buFont typeface="Arial" panose="020B0604020202020204" pitchFamily="34" charset="0"/>
              <a:buChar char="•"/>
            </a:pPr>
            <a:r>
              <a:rPr lang="en-US" sz="2200" dirty="0"/>
              <a:t>Use numbered lists for step-by-step instructions</a:t>
            </a:r>
          </a:p>
          <a:p>
            <a:pPr lvl="1">
              <a:buFont typeface="Arial" panose="020B0604020202020204" pitchFamily="34" charset="0"/>
              <a:buChar char="•"/>
            </a:pPr>
            <a:r>
              <a:rPr lang="en-US" sz="2200" dirty="0"/>
              <a:t>Use a mix of short paragraphs, lists, and visuals to create rhythm throughout your pages</a:t>
            </a:r>
          </a:p>
          <a:p>
            <a:pPr marL="0" indent="0" algn="l">
              <a:buNone/>
            </a:pPr>
            <a:r>
              <a:rPr lang="en-US" sz="2400" dirty="0"/>
              <a:t>Check out this example(side) from an example blog posts.</a:t>
            </a:r>
          </a:p>
          <a:p>
            <a:pPr marL="0" indent="0">
              <a:lnSpc>
                <a:spcPct val="90000"/>
              </a:lnSpc>
              <a:buNone/>
            </a:pPr>
            <a:endParaRPr lang="en-US" sz="2200" b="1" dirty="0"/>
          </a:p>
          <a:p>
            <a:pPr marL="0" indent="0">
              <a:lnSpc>
                <a:spcPct val="90000"/>
              </a:lnSpc>
              <a:buNone/>
            </a:pPr>
            <a:endParaRPr lang="en-US" sz="2200" b="1" dirty="0"/>
          </a:p>
          <a:p>
            <a:pPr marL="0" indent="0" algn="l">
              <a:buNone/>
            </a:pPr>
            <a:endParaRPr lang="en-US" sz="2400" b="1" dirty="0"/>
          </a:p>
        </p:txBody>
      </p:sp>
      <p:pic>
        <p:nvPicPr>
          <p:cNvPr id="7" name="Picture 2" descr="A section of a blog uses a numbered list with bullet points to break down the content.">
            <a:extLst>
              <a:ext uri="{FF2B5EF4-FFF2-40B4-BE49-F238E27FC236}">
                <a16:creationId xmlns:a16="http://schemas.microsoft.com/office/drawing/2014/main" id="{592C97F3-B894-4292-A8CC-1019D8CA8C1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5556739" y="1341617"/>
            <a:ext cx="6189784" cy="55163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77321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Two colleagues planning on board with sticky notes">
            <a:extLst>
              <a:ext uri="{FF2B5EF4-FFF2-40B4-BE49-F238E27FC236}">
                <a16:creationId xmlns:a16="http://schemas.microsoft.com/office/drawing/2014/main" id="{DF6E6CA7-0B38-4A0E-9819-E7C215C7F53F}"/>
              </a:ext>
            </a:extLst>
          </p:cNvPr>
          <p:cNvPicPr>
            <a:picLocks noChangeAspect="1"/>
          </p:cNvPicPr>
          <p:nvPr/>
        </p:nvPicPr>
        <p:blipFill>
          <a:blip r:embed="rId3"/>
          <a:stretch>
            <a:fillRect/>
          </a:stretch>
        </p:blipFill>
        <p:spPr>
          <a:xfrm>
            <a:off x="3411415" y="621356"/>
            <a:ext cx="8780585" cy="6236644"/>
          </a:xfrm>
          <a:prstGeom prst="rect">
            <a:avLst/>
          </a:prstGeom>
        </p:spPr>
      </p:pic>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3813824" y="977778"/>
            <a:ext cx="6373529" cy="701188"/>
          </a:xfrm>
        </p:spPr>
        <p:txBody>
          <a:bodyPr/>
          <a:lstStyle/>
          <a:p>
            <a:r>
              <a:rPr lang="en-US" dirty="0"/>
              <a:t>ASSIGNMENT</a:t>
            </a:r>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20</a:t>
            </a:fld>
            <a:endParaRPr lang="en-US" dirty="0"/>
          </a:p>
        </p:txBody>
      </p:sp>
      <p:sp>
        <p:nvSpPr>
          <p:cNvPr id="4" name="Content Placeholder 3">
            <a:extLst>
              <a:ext uri="{FF2B5EF4-FFF2-40B4-BE49-F238E27FC236}">
                <a16:creationId xmlns:a16="http://schemas.microsoft.com/office/drawing/2014/main" id="{BDDD6BDC-E008-6AB7-55A1-46ED9BCF054F}"/>
              </a:ext>
            </a:extLst>
          </p:cNvPr>
          <p:cNvSpPr>
            <a:spLocks noGrp="1"/>
          </p:cNvSpPr>
          <p:nvPr>
            <p:ph idx="11"/>
          </p:nvPr>
        </p:nvSpPr>
        <p:spPr>
          <a:xfrm>
            <a:off x="4279898" y="1712885"/>
            <a:ext cx="7043618" cy="2233233"/>
          </a:xfrm>
        </p:spPr>
        <p:txBody>
          <a:bodyPr/>
          <a:lstStyle/>
          <a:p>
            <a:r>
              <a:rPr lang="en-US" dirty="0">
                <a:solidFill>
                  <a:schemeClr val="bg1">
                    <a:lumMod val="75000"/>
                  </a:schemeClr>
                </a:solidFill>
              </a:rPr>
              <a:t>HANDS ON TIME!!</a:t>
            </a:r>
          </a:p>
        </p:txBody>
      </p:sp>
    </p:spTree>
    <p:extLst>
      <p:ext uri="{BB962C8B-B14F-4D97-AF65-F5344CB8AC3E}">
        <p14:creationId xmlns:p14="http://schemas.microsoft.com/office/powerpoint/2010/main" val="28727142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43EC8A-1733-CCF7-081F-EB4667CB3285}"/>
              </a:ext>
            </a:extLst>
          </p:cNvPr>
          <p:cNvSpPr>
            <a:spLocks noGrp="1"/>
          </p:cNvSpPr>
          <p:nvPr>
            <p:ph type="title"/>
          </p:nvPr>
        </p:nvSpPr>
        <p:spPr>
          <a:xfrm>
            <a:off x="175847" y="347061"/>
            <a:ext cx="9355015" cy="691763"/>
          </a:xfrm>
        </p:spPr>
        <p:txBody>
          <a:bodyPr/>
          <a:lstStyle/>
          <a:p>
            <a:r>
              <a:rPr lang="en-US" sz="2400" i="1" dirty="0" err="1">
                <a:latin typeface="+mn-lt"/>
                <a:ea typeface="+mn-ea"/>
                <a:cs typeface="+mn-cs"/>
              </a:rPr>
              <a:t>Optimising</a:t>
            </a:r>
            <a:r>
              <a:rPr lang="en-US" sz="2400" i="1" dirty="0">
                <a:latin typeface="+mn-lt"/>
                <a:ea typeface="+mn-ea"/>
                <a:cs typeface="+mn-cs"/>
              </a:rPr>
              <a:t> Your Website's First Impression</a:t>
            </a:r>
            <a:br>
              <a:rPr lang="en-US" sz="2400" i="1" dirty="0">
                <a:latin typeface="+mn-lt"/>
                <a:ea typeface="+mn-ea"/>
                <a:cs typeface="+mn-cs"/>
              </a:rPr>
            </a:br>
            <a:endParaRPr lang="en-US" sz="2400" i="1" dirty="0">
              <a:latin typeface="+mn-lt"/>
              <a:ea typeface="+mn-ea"/>
              <a:cs typeface="+mn-cs"/>
            </a:endParaRPr>
          </a:p>
        </p:txBody>
      </p:sp>
      <p:sp>
        <p:nvSpPr>
          <p:cNvPr id="4" name="Content Placeholder 3">
            <a:extLst>
              <a:ext uri="{FF2B5EF4-FFF2-40B4-BE49-F238E27FC236}">
                <a16:creationId xmlns:a16="http://schemas.microsoft.com/office/drawing/2014/main" id="{ACE55D3D-AA24-CF53-6679-29B3C83F7646}"/>
              </a:ext>
            </a:extLst>
          </p:cNvPr>
          <p:cNvSpPr>
            <a:spLocks noGrp="1"/>
          </p:cNvSpPr>
          <p:nvPr>
            <p:ph idx="13"/>
          </p:nvPr>
        </p:nvSpPr>
        <p:spPr>
          <a:xfrm>
            <a:off x="480645" y="762000"/>
            <a:ext cx="8417170" cy="6096000"/>
          </a:xfrm>
        </p:spPr>
        <p:txBody>
          <a:bodyPr>
            <a:normAutofit fontScale="55000" lnSpcReduction="20000"/>
          </a:bodyPr>
          <a:lstStyle/>
          <a:p>
            <a:r>
              <a:rPr lang="en-US" sz="4500" b="1" dirty="0"/>
              <a:t>Aim</a:t>
            </a:r>
            <a:r>
              <a:rPr lang="en-US" sz="4500" dirty="0"/>
              <a:t> : </a:t>
            </a:r>
            <a:r>
              <a:rPr lang="en-US" sz="4500" dirty="0">
                <a:latin typeface="+mn-lt"/>
                <a:ea typeface="+mn-ea"/>
                <a:cs typeface="+mn-cs"/>
              </a:rPr>
              <a:t>Crafting Effective Above-the-Fold Content</a:t>
            </a:r>
          </a:p>
          <a:p>
            <a:endParaRPr lang="en-US" dirty="0"/>
          </a:p>
          <a:p>
            <a:endParaRPr lang="en-US" sz="3800" dirty="0">
              <a:latin typeface="+mn-lt"/>
              <a:ea typeface="+mn-ea"/>
              <a:cs typeface="+mn-cs"/>
            </a:endParaRPr>
          </a:p>
          <a:p>
            <a:r>
              <a:rPr lang="en-US" sz="3400" b="1" dirty="0"/>
              <a:t>Objective</a:t>
            </a:r>
            <a:r>
              <a:rPr lang="en-US" sz="3400" dirty="0"/>
              <a:t>: To understand the importance of the "above the fold" section of a webpage and apply best practices for creating engaging and effective content in this crucial area.</a:t>
            </a:r>
          </a:p>
          <a:p>
            <a:endParaRPr lang="en-US" sz="2000" dirty="0">
              <a:solidFill>
                <a:srgbClr val="131314"/>
              </a:solidFill>
              <a:latin typeface="Google Sans Text"/>
            </a:endParaRPr>
          </a:p>
          <a:p>
            <a:r>
              <a:rPr lang="en-US" sz="3800" dirty="0"/>
              <a:t>Instructions:</a:t>
            </a:r>
          </a:p>
          <a:p>
            <a:pPr lvl="1"/>
            <a:r>
              <a:rPr lang="en-US" sz="3800" dirty="0"/>
              <a:t>Imagine you are a digital marketing specialist tasked with improving the user experience and SEO performance of a client's website. For this assignment, you will either </a:t>
            </a:r>
            <a:r>
              <a:rPr lang="en-US" sz="3800" dirty="0" err="1"/>
              <a:t>analyse</a:t>
            </a:r>
            <a:r>
              <a:rPr lang="en-US" sz="3800" dirty="0"/>
              <a:t> an existing website's above-the-fold section or create a hypothetical above-the-fold section for a given scenario.</a:t>
            </a:r>
          </a:p>
          <a:p>
            <a:endParaRPr lang="en-US" sz="3800" dirty="0"/>
          </a:p>
          <a:p>
            <a:r>
              <a:rPr lang="en-US" sz="3800" b="1" i="1" dirty="0"/>
              <a:t>Part 1: Analysis of an Existing Website (Option A)</a:t>
            </a:r>
          </a:p>
          <a:p>
            <a:endParaRPr lang="en-US" sz="3800" dirty="0"/>
          </a:p>
          <a:p>
            <a:r>
              <a:rPr lang="en-US" sz="3800" dirty="0"/>
              <a:t>1.Choose a website from a business or </a:t>
            </a:r>
            <a:r>
              <a:rPr lang="en-US" sz="3800" dirty="0" err="1"/>
              <a:t>organisation</a:t>
            </a:r>
            <a:r>
              <a:rPr lang="en-US" sz="3800" dirty="0"/>
              <a:t> you are familiar with.</a:t>
            </a:r>
          </a:p>
          <a:p>
            <a:endParaRPr lang="en-US" sz="3800" dirty="0"/>
          </a:p>
          <a:p>
            <a:r>
              <a:rPr lang="en-US" sz="3800" dirty="0"/>
              <a:t>2.Analyse the "above the fold" section of their homepage or a key landing page. Consider the following aspects, drawing on the information from the sources:</a:t>
            </a:r>
          </a:p>
          <a:p>
            <a:endParaRPr lang="en-US" sz="3800" dirty="0"/>
          </a:p>
          <a:p>
            <a:endParaRPr lang="en-US" dirty="0"/>
          </a:p>
        </p:txBody>
      </p:sp>
      <p:pic>
        <p:nvPicPr>
          <p:cNvPr id="7" name="Picture Placeholder 6" descr="A person wearing glasses and a blue shirt">
            <a:extLst>
              <a:ext uri="{FF2B5EF4-FFF2-40B4-BE49-F238E27FC236}">
                <a16:creationId xmlns:a16="http://schemas.microsoft.com/office/drawing/2014/main" id="{C570EB79-053B-0283-9D2D-6266701EEDDD}"/>
              </a:ext>
            </a:extLst>
          </p:cNvPr>
          <p:cNvPicPr>
            <a:picLocks noGrp="1" noChangeAspect="1"/>
          </p:cNvPicPr>
          <p:nvPr>
            <p:ph type="pic" sz="quarter" idx="14"/>
          </p:nvPr>
        </p:nvPicPr>
        <p:blipFill rotWithShape="1">
          <a:blip r:embed="rId3">
            <a:duotone>
              <a:prstClr val="black"/>
              <a:schemeClr val="accent4">
                <a:tint val="45000"/>
                <a:satMod val="400000"/>
              </a:schemeClr>
            </a:duotone>
          </a:blip>
          <a:srcRect l="19088" r="19088"/>
          <a:stretch/>
        </p:blipFill>
        <p:spPr>
          <a:xfrm>
            <a:off x="8989454" y="3405189"/>
            <a:ext cx="3202546" cy="3452811"/>
          </a:xfrm>
        </p:spPr>
      </p:pic>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21</a:t>
            </a:fld>
            <a:endParaRPr lang="en-US" dirty="0"/>
          </a:p>
        </p:txBody>
      </p:sp>
    </p:spTree>
    <p:extLst>
      <p:ext uri="{BB962C8B-B14F-4D97-AF65-F5344CB8AC3E}">
        <p14:creationId xmlns:p14="http://schemas.microsoft.com/office/powerpoint/2010/main" val="40721017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43EC8A-1733-CCF7-081F-EB4667CB3285}"/>
              </a:ext>
            </a:extLst>
          </p:cNvPr>
          <p:cNvSpPr>
            <a:spLocks noGrp="1"/>
          </p:cNvSpPr>
          <p:nvPr>
            <p:ph type="title"/>
          </p:nvPr>
        </p:nvSpPr>
        <p:spPr>
          <a:xfrm>
            <a:off x="175847" y="347061"/>
            <a:ext cx="9355015" cy="691763"/>
          </a:xfrm>
        </p:spPr>
        <p:txBody>
          <a:bodyPr/>
          <a:lstStyle/>
          <a:p>
            <a:r>
              <a:rPr lang="en-US" sz="2400" i="1" dirty="0" err="1">
                <a:latin typeface="+mn-lt"/>
                <a:ea typeface="+mn-ea"/>
                <a:cs typeface="+mn-cs"/>
              </a:rPr>
              <a:t>Optimising</a:t>
            </a:r>
            <a:r>
              <a:rPr lang="en-US" sz="2400" i="1" dirty="0">
                <a:latin typeface="+mn-lt"/>
                <a:ea typeface="+mn-ea"/>
                <a:cs typeface="+mn-cs"/>
              </a:rPr>
              <a:t> Your Website's First Impression</a:t>
            </a:r>
            <a:br>
              <a:rPr lang="en-US" sz="2400" i="1" dirty="0">
                <a:latin typeface="+mn-lt"/>
                <a:ea typeface="+mn-ea"/>
                <a:cs typeface="+mn-cs"/>
              </a:rPr>
            </a:br>
            <a:endParaRPr lang="en-US" sz="2400" i="1" dirty="0">
              <a:latin typeface="+mn-lt"/>
              <a:ea typeface="+mn-ea"/>
              <a:cs typeface="+mn-cs"/>
            </a:endParaRPr>
          </a:p>
        </p:txBody>
      </p:sp>
      <p:sp>
        <p:nvSpPr>
          <p:cNvPr id="4" name="Content Placeholder 3">
            <a:extLst>
              <a:ext uri="{FF2B5EF4-FFF2-40B4-BE49-F238E27FC236}">
                <a16:creationId xmlns:a16="http://schemas.microsoft.com/office/drawing/2014/main" id="{ACE55D3D-AA24-CF53-6679-29B3C83F7646}"/>
              </a:ext>
            </a:extLst>
          </p:cNvPr>
          <p:cNvSpPr>
            <a:spLocks noGrp="1"/>
          </p:cNvSpPr>
          <p:nvPr>
            <p:ph idx="13"/>
          </p:nvPr>
        </p:nvSpPr>
        <p:spPr>
          <a:xfrm>
            <a:off x="480645" y="762000"/>
            <a:ext cx="8264770" cy="6096000"/>
          </a:xfrm>
        </p:spPr>
        <p:txBody>
          <a:bodyPr>
            <a:normAutofit fontScale="47500" lnSpcReduction="20000"/>
          </a:bodyPr>
          <a:lstStyle/>
          <a:p>
            <a:pPr marL="0" lvl="2" indent="0">
              <a:buNone/>
            </a:pPr>
            <a:r>
              <a:rPr lang="en-US" sz="3800" b="1" dirty="0"/>
              <a:t>Keyword</a:t>
            </a:r>
            <a:r>
              <a:rPr lang="en-US" sz="3800" dirty="0"/>
              <a:t> </a:t>
            </a:r>
            <a:r>
              <a:rPr lang="en-US" sz="3800" b="1" dirty="0"/>
              <a:t>Inclusion</a:t>
            </a:r>
            <a:r>
              <a:rPr lang="en-US" sz="3800" dirty="0"/>
              <a:t>: Does it include the main keyword(s) naturally?</a:t>
            </a:r>
          </a:p>
          <a:p>
            <a:pPr marL="0" lvl="2" indent="0">
              <a:buNone/>
            </a:pPr>
            <a:endParaRPr lang="en-US" sz="3800" dirty="0"/>
          </a:p>
          <a:p>
            <a:pPr marL="0" lvl="2" indent="0">
              <a:buNone/>
            </a:pPr>
            <a:r>
              <a:rPr lang="en-US" sz="3800" b="1" dirty="0"/>
              <a:t>Value</a:t>
            </a:r>
            <a:r>
              <a:rPr lang="en-US" sz="3800" dirty="0"/>
              <a:t> </a:t>
            </a:r>
            <a:r>
              <a:rPr lang="en-US" sz="3800" b="1" dirty="0"/>
              <a:t>Proposition</a:t>
            </a:r>
            <a:r>
              <a:rPr lang="en-US" sz="3800" dirty="0"/>
              <a:t>: Does it clearly communicate the value the website offers to visitors?</a:t>
            </a:r>
          </a:p>
          <a:p>
            <a:pPr marL="0" lvl="2" indent="0">
              <a:buNone/>
            </a:pPr>
            <a:endParaRPr lang="en-US" sz="3800" dirty="0"/>
          </a:p>
          <a:p>
            <a:pPr marL="0" lvl="2" indent="0">
              <a:buNone/>
            </a:pPr>
            <a:r>
              <a:rPr lang="en-US" sz="3800" b="1" dirty="0"/>
              <a:t>Language</a:t>
            </a:r>
            <a:r>
              <a:rPr lang="en-US" sz="3800" dirty="0"/>
              <a:t>: Is the language clear and simple?</a:t>
            </a:r>
          </a:p>
          <a:p>
            <a:pPr marL="0" lvl="2" indent="0">
              <a:buNone/>
            </a:pPr>
            <a:endParaRPr lang="en-US" sz="3800" dirty="0"/>
          </a:p>
          <a:p>
            <a:pPr marL="0" lvl="2" indent="0">
              <a:buNone/>
            </a:pPr>
            <a:r>
              <a:rPr lang="en-US" sz="3800" b="1" dirty="0"/>
              <a:t>Intrusive</a:t>
            </a:r>
            <a:r>
              <a:rPr lang="en-US" sz="3800" dirty="0"/>
              <a:t> </a:t>
            </a:r>
            <a:r>
              <a:rPr lang="en-US" sz="3800" b="1" dirty="0"/>
              <a:t>Elements</a:t>
            </a:r>
            <a:r>
              <a:rPr lang="en-US" sz="3800" dirty="0"/>
              <a:t>: Are there any elements that might be considered intrusive and detract from the initial impression?</a:t>
            </a:r>
          </a:p>
          <a:p>
            <a:pPr marL="0" lvl="2" indent="0">
              <a:buNone/>
            </a:pPr>
            <a:endParaRPr lang="en-US" sz="3800" dirty="0"/>
          </a:p>
          <a:p>
            <a:pPr marL="0" lvl="2" indent="0">
              <a:buNone/>
            </a:pPr>
            <a:r>
              <a:rPr lang="en-US" sz="3800" b="1" dirty="0"/>
              <a:t>Call to Action (CTA)</a:t>
            </a:r>
            <a:r>
              <a:rPr lang="en-US" sz="3800" dirty="0"/>
              <a:t>: If the page has a primary conversion goal, is there a clear and value-focused CTA visible above the fold? Is it specific?</a:t>
            </a:r>
          </a:p>
          <a:p>
            <a:pPr marL="0" lvl="2" indent="0">
              <a:buNone/>
            </a:pPr>
            <a:endParaRPr lang="en-US" sz="3800" dirty="0"/>
          </a:p>
          <a:p>
            <a:pPr marL="0" lvl="2" indent="0">
              <a:buNone/>
            </a:pPr>
            <a:r>
              <a:rPr lang="en-US" sz="3800" b="1" dirty="0"/>
              <a:t>Visual</a:t>
            </a:r>
            <a:r>
              <a:rPr lang="en-US" sz="3800" dirty="0"/>
              <a:t> </a:t>
            </a:r>
            <a:r>
              <a:rPr lang="en-US" sz="3800" b="1" dirty="0"/>
              <a:t>Appeal</a:t>
            </a:r>
            <a:r>
              <a:rPr lang="en-US" sz="3800" dirty="0"/>
              <a:t>: Does the initial visual impression support the content and encourage further engagement? (Note: This goes slightly beyond the text in the sources but is relevant to UX).</a:t>
            </a:r>
          </a:p>
          <a:p>
            <a:pPr marL="0" lvl="2" indent="0">
              <a:buNone/>
            </a:pPr>
            <a:endParaRPr lang="en-US" sz="3800" dirty="0"/>
          </a:p>
          <a:p>
            <a:pPr marL="0" lvl="2" indent="0">
              <a:buNone/>
            </a:pPr>
            <a:r>
              <a:rPr lang="en-US" sz="3800" b="1" dirty="0"/>
              <a:t>Scalability</a:t>
            </a:r>
            <a:r>
              <a:rPr lang="en-US" sz="3800" dirty="0"/>
              <a:t>: Is the content broken up into easy-to-scan chunks using short sentences, paragraphs, white space, images, or subheadings?</a:t>
            </a:r>
          </a:p>
          <a:p>
            <a:pPr marL="0" lvl="2" indent="0">
              <a:buNone/>
            </a:pPr>
            <a:endParaRPr lang="en-US" sz="3800" dirty="0"/>
          </a:p>
          <a:p>
            <a:r>
              <a:rPr lang="en-US" sz="3800" dirty="0"/>
              <a:t>3.Write a brief report (250-300 words) outlining your findings. Identify the strengths and weaknesses of the website's above-the-fold content based on the principles discussed in the sources. Suggest specific improvements that could be made to enhance user engagement and potentially improve performance.</a:t>
            </a:r>
          </a:p>
          <a:p>
            <a:endParaRPr lang="en-US" dirty="0"/>
          </a:p>
        </p:txBody>
      </p:sp>
      <p:pic>
        <p:nvPicPr>
          <p:cNvPr id="7" name="Picture Placeholder 6" descr="A person wearing glasses and a blue shirt">
            <a:extLst>
              <a:ext uri="{FF2B5EF4-FFF2-40B4-BE49-F238E27FC236}">
                <a16:creationId xmlns:a16="http://schemas.microsoft.com/office/drawing/2014/main" id="{C570EB79-053B-0283-9D2D-6266701EEDDD}"/>
              </a:ext>
            </a:extLst>
          </p:cNvPr>
          <p:cNvPicPr>
            <a:picLocks noGrp="1" noChangeAspect="1"/>
          </p:cNvPicPr>
          <p:nvPr>
            <p:ph type="pic" sz="quarter" idx="14"/>
          </p:nvPr>
        </p:nvPicPr>
        <p:blipFill rotWithShape="1">
          <a:blip r:embed="rId3">
            <a:duotone>
              <a:prstClr val="black"/>
              <a:schemeClr val="accent4">
                <a:tint val="45000"/>
                <a:satMod val="400000"/>
              </a:schemeClr>
            </a:duotone>
          </a:blip>
          <a:srcRect l="19088" r="19088"/>
          <a:stretch/>
        </p:blipFill>
        <p:spPr>
          <a:xfrm>
            <a:off x="8989454" y="3405189"/>
            <a:ext cx="3202546" cy="3452811"/>
          </a:xfrm>
        </p:spPr>
      </p:pic>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22</a:t>
            </a:fld>
            <a:endParaRPr lang="en-US" dirty="0"/>
          </a:p>
        </p:txBody>
      </p:sp>
    </p:spTree>
    <p:extLst>
      <p:ext uri="{BB962C8B-B14F-4D97-AF65-F5344CB8AC3E}">
        <p14:creationId xmlns:p14="http://schemas.microsoft.com/office/powerpoint/2010/main" val="17432381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43EC8A-1733-CCF7-081F-EB4667CB3285}"/>
              </a:ext>
            </a:extLst>
          </p:cNvPr>
          <p:cNvSpPr>
            <a:spLocks noGrp="1"/>
          </p:cNvSpPr>
          <p:nvPr>
            <p:ph type="title"/>
          </p:nvPr>
        </p:nvSpPr>
        <p:spPr>
          <a:xfrm>
            <a:off x="175847" y="347061"/>
            <a:ext cx="9355015" cy="581627"/>
          </a:xfrm>
        </p:spPr>
        <p:txBody>
          <a:bodyPr/>
          <a:lstStyle/>
          <a:p>
            <a:r>
              <a:rPr lang="en-US" sz="2400" i="1" dirty="0" err="1">
                <a:latin typeface="+mn-lt"/>
                <a:ea typeface="+mn-ea"/>
                <a:cs typeface="+mn-cs"/>
              </a:rPr>
              <a:t>Optimising</a:t>
            </a:r>
            <a:r>
              <a:rPr lang="en-US" sz="2400" i="1" dirty="0">
                <a:latin typeface="+mn-lt"/>
                <a:ea typeface="+mn-ea"/>
                <a:cs typeface="+mn-cs"/>
              </a:rPr>
              <a:t> Your Website's First Impression</a:t>
            </a:r>
            <a:br>
              <a:rPr lang="en-US" sz="2400" i="1" dirty="0">
                <a:latin typeface="+mn-lt"/>
                <a:ea typeface="+mn-ea"/>
                <a:cs typeface="+mn-cs"/>
              </a:rPr>
            </a:br>
            <a:endParaRPr lang="en-US" sz="2400" i="1" dirty="0">
              <a:latin typeface="+mn-lt"/>
              <a:ea typeface="+mn-ea"/>
              <a:cs typeface="+mn-cs"/>
            </a:endParaRPr>
          </a:p>
        </p:txBody>
      </p:sp>
      <p:sp>
        <p:nvSpPr>
          <p:cNvPr id="4" name="Content Placeholder 3">
            <a:extLst>
              <a:ext uri="{FF2B5EF4-FFF2-40B4-BE49-F238E27FC236}">
                <a16:creationId xmlns:a16="http://schemas.microsoft.com/office/drawing/2014/main" id="{ACE55D3D-AA24-CF53-6679-29B3C83F7646}"/>
              </a:ext>
            </a:extLst>
          </p:cNvPr>
          <p:cNvSpPr>
            <a:spLocks noGrp="1"/>
          </p:cNvSpPr>
          <p:nvPr>
            <p:ph idx="13"/>
          </p:nvPr>
        </p:nvSpPr>
        <p:spPr>
          <a:xfrm>
            <a:off x="480645" y="1171206"/>
            <a:ext cx="8358555" cy="5452332"/>
          </a:xfrm>
        </p:spPr>
        <p:txBody>
          <a:bodyPr>
            <a:normAutofit fontScale="85000" lnSpcReduction="20000"/>
          </a:bodyPr>
          <a:lstStyle/>
          <a:p>
            <a:r>
              <a:rPr lang="en-US" b="1" dirty="0"/>
              <a:t>Part 2: Creating Hypothetical Above-the-Fold Content (Option B)</a:t>
            </a:r>
          </a:p>
          <a:p>
            <a:endParaRPr lang="en-US" dirty="0"/>
          </a:p>
          <a:p>
            <a:pPr marL="342900" indent="-342900">
              <a:buFont typeface="Arial" panose="020B0604020202020204" pitchFamily="34" charset="0"/>
              <a:buChar char="•"/>
            </a:pPr>
            <a:r>
              <a:rPr lang="en-US" dirty="0"/>
              <a:t>A local bakery wants to attract more customers to their shop.</a:t>
            </a:r>
          </a:p>
          <a:p>
            <a:pPr marL="342900" indent="-342900">
              <a:buFont typeface="Arial" panose="020B0604020202020204" pitchFamily="34" charset="0"/>
              <a:buChar char="•"/>
            </a:pPr>
            <a:r>
              <a:rPr lang="en-US" dirty="0"/>
              <a:t>An online retailer selling eco-friendly household goods wants to highlight their unique selling proposition.</a:t>
            </a:r>
          </a:p>
          <a:p>
            <a:pPr marL="342900" indent="-342900">
              <a:buFont typeface="Arial" panose="020B0604020202020204" pitchFamily="34" charset="0"/>
              <a:buChar char="•"/>
            </a:pPr>
            <a:r>
              <a:rPr lang="en-US" dirty="0"/>
              <a:t>A software company offers a free trial of their latest product.</a:t>
            </a:r>
          </a:p>
          <a:p>
            <a:pPr marL="342900" indent="-342900">
              <a:buFont typeface="Arial" panose="020B0604020202020204" pitchFamily="34" charset="0"/>
              <a:buChar char="•"/>
            </a:pPr>
            <a:endParaRPr lang="en-US" dirty="0"/>
          </a:p>
          <a:p>
            <a:r>
              <a:rPr lang="en-US" dirty="0"/>
              <a:t>2. Design the "above the fold" section for the homepage of this business. Your design should include:</a:t>
            </a:r>
          </a:p>
          <a:p>
            <a:pPr lvl="2"/>
            <a:r>
              <a:rPr lang="en-US" dirty="0"/>
              <a:t>A compelling headline that incorporates a relevant keyword naturally.</a:t>
            </a:r>
          </a:p>
          <a:p>
            <a:pPr lvl="2"/>
            <a:r>
              <a:rPr lang="en-US" dirty="0"/>
              <a:t>Clear and concise text that immediately provides value to the visitor.</a:t>
            </a:r>
          </a:p>
          <a:p>
            <a:pPr lvl="2"/>
            <a:r>
              <a:rPr lang="en-US" dirty="0"/>
              <a:t>Clear, simple language, avoiding jargon.</a:t>
            </a:r>
          </a:p>
          <a:p>
            <a:pPr lvl="2"/>
            <a:r>
              <a:rPr lang="en-US" dirty="0"/>
              <a:t>A specific and value-focused Call to Action (CTA) if applicable to your scenario.</a:t>
            </a:r>
          </a:p>
          <a:p>
            <a:pPr lvl="2"/>
            <a:r>
              <a:rPr lang="en-US" dirty="0"/>
              <a:t>Consider how you would break up the text for easy scanning, even if you are just describing the elements.</a:t>
            </a:r>
          </a:p>
          <a:p>
            <a:r>
              <a:rPr lang="en-US" dirty="0"/>
              <a:t>3. Write a brief explanation (200-250 words) justifying your design choices. Explain how your above-the-fold content adheres to the principles discussed in the sources and how it aims to improve user experience and encourage further interaction with the website.</a:t>
            </a:r>
          </a:p>
        </p:txBody>
      </p:sp>
      <p:pic>
        <p:nvPicPr>
          <p:cNvPr id="7" name="Picture Placeholder 6" descr="A person wearing glasses and a blue shirt">
            <a:extLst>
              <a:ext uri="{FF2B5EF4-FFF2-40B4-BE49-F238E27FC236}">
                <a16:creationId xmlns:a16="http://schemas.microsoft.com/office/drawing/2014/main" id="{C570EB79-053B-0283-9D2D-6266701EEDDD}"/>
              </a:ext>
            </a:extLst>
          </p:cNvPr>
          <p:cNvPicPr>
            <a:picLocks noGrp="1" noChangeAspect="1"/>
          </p:cNvPicPr>
          <p:nvPr>
            <p:ph type="pic" sz="quarter" idx="14"/>
          </p:nvPr>
        </p:nvPicPr>
        <p:blipFill rotWithShape="1">
          <a:blip r:embed="rId3">
            <a:duotone>
              <a:prstClr val="black"/>
              <a:schemeClr val="accent4">
                <a:tint val="45000"/>
                <a:satMod val="400000"/>
              </a:schemeClr>
            </a:duotone>
          </a:blip>
          <a:srcRect l="19088" r="19088"/>
          <a:stretch/>
        </p:blipFill>
        <p:spPr>
          <a:xfrm>
            <a:off x="8989454" y="3405189"/>
            <a:ext cx="3202546" cy="3452811"/>
          </a:xfrm>
        </p:spPr>
      </p:pic>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23</a:t>
            </a:fld>
            <a:endParaRPr lang="en-US" dirty="0"/>
          </a:p>
        </p:txBody>
      </p:sp>
    </p:spTree>
    <p:extLst>
      <p:ext uri="{BB962C8B-B14F-4D97-AF65-F5344CB8AC3E}">
        <p14:creationId xmlns:p14="http://schemas.microsoft.com/office/powerpoint/2010/main" val="29310323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24</a:t>
            </a:fld>
            <a:endParaRPr lang="en-US" dirty="0"/>
          </a:p>
        </p:txBody>
      </p:sp>
      <p:pic>
        <p:nvPicPr>
          <p:cNvPr id="6" name="Picture 5" descr="Young boy holding sign smiling">
            <a:extLst>
              <a:ext uri="{FF2B5EF4-FFF2-40B4-BE49-F238E27FC236}">
                <a16:creationId xmlns:a16="http://schemas.microsoft.com/office/drawing/2014/main" id="{6835ED03-5C54-41A6-B31E-5F8FF44CA875}"/>
              </a:ext>
            </a:extLst>
          </p:cNvPr>
          <p:cNvPicPr>
            <a:picLocks noChangeAspect="1"/>
          </p:cNvPicPr>
          <p:nvPr/>
        </p:nvPicPr>
        <p:blipFill>
          <a:blip r:embed="rId3"/>
          <a:stretch>
            <a:fillRect/>
          </a:stretch>
        </p:blipFill>
        <p:spPr>
          <a:xfrm>
            <a:off x="3707850" y="205794"/>
            <a:ext cx="5643808" cy="6059549"/>
          </a:xfrm>
          <a:prstGeom prst="rect">
            <a:avLst/>
          </a:prstGeom>
        </p:spPr>
      </p:pic>
      <p:sp>
        <p:nvSpPr>
          <p:cNvPr id="4" name="Content Placeholder 3">
            <a:extLst>
              <a:ext uri="{FF2B5EF4-FFF2-40B4-BE49-F238E27FC236}">
                <a16:creationId xmlns:a16="http://schemas.microsoft.com/office/drawing/2014/main" id="{BDDD6BDC-E008-6AB7-55A1-46ED9BCF054F}"/>
              </a:ext>
            </a:extLst>
          </p:cNvPr>
          <p:cNvSpPr>
            <a:spLocks noGrp="1"/>
          </p:cNvSpPr>
          <p:nvPr>
            <p:ph idx="11"/>
          </p:nvPr>
        </p:nvSpPr>
        <p:spPr>
          <a:xfrm>
            <a:off x="4095177" y="2351301"/>
            <a:ext cx="7043618" cy="2233233"/>
          </a:xfrm>
        </p:spPr>
        <p:txBody>
          <a:bodyPr/>
          <a:lstStyle/>
          <a:p>
            <a:r>
              <a:rPr lang="en-US" dirty="0"/>
              <a:t>Optimize your Page</a:t>
            </a:r>
          </a:p>
        </p:txBody>
      </p:sp>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4364810" y="1057274"/>
            <a:ext cx="6073666" cy="1193557"/>
          </a:xfrm>
        </p:spPr>
        <p:txBody>
          <a:bodyPr/>
          <a:lstStyle/>
          <a:p>
            <a:r>
              <a:rPr lang="en-US" dirty="0"/>
              <a:t>ON PAGE SEO</a:t>
            </a:r>
          </a:p>
        </p:txBody>
      </p:sp>
    </p:spTree>
    <p:extLst>
      <p:ext uri="{BB962C8B-B14F-4D97-AF65-F5344CB8AC3E}">
        <p14:creationId xmlns:p14="http://schemas.microsoft.com/office/powerpoint/2010/main" val="21934901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55F2D4-C20E-BEBC-1CCF-4449B0456A7E}"/>
              </a:ext>
            </a:extLst>
          </p:cNvPr>
          <p:cNvSpPr>
            <a:spLocks noGrp="1"/>
          </p:cNvSpPr>
          <p:nvPr>
            <p:ph type="title"/>
          </p:nvPr>
        </p:nvSpPr>
        <p:spPr>
          <a:xfrm>
            <a:off x="531513" y="0"/>
            <a:ext cx="7631709" cy="1091627"/>
          </a:xfrm>
        </p:spPr>
        <p:txBody>
          <a:bodyPr/>
          <a:lstStyle/>
          <a:p>
            <a:r>
              <a:rPr lang="en-US" dirty="0"/>
              <a:t>Introduction</a:t>
            </a:r>
          </a:p>
        </p:txBody>
      </p:sp>
      <p:sp>
        <p:nvSpPr>
          <p:cNvPr id="14" name="Content Placeholder 7">
            <a:extLst>
              <a:ext uri="{FF2B5EF4-FFF2-40B4-BE49-F238E27FC236}">
                <a16:creationId xmlns:a16="http://schemas.microsoft.com/office/drawing/2014/main" id="{749C7CD1-A9AA-49E3-6734-AD9546F2DF5B}"/>
              </a:ext>
            </a:extLst>
          </p:cNvPr>
          <p:cNvSpPr>
            <a:spLocks noGrp="1"/>
          </p:cNvSpPr>
          <p:nvPr>
            <p:ph sz="half" idx="15"/>
          </p:nvPr>
        </p:nvSpPr>
        <p:spPr>
          <a:xfrm>
            <a:off x="433754" y="1266092"/>
            <a:ext cx="5377018" cy="5591908"/>
          </a:xfrm>
        </p:spPr>
        <p:txBody>
          <a:bodyPr>
            <a:normAutofit fontScale="92500" lnSpcReduction="20000"/>
          </a:bodyPr>
          <a:lstStyle/>
          <a:p>
            <a:pPr marL="0" indent="0" algn="l">
              <a:buNone/>
            </a:pPr>
            <a:r>
              <a:rPr lang="en-US" sz="1900" dirty="0">
                <a:hlinkClick r:id="rId3">
                  <a:extLst>
                    <a:ext uri="{A12FA001-AC4F-418D-AE19-62706E023703}">
                      <ahyp:hlinkClr xmlns:ahyp="http://schemas.microsoft.com/office/drawing/2018/hyperlinkcolor" val="tx"/>
                    </a:ext>
                  </a:extLst>
                </a:hlinkClick>
              </a:rPr>
              <a:t>On-page SEO</a:t>
            </a:r>
            <a:r>
              <a:rPr lang="en-US" sz="1900" dirty="0"/>
              <a:t> is the process of optimizing a page’s content, HTML elements, and structure to provide a better user experience and increase your chances of ranking well.</a:t>
            </a:r>
          </a:p>
          <a:p>
            <a:pPr marL="0" indent="0" algn="l">
              <a:buNone/>
            </a:pPr>
            <a:r>
              <a:rPr lang="en-US" dirty="0"/>
              <a:t>Here are some on-page SEO elements you can optimize today: </a:t>
            </a:r>
          </a:p>
          <a:p>
            <a:pPr marL="0" indent="0" algn="l">
              <a:buNone/>
            </a:pPr>
            <a:r>
              <a:rPr lang="en-US" sz="2200" b="1" dirty="0"/>
              <a:t>Title Tags</a:t>
            </a:r>
          </a:p>
          <a:p>
            <a:pPr algn="l"/>
            <a:r>
              <a:rPr lang="en-US" sz="2000" dirty="0">
                <a:hlinkClick r:id="rId4">
                  <a:extLst>
                    <a:ext uri="{A12FA001-AC4F-418D-AE19-62706E023703}">
                      <ahyp:hlinkClr xmlns:ahyp="http://schemas.microsoft.com/office/drawing/2018/hyperlinkcolor" val="tx"/>
                    </a:ext>
                  </a:extLst>
                </a:hlinkClick>
              </a:rPr>
              <a:t>Title tags</a:t>
            </a:r>
            <a:r>
              <a:rPr lang="en-US" sz="2000" dirty="0"/>
              <a:t> are HTML titles that can appear as clickable headlines in search results. </a:t>
            </a:r>
          </a:p>
          <a:p>
            <a:r>
              <a:rPr lang="en-US" sz="2000" dirty="0"/>
              <a:t>Google uses title tags to understand your content's topic. But, more importantly, compelling titles convince people to click through to your site.</a:t>
            </a:r>
          </a:p>
          <a:p>
            <a:r>
              <a:rPr lang="en-US" sz="2000" dirty="0"/>
              <a:t>Do the following to write effective title tags:</a:t>
            </a:r>
          </a:p>
          <a:p>
            <a:pPr lvl="1">
              <a:buFont typeface="Arial" panose="020B0604020202020204" pitchFamily="34" charset="0"/>
              <a:buChar char="•"/>
            </a:pPr>
            <a:r>
              <a:rPr lang="en-US" sz="2000" dirty="0"/>
              <a:t>Stay between 50-60 characters</a:t>
            </a:r>
          </a:p>
          <a:p>
            <a:pPr lvl="1">
              <a:buFont typeface="Arial" panose="020B0604020202020204" pitchFamily="34" charset="0"/>
              <a:buChar char="•"/>
            </a:pPr>
            <a:r>
              <a:rPr lang="en-US" sz="2000" dirty="0"/>
              <a:t>Include a target keyword</a:t>
            </a:r>
          </a:p>
          <a:p>
            <a:pPr lvl="1">
              <a:buFont typeface="Arial" panose="020B0604020202020204" pitchFamily="34" charset="0"/>
              <a:buChar char="•"/>
            </a:pPr>
            <a:r>
              <a:rPr lang="en-US" sz="2000" dirty="0"/>
              <a:t>Clearly describe the page</a:t>
            </a:r>
          </a:p>
          <a:p>
            <a:pPr lvl="1">
              <a:buFont typeface="Arial" panose="020B0604020202020204" pitchFamily="34" charset="0"/>
              <a:buChar char="•"/>
            </a:pPr>
            <a:r>
              <a:rPr lang="en-US" sz="2000" dirty="0"/>
              <a:t>Write a unique title tag for each page.</a:t>
            </a:r>
          </a:p>
          <a:p>
            <a:pPr algn="l"/>
            <a:endParaRPr lang="en-US" dirty="0"/>
          </a:p>
          <a:p>
            <a:pPr algn="l"/>
            <a:endParaRPr lang="en-US" dirty="0"/>
          </a:p>
        </p:txBody>
      </p:sp>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25</a:t>
            </a:fld>
            <a:endParaRPr lang="en-US" dirty="0"/>
          </a:p>
        </p:txBody>
      </p:sp>
      <p:sp>
        <p:nvSpPr>
          <p:cNvPr id="5" name="Picture Placeholder 4">
            <a:extLst>
              <a:ext uri="{FF2B5EF4-FFF2-40B4-BE49-F238E27FC236}">
                <a16:creationId xmlns:a16="http://schemas.microsoft.com/office/drawing/2014/main" id="{1415A4E7-F8F6-464C-B8CF-B706875D2BEC}"/>
              </a:ext>
            </a:extLst>
          </p:cNvPr>
          <p:cNvSpPr>
            <a:spLocks noGrp="1"/>
          </p:cNvSpPr>
          <p:nvPr>
            <p:ph type="pic" sz="quarter" idx="14"/>
          </p:nvPr>
        </p:nvSpPr>
        <p:spPr/>
      </p:sp>
      <p:pic>
        <p:nvPicPr>
          <p:cNvPr id="8" name="Picture 2" descr="A title tag that reads &quot;5-Minute Homemade Latte (No Fancy Equipment!).&quot;">
            <a:extLst>
              <a:ext uri="{FF2B5EF4-FFF2-40B4-BE49-F238E27FC236}">
                <a16:creationId xmlns:a16="http://schemas.microsoft.com/office/drawing/2014/main" id="{DDA5D5E2-62F6-4EC3-8FDB-260E74415F0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27785" y="965393"/>
            <a:ext cx="6330461" cy="58926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70970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7">
            <a:extLst>
              <a:ext uri="{FF2B5EF4-FFF2-40B4-BE49-F238E27FC236}">
                <a16:creationId xmlns:a16="http://schemas.microsoft.com/office/drawing/2014/main" id="{749C7CD1-A9AA-49E3-6734-AD9546F2DF5B}"/>
              </a:ext>
            </a:extLst>
          </p:cNvPr>
          <p:cNvSpPr>
            <a:spLocks noGrp="1"/>
          </p:cNvSpPr>
          <p:nvPr>
            <p:ph sz="half" idx="15"/>
          </p:nvPr>
        </p:nvSpPr>
        <p:spPr>
          <a:xfrm>
            <a:off x="433754" y="566808"/>
            <a:ext cx="5377018" cy="6327897"/>
          </a:xfrm>
        </p:spPr>
        <p:txBody>
          <a:bodyPr>
            <a:normAutofit/>
          </a:bodyPr>
          <a:lstStyle/>
          <a:p>
            <a:pPr marL="0" indent="0">
              <a:lnSpc>
                <a:spcPct val="90000"/>
              </a:lnSpc>
              <a:buNone/>
            </a:pPr>
            <a:r>
              <a:rPr lang="en-US" sz="2000" b="1" dirty="0"/>
              <a:t>Meta tags</a:t>
            </a:r>
          </a:p>
          <a:p>
            <a:pPr marL="0" indent="0" algn="l">
              <a:buNone/>
            </a:pPr>
            <a:r>
              <a:rPr lang="en-US" dirty="0"/>
              <a:t>Meta Descriptions</a:t>
            </a:r>
          </a:p>
          <a:p>
            <a:pPr algn="l"/>
            <a:r>
              <a:rPr lang="en-US" sz="2000" dirty="0">
                <a:hlinkClick r:id="rId3">
                  <a:extLst>
                    <a:ext uri="{A12FA001-AC4F-418D-AE19-62706E023703}">
                      <ahyp:hlinkClr xmlns:ahyp="http://schemas.microsoft.com/office/drawing/2018/hyperlinkcolor" val="tx"/>
                    </a:ext>
                  </a:extLst>
                </a:hlinkClick>
              </a:rPr>
              <a:t>Meta descriptions</a:t>
            </a:r>
            <a:r>
              <a:rPr lang="en-US" sz="2000" dirty="0"/>
              <a:t> are short summaries of a page that can appear as a snippet below the title on SERPs.</a:t>
            </a:r>
          </a:p>
          <a:p>
            <a:pPr algn="l"/>
            <a:r>
              <a:rPr lang="en-US" sz="2000" dirty="0"/>
              <a:t>While meta descriptions don't directly affect rankings, they can influence </a:t>
            </a:r>
            <a:r>
              <a:rPr lang="en-US" sz="2000" dirty="0">
                <a:hlinkClick r:id="rId4">
                  <a:extLst>
                    <a:ext uri="{A12FA001-AC4F-418D-AE19-62706E023703}">
                      <ahyp:hlinkClr xmlns:ahyp="http://schemas.microsoft.com/office/drawing/2018/hyperlinkcolor" val="tx"/>
                    </a:ext>
                  </a:extLst>
                </a:hlinkClick>
              </a:rPr>
              <a:t>click-through rates</a:t>
            </a:r>
            <a:r>
              <a:rPr lang="en-US" sz="2000" dirty="0"/>
              <a:t>.</a:t>
            </a:r>
          </a:p>
          <a:p>
            <a:pPr algn="l"/>
            <a:r>
              <a:rPr lang="en-US" sz="2000" dirty="0"/>
              <a:t>To write effective meta descriptions, do the following:</a:t>
            </a:r>
          </a:p>
          <a:p>
            <a:pPr lvl="2">
              <a:buFont typeface="Arial" panose="020B0604020202020204" pitchFamily="34" charset="0"/>
              <a:buChar char="•"/>
            </a:pPr>
            <a:r>
              <a:rPr lang="en-US" sz="2000" dirty="0"/>
              <a:t>Stick to 105 characters or fewer</a:t>
            </a:r>
          </a:p>
          <a:p>
            <a:pPr lvl="2">
              <a:buFont typeface="Arial" panose="020B0604020202020204" pitchFamily="34" charset="0"/>
              <a:buChar char="•"/>
            </a:pPr>
            <a:r>
              <a:rPr lang="en-US" sz="2000" dirty="0"/>
              <a:t>Include the target keyword naturally</a:t>
            </a:r>
          </a:p>
          <a:p>
            <a:pPr lvl="2">
              <a:buFont typeface="Arial" panose="020B0604020202020204" pitchFamily="34" charset="0"/>
              <a:buChar char="•"/>
            </a:pPr>
            <a:r>
              <a:rPr lang="en-US" sz="2000" dirty="0"/>
              <a:t>Highlight the page's value </a:t>
            </a:r>
          </a:p>
          <a:p>
            <a:pPr lvl="2">
              <a:buFont typeface="Arial" panose="020B0604020202020204" pitchFamily="34" charset="0"/>
              <a:buChar char="•"/>
            </a:pPr>
            <a:r>
              <a:rPr lang="en-US" sz="2000" dirty="0"/>
              <a:t>Include a clear CTA</a:t>
            </a:r>
          </a:p>
          <a:p>
            <a:pPr lvl="2">
              <a:buFont typeface="Arial" panose="020B0604020202020204" pitchFamily="34" charset="0"/>
              <a:buChar char="•"/>
            </a:pPr>
            <a:r>
              <a:rPr lang="en-US" sz="2000" dirty="0"/>
              <a:t>Write a unique meta description for each page.</a:t>
            </a:r>
          </a:p>
          <a:p>
            <a:pPr algn="l"/>
            <a:endParaRPr lang="en-US" dirty="0"/>
          </a:p>
          <a:p>
            <a:pPr algn="l"/>
            <a:endParaRPr lang="en-US" dirty="0"/>
          </a:p>
        </p:txBody>
      </p:sp>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26</a:t>
            </a:fld>
            <a:endParaRPr lang="en-US" dirty="0"/>
          </a:p>
        </p:txBody>
      </p:sp>
      <p:sp>
        <p:nvSpPr>
          <p:cNvPr id="5" name="Picture Placeholder 4">
            <a:extLst>
              <a:ext uri="{FF2B5EF4-FFF2-40B4-BE49-F238E27FC236}">
                <a16:creationId xmlns:a16="http://schemas.microsoft.com/office/drawing/2014/main" id="{1415A4E7-F8F6-464C-B8CF-B706875D2BEC}"/>
              </a:ext>
            </a:extLst>
          </p:cNvPr>
          <p:cNvSpPr>
            <a:spLocks noGrp="1"/>
          </p:cNvSpPr>
          <p:nvPr>
            <p:ph type="pic" sz="quarter" idx="14"/>
          </p:nvPr>
        </p:nvSpPr>
        <p:spPr/>
      </p:sp>
      <p:pic>
        <p:nvPicPr>
          <p:cNvPr id="9" name="Picture 2" descr="The meta description says, &quot;Make a homemade latte without any special equipment! That's right, no espresso machine or milk frother is needed for this latte at home.&quot;">
            <a:extLst>
              <a:ext uri="{FF2B5EF4-FFF2-40B4-BE49-F238E27FC236}">
                <a16:creationId xmlns:a16="http://schemas.microsoft.com/office/drawing/2014/main" id="{1AD9B45D-32D5-47F7-BEE6-7D72DFACD550}"/>
              </a:ext>
            </a:extLst>
          </p:cNvPr>
          <p:cNvPicPr>
            <a:picLocks noGrp="1"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bwMode="auto">
          <a:xfrm>
            <a:off x="6247002" y="928688"/>
            <a:ext cx="5484903" cy="5929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92927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7">
            <a:extLst>
              <a:ext uri="{FF2B5EF4-FFF2-40B4-BE49-F238E27FC236}">
                <a16:creationId xmlns:a16="http://schemas.microsoft.com/office/drawing/2014/main" id="{749C7CD1-A9AA-49E3-6734-AD9546F2DF5B}"/>
              </a:ext>
            </a:extLst>
          </p:cNvPr>
          <p:cNvSpPr>
            <a:spLocks noGrp="1"/>
          </p:cNvSpPr>
          <p:nvPr>
            <p:ph sz="half" idx="15"/>
          </p:nvPr>
        </p:nvSpPr>
        <p:spPr>
          <a:xfrm>
            <a:off x="433754" y="566808"/>
            <a:ext cx="5377018" cy="6327897"/>
          </a:xfrm>
        </p:spPr>
        <p:txBody>
          <a:bodyPr>
            <a:normAutofit fontScale="92500"/>
          </a:bodyPr>
          <a:lstStyle/>
          <a:p>
            <a:pPr marL="0" indent="0">
              <a:lnSpc>
                <a:spcPct val="90000"/>
              </a:lnSpc>
              <a:buNone/>
            </a:pPr>
            <a:r>
              <a:rPr lang="en-US" sz="3200" b="1" dirty="0"/>
              <a:t>Heading Tags</a:t>
            </a:r>
          </a:p>
          <a:p>
            <a:pPr algn="l"/>
            <a:r>
              <a:rPr lang="en-US" sz="2400" dirty="0"/>
              <a:t>Heading tags are HTML tags on pages that organize your content into sections and help Google understand the structure of your pages. </a:t>
            </a:r>
          </a:p>
          <a:p>
            <a:pPr algn="l"/>
            <a:r>
              <a:rPr lang="en-US" sz="2400" dirty="0"/>
              <a:t>It’s best to use headings and subheadings (H2-H6) to segment topics in a hierarchical and logical way.</a:t>
            </a:r>
          </a:p>
          <a:p>
            <a:pPr algn="l"/>
            <a:r>
              <a:rPr lang="en-US" sz="2400" dirty="0"/>
              <a:t>Here are some other tips to use heading tags effectively:</a:t>
            </a:r>
          </a:p>
          <a:p>
            <a:pPr lvl="1">
              <a:buFont typeface="Arial" panose="020B0604020202020204" pitchFamily="34" charset="0"/>
              <a:buChar char="•"/>
            </a:pPr>
            <a:r>
              <a:rPr lang="en-US" sz="2400" dirty="0"/>
              <a:t>Include one </a:t>
            </a:r>
            <a:r>
              <a:rPr lang="en-US" sz="2400" dirty="0">
                <a:hlinkClick r:id="rId3">
                  <a:extLst>
                    <a:ext uri="{A12FA001-AC4F-418D-AE19-62706E023703}">
                      <ahyp:hlinkClr xmlns:ahyp="http://schemas.microsoft.com/office/drawing/2018/hyperlinkcolor" val="tx"/>
                    </a:ext>
                  </a:extLst>
                </a:hlinkClick>
              </a:rPr>
              <a:t>H1</a:t>
            </a:r>
            <a:r>
              <a:rPr lang="en-US" sz="2400" dirty="0"/>
              <a:t> tag per page</a:t>
            </a:r>
          </a:p>
          <a:p>
            <a:pPr lvl="1">
              <a:buFont typeface="Arial" panose="020B0604020202020204" pitchFamily="34" charset="0"/>
              <a:buChar char="•"/>
            </a:pPr>
            <a:r>
              <a:rPr lang="en-US" sz="2400" dirty="0"/>
              <a:t>Use your target keyword in the H1</a:t>
            </a:r>
          </a:p>
          <a:p>
            <a:pPr lvl="1">
              <a:buFont typeface="Arial" panose="020B0604020202020204" pitchFamily="34" charset="0"/>
              <a:buChar char="•"/>
            </a:pPr>
            <a:r>
              <a:rPr lang="en-US" sz="2400" dirty="0"/>
              <a:t>Structure main topics with H2s and subtopics with H3s and smaller</a:t>
            </a:r>
          </a:p>
          <a:p>
            <a:pPr lvl="1">
              <a:buFont typeface="Arial" panose="020B0604020202020204" pitchFamily="34" charset="0"/>
              <a:buChar char="•"/>
            </a:pPr>
            <a:r>
              <a:rPr lang="en-US" sz="2400" dirty="0"/>
              <a:t>Keep headings descriptive and clear</a:t>
            </a:r>
          </a:p>
          <a:p>
            <a:pPr algn="l"/>
            <a:endParaRPr lang="en-US" sz="2800" b="0" i="0" dirty="0">
              <a:solidFill>
                <a:srgbClr val="000000"/>
              </a:solidFill>
              <a:effectLst/>
              <a:latin typeface="Inter"/>
            </a:endParaRPr>
          </a:p>
          <a:p>
            <a:pPr algn="l"/>
            <a:endParaRPr lang="en-US" sz="2800" dirty="0"/>
          </a:p>
          <a:p>
            <a:pPr algn="l"/>
            <a:endParaRPr lang="en-US" sz="2800" dirty="0"/>
          </a:p>
        </p:txBody>
      </p:sp>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27</a:t>
            </a:fld>
            <a:endParaRPr lang="en-US" dirty="0"/>
          </a:p>
        </p:txBody>
      </p:sp>
      <p:sp>
        <p:nvSpPr>
          <p:cNvPr id="5" name="Picture Placeholder 4">
            <a:extLst>
              <a:ext uri="{FF2B5EF4-FFF2-40B4-BE49-F238E27FC236}">
                <a16:creationId xmlns:a16="http://schemas.microsoft.com/office/drawing/2014/main" id="{1415A4E7-F8F6-464C-B8CF-B706875D2BEC}"/>
              </a:ext>
            </a:extLst>
          </p:cNvPr>
          <p:cNvSpPr>
            <a:spLocks noGrp="1"/>
          </p:cNvSpPr>
          <p:nvPr>
            <p:ph type="pic" sz="quarter" idx="14"/>
          </p:nvPr>
        </p:nvSpPr>
        <p:spPr/>
      </p:sp>
      <p:pic>
        <p:nvPicPr>
          <p:cNvPr id="7" name="Picture 2" descr="A page has a heading tag hierarchy that's nested.">
            <a:extLst>
              <a:ext uri="{FF2B5EF4-FFF2-40B4-BE49-F238E27FC236}">
                <a16:creationId xmlns:a16="http://schemas.microsoft.com/office/drawing/2014/main" id="{E2A9B91E-E2A2-4E17-A1CB-48731858C2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0862" y="530103"/>
            <a:ext cx="6037384" cy="63278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01117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7">
            <a:extLst>
              <a:ext uri="{FF2B5EF4-FFF2-40B4-BE49-F238E27FC236}">
                <a16:creationId xmlns:a16="http://schemas.microsoft.com/office/drawing/2014/main" id="{749C7CD1-A9AA-49E3-6734-AD9546F2DF5B}"/>
              </a:ext>
            </a:extLst>
          </p:cNvPr>
          <p:cNvSpPr>
            <a:spLocks noGrp="1"/>
          </p:cNvSpPr>
          <p:nvPr>
            <p:ph sz="half" idx="15"/>
          </p:nvPr>
        </p:nvSpPr>
        <p:spPr>
          <a:xfrm>
            <a:off x="433754" y="457200"/>
            <a:ext cx="5377018" cy="6437506"/>
          </a:xfrm>
        </p:spPr>
        <p:txBody>
          <a:bodyPr>
            <a:normAutofit fontScale="85000" lnSpcReduction="10000"/>
          </a:bodyPr>
          <a:lstStyle/>
          <a:p>
            <a:pPr marL="0" indent="0">
              <a:lnSpc>
                <a:spcPct val="90000"/>
              </a:lnSpc>
              <a:buNone/>
            </a:pPr>
            <a:endParaRPr lang="en-US" sz="2200" b="1" dirty="0">
              <a:latin typeface="+mj-lt"/>
            </a:endParaRPr>
          </a:p>
          <a:p>
            <a:pPr marL="0" indent="0">
              <a:lnSpc>
                <a:spcPct val="90000"/>
              </a:lnSpc>
              <a:buNone/>
            </a:pPr>
            <a:r>
              <a:rPr lang="en-US" sz="2200" b="1" dirty="0">
                <a:latin typeface="+mj-lt"/>
              </a:rPr>
              <a:t>Internal Links</a:t>
            </a:r>
          </a:p>
          <a:p>
            <a:r>
              <a:rPr lang="en-US" sz="2400" dirty="0">
                <a:hlinkClick r:id="rId3">
                  <a:extLst>
                    <a:ext uri="{A12FA001-AC4F-418D-AE19-62706E023703}">
                      <ahyp:hlinkClr xmlns:ahyp="http://schemas.microsoft.com/office/drawing/2018/hyperlinkcolor" val="tx"/>
                    </a:ext>
                  </a:extLst>
                </a:hlinkClick>
              </a:rPr>
              <a:t>Internal links</a:t>
            </a:r>
            <a:r>
              <a:rPr lang="en-US" sz="2400" dirty="0"/>
              <a:t> point from one page on your site to another page on your site—they help search engines understand your </a:t>
            </a:r>
            <a:r>
              <a:rPr lang="en-US" sz="2400" dirty="0">
                <a:hlinkClick r:id="rId4">
                  <a:extLst>
                    <a:ext uri="{A12FA001-AC4F-418D-AE19-62706E023703}">
                      <ahyp:hlinkClr xmlns:ahyp="http://schemas.microsoft.com/office/drawing/2018/hyperlinkcolor" val="tx"/>
                    </a:ext>
                  </a:extLst>
                </a:hlinkClick>
              </a:rPr>
              <a:t>site’s structure</a:t>
            </a:r>
            <a:r>
              <a:rPr lang="en-US" sz="2400" dirty="0"/>
              <a:t>, pass link authority, and help users find related content. </a:t>
            </a:r>
          </a:p>
          <a:p>
            <a:r>
              <a:rPr lang="en-US" sz="2400" dirty="0"/>
              <a:t>Here’s what an internal link looks like on a live page:</a:t>
            </a:r>
          </a:p>
          <a:p>
            <a:r>
              <a:rPr lang="en-US" sz="2400" dirty="0"/>
              <a:t>Use internal links effectively by doing the following::</a:t>
            </a:r>
          </a:p>
          <a:p>
            <a:pPr lvl="1">
              <a:buFont typeface="Arial" panose="020B0604020202020204" pitchFamily="34" charset="0"/>
              <a:buChar char="•"/>
            </a:pPr>
            <a:r>
              <a:rPr lang="en-US" sz="2400" dirty="0"/>
              <a:t>Use descriptive </a:t>
            </a:r>
            <a:r>
              <a:rPr lang="en-US" sz="2400" dirty="0">
                <a:hlinkClick r:id="rId5">
                  <a:extLst>
                    <a:ext uri="{A12FA001-AC4F-418D-AE19-62706E023703}">
                      <ahyp:hlinkClr xmlns:ahyp="http://schemas.microsoft.com/office/drawing/2018/hyperlinkcolor" val="tx"/>
                    </a:ext>
                  </a:extLst>
                </a:hlinkClick>
              </a:rPr>
              <a:t>anchor text</a:t>
            </a:r>
            <a:r>
              <a:rPr lang="en-US" sz="2400" dirty="0"/>
              <a:t> (the clickable, linked text)</a:t>
            </a:r>
          </a:p>
          <a:p>
            <a:pPr lvl="1">
              <a:buFont typeface="Arial" panose="020B0604020202020204" pitchFamily="34" charset="0"/>
              <a:buChar char="•"/>
            </a:pPr>
            <a:r>
              <a:rPr lang="en-US" sz="2400" dirty="0"/>
              <a:t>Add relevant internal links to new pages</a:t>
            </a:r>
          </a:p>
          <a:p>
            <a:pPr lvl="1">
              <a:buFont typeface="Arial" panose="020B0604020202020204" pitchFamily="34" charset="0"/>
              <a:buChar char="•"/>
            </a:pPr>
            <a:r>
              <a:rPr lang="en-US" sz="2400" dirty="0"/>
              <a:t>Audit and fix broken internal links regularly</a:t>
            </a:r>
          </a:p>
          <a:p>
            <a:r>
              <a:rPr lang="en-US" sz="2400" dirty="0"/>
              <a:t>Also, consider giving low-performing pages a boost by linking to them from your pages with high link authority to share authority between pages.</a:t>
            </a:r>
          </a:p>
          <a:p>
            <a:pPr algn="l"/>
            <a:endParaRPr lang="en-US" dirty="0"/>
          </a:p>
        </p:txBody>
      </p:sp>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28</a:t>
            </a:fld>
            <a:endParaRPr lang="en-US" dirty="0"/>
          </a:p>
        </p:txBody>
      </p:sp>
      <p:sp>
        <p:nvSpPr>
          <p:cNvPr id="5" name="Picture Placeholder 4">
            <a:extLst>
              <a:ext uri="{FF2B5EF4-FFF2-40B4-BE49-F238E27FC236}">
                <a16:creationId xmlns:a16="http://schemas.microsoft.com/office/drawing/2014/main" id="{1415A4E7-F8F6-464C-B8CF-B706875D2BEC}"/>
              </a:ext>
            </a:extLst>
          </p:cNvPr>
          <p:cNvSpPr>
            <a:spLocks noGrp="1"/>
          </p:cNvSpPr>
          <p:nvPr>
            <p:ph type="pic" sz="quarter" idx="14"/>
          </p:nvPr>
        </p:nvSpPr>
        <p:spPr/>
      </p:sp>
      <p:pic>
        <p:nvPicPr>
          <p:cNvPr id="6" name="Picture 2" descr="Underlined text, in a different color, links to another page on the same site.">
            <a:extLst>
              <a:ext uri="{FF2B5EF4-FFF2-40B4-BE49-F238E27FC236}">
                <a16:creationId xmlns:a16="http://schemas.microsoft.com/office/drawing/2014/main" id="{3D361455-CC1F-4038-B0EB-8DAC2E357A4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10772" y="928689"/>
            <a:ext cx="5947474" cy="57504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06728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7">
            <a:extLst>
              <a:ext uri="{FF2B5EF4-FFF2-40B4-BE49-F238E27FC236}">
                <a16:creationId xmlns:a16="http://schemas.microsoft.com/office/drawing/2014/main" id="{749C7CD1-A9AA-49E3-6734-AD9546F2DF5B}"/>
              </a:ext>
            </a:extLst>
          </p:cNvPr>
          <p:cNvSpPr>
            <a:spLocks noGrp="1"/>
          </p:cNvSpPr>
          <p:nvPr>
            <p:ph sz="half" idx="15"/>
          </p:nvPr>
        </p:nvSpPr>
        <p:spPr>
          <a:xfrm>
            <a:off x="487678" y="471487"/>
            <a:ext cx="5091487" cy="6437506"/>
          </a:xfrm>
        </p:spPr>
        <p:txBody>
          <a:bodyPr>
            <a:normAutofit/>
          </a:bodyPr>
          <a:lstStyle/>
          <a:p>
            <a:pPr marL="0" indent="0">
              <a:buNone/>
            </a:pPr>
            <a:r>
              <a:rPr lang="en-US" sz="2200" dirty="0"/>
              <a:t>Use internal links effectively by doing the following:</a:t>
            </a:r>
          </a:p>
          <a:p>
            <a:pPr marL="630936" lvl="1">
              <a:buFont typeface="Wingdings" panose="05000000000000000000" pitchFamily="2" charset="2"/>
              <a:buChar char="§"/>
            </a:pPr>
            <a:r>
              <a:rPr lang="en-US" sz="2200" dirty="0"/>
              <a:t>Use descriptive </a:t>
            </a:r>
            <a:r>
              <a:rPr lang="en-US" sz="2200" dirty="0">
                <a:hlinkClick r:id="rId3">
                  <a:extLst>
                    <a:ext uri="{A12FA001-AC4F-418D-AE19-62706E023703}">
                      <ahyp:hlinkClr xmlns:ahyp="http://schemas.microsoft.com/office/drawing/2018/hyperlinkcolor" val="tx"/>
                    </a:ext>
                  </a:extLst>
                </a:hlinkClick>
              </a:rPr>
              <a:t>anchor text</a:t>
            </a:r>
            <a:r>
              <a:rPr lang="en-US" sz="2200" dirty="0"/>
              <a:t> (the clickable, linked text)</a:t>
            </a:r>
          </a:p>
          <a:p>
            <a:pPr marL="630936" lvl="1">
              <a:buFont typeface="Wingdings" panose="05000000000000000000" pitchFamily="2" charset="2"/>
              <a:buChar char="§"/>
            </a:pPr>
            <a:r>
              <a:rPr lang="en-US" sz="2200" dirty="0"/>
              <a:t>Add relevant internal links to new pages</a:t>
            </a:r>
          </a:p>
          <a:p>
            <a:pPr marL="630936" lvl="1">
              <a:buFont typeface="Wingdings" panose="05000000000000000000" pitchFamily="2" charset="2"/>
              <a:buChar char="§"/>
            </a:pPr>
            <a:r>
              <a:rPr lang="en-US" sz="2200" dirty="0"/>
              <a:t>Audit and fix broken internal links regularly</a:t>
            </a:r>
          </a:p>
          <a:p>
            <a:pPr marL="630936" lvl="1">
              <a:buFont typeface="Wingdings" panose="05000000000000000000" pitchFamily="2" charset="2"/>
              <a:buChar char="§"/>
            </a:pPr>
            <a:r>
              <a:rPr lang="en-US" sz="2200" dirty="0"/>
              <a:t>Also, consider giving low-performing pages a boost by linking to them from your pages with high link authority to share authority between pages.</a:t>
            </a:r>
          </a:p>
          <a:p>
            <a:pPr marL="0" indent="0">
              <a:buNone/>
            </a:pPr>
            <a:r>
              <a:rPr lang="en-US" sz="2200" dirty="0"/>
              <a:t>Find pages with high link authority using the Internal Linking report in </a:t>
            </a:r>
            <a:r>
              <a:rPr lang="en-US" sz="2200" dirty="0">
                <a:hlinkClick r:id="rId4">
                  <a:extLst>
                    <a:ext uri="{A12FA001-AC4F-418D-AE19-62706E023703}">
                      <ahyp:hlinkClr xmlns:ahyp="http://schemas.microsoft.com/office/drawing/2018/hyperlinkcolor" val="tx"/>
                    </a:ext>
                  </a:extLst>
                </a:hlinkClick>
              </a:rPr>
              <a:t>Site Audit</a:t>
            </a:r>
            <a:r>
              <a:rPr lang="en-US" sz="2200" dirty="0"/>
              <a:t>. And link from those pages to your underperforming pages.</a:t>
            </a:r>
          </a:p>
          <a:p>
            <a:pPr marL="0" indent="0" algn="l">
              <a:buNone/>
            </a:pPr>
            <a:endParaRPr lang="en-US" sz="900" b="0" i="0" dirty="0">
              <a:solidFill>
                <a:srgbClr val="000000"/>
              </a:solidFill>
              <a:effectLst/>
              <a:latin typeface="Inter"/>
            </a:endParaRPr>
          </a:p>
          <a:p>
            <a:pPr marL="402336" lvl="1" indent="0">
              <a:buNone/>
            </a:pPr>
            <a:endParaRPr lang="en-US" sz="2400" b="0" i="0" dirty="0">
              <a:solidFill>
                <a:srgbClr val="000000"/>
              </a:solidFill>
              <a:effectLst/>
              <a:latin typeface="Inter"/>
            </a:endParaRPr>
          </a:p>
          <a:p>
            <a:endParaRPr lang="en-US" sz="2400" dirty="0"/>
          </a:p>
          <a:p>
            <a:pPr algn="l"/>
            <a:endParaRPr lang="en-US" dirty="0"/>
          </a:p>
        </p:txBody>
      </p:sp>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29</a:t>
            </a:fld>
            <a:endParaRPr lang="en-US" dirty="0"/>
          </a:p>
        </p:txBody>
      </p:sp>
      <p:pic>
        <p:nvPicPr>
          <p:cNvPr id="5" name="Picture 2" descr="Internal linking report shows pages crawl depth, number of links per page, and internal link issues to fix.">
            <a:extLst>
              <a:ext uri="{FF2B5EF4-FFF2-40B4-BE49-F238E27FC236}">
                <a16:creationId xmlns:a16="http://schemas.microsoft.com/office/drawing/2014/main" id="{0166F261-2807-4B42-B924-304315AC6B4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86618" y="420496"/>
            <a:ext cx="5817704" cy="64375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04246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7">
            <a:extLst>
              <a:ext uri="{FF2B5EF4-FFF2-40B4-BE49-F238E27FC236}">
                <a16:creationId xmlns:a16="http://schemas.microsoft.com/office/drawing/2014/main" id="{749C7CD1-A9AA-49E3-6734-AD9546F2DF5B}"/>
              </a:ext>
            </a:extLst>
          </p:cNvPr>
          <p:cNvSpPr>
            <a:spLocks noGrp="1"/>
          </p:cNvSpPr>
          <p:nvPr>
            <p:ph sz="half" idx="15"/>
          </p:nvPr>
        </p:nvSpPr>
        <p:spPr>
          <a:xfrm>
            <a:off x="433754" y="457200"/>
            <a:ext cx="8555700" cy="6437506"/>
          </a:xfrm>
        </p:spPr>
        <p:txBody>
          <a:bodyPr>
            <a:normAutofit fontScale="85000" lnSpcReduction="20000"/>
          </a:bodyPr>
          <a:lstStyle/>
          <a:p>
            <a:pPr marL="0" indent="0">
              <a:lnSpc>
                <a:spcPct val="90000"/>
              </a:lnSpc>
              <a:buNone/>
            </a:pPr>
            <a:r>
              <a:rPr lang="en-US" sz="2000" b="1" dirty="0">
                <a:latin typeface="+mj-lt"/>
              </a:rPr>
              <a:t>Page URLs</a:t>
            </a:r>
          </a:p>
          <a:p>
            <a:pPr marL="0" indent="0" algn="l">
              <a:buNone/>
            </a:pPr>
            <a:r>
              <a:rPr lang="en-US" sz="2400" dirty="0"/>
              <a:t>To optimize your URLs:</a:t>
            </a:r>
          </a:p>
          <a:p>
            <a:pPr lvl="1">
              <a:buFont typeface="Arial" panose="020B0604020202020204" pitchFamily="34" charset="0"/>
              <a:buChar char="•"/>
            </a:pPr>
            <a:r>
              <a:rPr lang="en-US" sz="2400" dirty="0"/>
              <a:t>Keep them descriptive but concise</a:t>
            </a:r>
          </a:p>
          <a:p>
            <a:pPr lvl="1">
              <a:buFont typeface="Arial" panose="020B0604020202020204" pitchFamily="34" charset="0"/>
              <a:buChar char="•"/>
            </a:pPr>
            <a:r>
              <a:rPr lang="en-US" sz="2400" dirty="0"/>
              <a:t>Use your primary keyword</a:t>
            </a:r>
          </a:p>
          <a:p>
            <a:pPr lvl="1">
              <a:buFont typeface="Arial" panose="020B0604020202020204" pitchFamily="34" charset="0"/>
              <a:buChar char="•"/>
            </a:pPr>
            <a:r>
              <a:rPr lang="en-US" sz="2400" dirty="0"/>
              <a:t>Separate words with hyphens</a:t>
            </a:r>
          </a:p>
          <a:p>
            <a:pPr lvl="1">
              <a:buFont typeface="Arial" panose="020B0604020202020204" pitchFamily="34" charset="0"/>
              <a:buChar char="•"/>
            </a:pPr>
            <a:r>
              <a:rPr lang="en-US" sz="2400" dirty="0"/>
              <a:t>Remove unnecessary words (“a,” “the,” “and.” etc.)</a:t>
            </a:r>
          </a:p>
          <a:p>
            <a:pPr lvl="1">
              <a:buFont typeface="Arial" panose="020B0604020202020204" pitchFamily="34" charset="0"/>
              <a:buChar char="•"/>
            </a:pPr>
            <a:r>
              <a:rPr lang="en-US" sz="2400" dirty="0"/>
              <a:t>Avoid special characters</a:t>
            </a:r>
          </a:p>
          <a:p>
            <a:pPr marL="0" indent="0" algn="l">
              <a:buNone/>
            </a:pPr>
            <a:r>
              <a:rPr lang="en-US" sz="2000" b="1" dirty="0">
                <a:latin typeface="+mj-lt"/>
              </a:rPr>
              <a:t>Images</a:t>
            </a:r>
          </a:p>
          <a:p>
            <a:pPr algn="l"/>
            <a:r>
              <a:rPr lang="en-US" sz="2200" dirty="0"/>
              <a:t>Images can make your content more engaging and bring in traffic through Google image searches.</a:t>
            </a:r>
          </a:p>
          <a:p>
            <a:pPr algn="l"/>
            <a:r>
              <a:rPr lang="en-US" sz="2200" dirty="0"/>
              <a:t>But search engines can't "see" images. So, you need to make sure they can understand what’s being shown.</a:t>
            </a:r>
          </a:p>
          <a:p>
            <a:pPr algn="l"/>
            <a:r>
              <a:rPr lang="en-US" sz="2200" dirty="0"/>
              <a:t>To optimize images for search:</a:t>
            </a:r>
          </a:p>
          <a:p>
            <a:pPr lvl="1">
              <a:buFont typeface="Arial" panose="020B0604020202020204" pitchFamily="34" charset="0"/>
              <a:buChar char="•"/>
            </a:pPr>
            <a:r>
              <a:rPr lang="en-US" sz="2200" dirty="0"/>
              <a:t>Use descriptive file names (mountain-hiking-gear.jpg—not IMG001.jpg)</a:t>
            </a:r>
          </a:p>
          <a:p>
            <a:pPr lvl="1">
              <a:buFont typeface="Arial" panose="020B0604020202020204" pitchFamily="34" charset="0"/>
              <a:buChar char="•"/>
            </a:pPr>
            <a:r>
              <a:rPr lang="en-US" sz="2200" dirty="0"/>
              <a:t>Add relevant </a:t>
            </a:r>
            <a:r>
              <a:rPr lang="en-US" sz="2200" dirty="0">
                <a:hlinkClick r:id="rId3">
                  <a:extLst>
                    <a:ext uri="{A12FA001-AC4F-418D-AE19-62706E023703}">
                      <ahyp:hlinkClr xmlns:ahyp="http://schemas.microsoft.com/office/drawing/2018/hyperlinkcolor" val="tx"/>
                    </a:ext>
                  </a:extLst>
                </a:hlinkClick>
              </a:rPr>
              <a:t>alt text</a:t>
            </a:r>
            <a:r>
              <a:rPr lang="en-US" sz="2200" dirty="0"/>
              <a:t> to describe each image (include your keyword when it makes sense)</a:t>
            </a:r>
          </a:p>
          <a:p>
            <a:pPr lvl="1">
              <a:buFont typeface="Arial" panose="020B0604020202020204" pitchFamily="34" charset="0"/>
              <a:buChar char="•"/>
            </a:pPr>
            <a:r>
              <a:rPr lang="en-US" sz="2200" dirty="0"/>
              <a:t>Compress files to improve loading speed with tools like </a:t>
            </a:r>
            <a:r>
              <a:rPr lang="en-US" sz="2200" dirty="0" err="1">
                <a:hlinkClick r:id="rId4">
                  <a:extLst>
                    <a:ext uri="{A12FA001-AC4F-418D-AE19-62706E023703}">
                      <ahyp:hlinkClr xmlns:ahyp="http://schemas.microsoft.com/office/drawing/2018/hyperlinkcolor" val="tx"/>
                    </a:ext>
                  </a:extLst>
                </a:hlinkClick>
              </a:rPr>
              <a:t>TinyPNG</a:t>
            </a:r>
            <a:endParaRPr lang="en-US" sz="2200" dirty="0"/>
          </a:p>
          <a:p>
            <a:pPr lvl="1">
              <a:buFont typeface="Arial" panose="020B0604020202020204" pitchFamily="34" charset="0"/>
              <a:buChar char="•"/>
            </a:pPr>
            <a:r>
              <a:rPr lang="en-US" sz="2200" dirty="0"/>
              <a:t>Choose the right file format (</a:t>
            </a:r>
            <a:r>
              <a:rPr lang="en-US" sz="2200" dirty="0" err="1"/>
              <a:t>WebP</a:t>
            </a:r>
            <a:r>
              <a:rPr lang="en-US" sz="2200" dirty="0"/>
              <a:t> is often best, but you can also use JPG for photos and PNG for graphics)</a:t>
            </a:r>
          </a:p>
          <a:p>
            <a:pPr algn="l"/>
            <a:endParaRPr lang="en-US" sz="900" b="0" i="0" dirty="0">
              <a:solidFill>
                <a:srgbClr val="000000"/>
              </a:solidFill>
              <a:effectLst/>
              <a:latin typeface="Inter"/>
            </a:endParaRPr>
          </a:p>
          <a:p>
            <a:pPr marL="402336" lvl="1" indent="0">
              <a:buNone/>
            </a:pPr>
            <a:endParaRPr lang="en-US" sz="2400" b="0" i="0" dirty="0">
              <a:solidFill>
                <a:srgbClr val="000000"/>
              </a:solidFill>
              <a:effectLst/>
              <a:latin typeface="Inter"/>
            </a:endParaRPr>
          </a:p>
          <a:p>
            <a:endParaRPr lang="en-US" sz="2400" dirty="0"/>
          </a:p>
          <a:p>
            <a:pPr algn="l"/>
            <a:endParaRPr lang="en-US" dirty="0"/>
          </a:p>
        </p:txBody>
      </p:sp>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30</a:t>
            </a:fld>
            <a:endParaRPr lang="en-US" dirty="0"/>
          </a:p>
        </p:txBody>
      </p:sp>
    </p:spTree>
    <p:extLst>
      <p:ext uri="{BB962C8B-B14F-4D97-AF65-F5344CB8AC3E}">
        <p14:creationId xmlns:p14="http://schemas.microsoft.com/office/powerpoint/2010/main" val="36608930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7">
            <a:extLst>
              <a:ext uri="{FF2B5EF4-FFF2-40B4-BE49-F238E27FC236}">
                <a16:creationId xmlns:a16="http://schemas.microsoft.com/office/drawing/2014/main" id="{749C7CD1-A9AA-49E3-6734-AD9546F2DF5B}"/>
              </a:ext>
            </a:extLst>
          </p:cNvPr>
          <p:cNvSpPr>
            <a:spLocks noGrp="1"/>
          </p:cNvSpPr>
          <p:nvPr>
            <p:ph sz="half" idx="15"/>
          </p:nvPr>
        </p:nvSpPr>
        <p:spPr>
          <a:xfrm>
            <a:off x="433754" y="457200"/>
            <a:ext cx="8555700" cy="6437506"/>
          </a:xfrm>
        </p:spPr>
        <p:txBody>
          <a:bodyPr>
            <a:normAutofit fontScale="77500" lnSpcReduction="20000"/>
          </a:bodyPr>
          <a:lstStyle/>
          <a:p>
            <a:pPr marL="0" indent="0">
              <a:lnSpc>
                <a:spcPct val="90000"/>
              </a:lnSpc>
              <a:buNone/>
            </a:pPr>
            <a:endParaRPr lang="en-US" sz="3300" b="1">
              <a:latin typeface="+mj-lt"/>
            </a:endParaRPr>
          </a:p>
          <a:p>
            <a:pPr marL="0" indent="0">
              <a:lnSpc>
                <a:spcPct val="90000"/>
              </a:lnSpc>
              <a:buNone/>
            </a:pPr>
            <a:r>
              <a:rPr lang="en-US" sz="3300" b="1">
                <a:latin typeface="+mj-lt"/>
              </a:rPr>
              <a:t>Link </a:t>
            </a:r>
            <a:r>
              <a:rPr lang="en-US" sz="3300" b="1" dirty="0">
                <a:latin typeface="+mj-lt"/>
              </a:rPr>
              <a:t>Building</a:t>
            </a:r>
            <a:endParaRPr lang="en-US" sz="2000" b="1" dirty="0">
              <a:latin typeface="+mj-lt"/>
            </a:endParaRPr>
          </a:p>
          <a:p>
            <a:pPr marL="0" indent="0" algn="l">
              <a:buNone/>
            </a:pPr>
            <a:r>
              <a:rPr lang="en-US" sz="2400" dirty="0"/>
              <a:t>To optimize your URLs:</a:t>
            </a:r>
          </a:p>
          <a:p>
            <a:pPr lvl="1">
              <a:buFont typeface="Arial" panose="020B0604020202020204" pitchFamily="34" charset="0"/>
              <a:buChar char="•"/>
            </a:pPr>
            <a:r>
              <a:rPr lang="en-US" sz="2400" dirty="0"/>
              <a:t>Keep them descriptive but concise</a:t>
            </a:r>
          </a:p>
          <a:p>
            <a:pPr lvl="1">
              <a:buFont typeface="Arial" panose="020B0604020202020204" pitchFamily="34" charset="0"/>
              <a:buChar char="•"/>
            </a:pPr>
            <a:r>
              <a:rPr lang="en-US" sz="2400" dirty="0"/>
              <a:t>Use your primary keyword</a:t>
            </a:r>
          </a:p>
          <a:p>
            <a:pPr lvl="1">
              <a:buFont typeface="Arial" panose="020B0604020202020204" pitchFamily="34" charset="0"/>
              <a:buChar char="•"/>
            </a:pPr>
            <a:r>
              <a:rPr lang="en-US" sz="2400" dirty="0"/>
              <a:t>Separate words with hyphens</a:t>
            </a:r>
          </a:p>
          <a:p>
            <a:pPr lvl="1">
              <a:buFont typeface="Arial" panose="020B0604020202020204" pitchFamily="34" charset="0"/>
              <a:buChar char="•"/>
            </a:pPr>
            <a:r>
              <a:rPr lang="en-US" sz="2400" dirty="0"/>
              <a:t>Remove unnecessary words (“a,” “the,” “and.” etc.)</a:t>
            </a:r>
          </a:p>
          <a:p>
            <a:pPr lvl="1">
              <a:buFont typeface="Arial" panose="020B0604020202020204" pitchFamily="34" charset="0"/>
              <a:buChar char="•"/>
            </a:pPr>
            <a:r>
              <a:rPr lang="en-US" sz="2400" dirty="0"/>
              <a:t>Avoid special characters</a:t>
            </a:r>
          </a:p>
          <a:p>
            <a:pPr marL="0" indent="0" algn="l">
              <a:buNone/>
            </a:pPr>
            <a:r>
              <a:rPr lang="en-US" sz="2000" b="1" dirty="0">
                <a:latin typeface="+mj-lt"/>
              </a:rPr>
              <a:t>Images</a:t>
            </a:r>
          </a:p>
          <a:p>
            <a:pPr algn="l"/>
            <a:r>
              <a:rPr lang="en-US" sz="2200" dirty="0"/>
              <a:t>Images can make your content more engaging and bring in traffic through Google image searches.</a:t>
            </a:r>
          </a:p>
          <a:p>
            <a:pPr algn="l"/>
            <a:r>
              <a:rPr lang="en-US" sz="2200" dirty="0"/>
              <a:t>But search engines can't "see" images. So, you need to make sure they can understand what’s being shown.</a:t>
            </a:r>
          </a:p>
          <a:p>
            <a:pPr algn="l"/>
            <a:r>
              <a:rPr lang="en-US" sz="2200" dirty="0"/>
              <a:t>To optimize images for search:</a:t>
            </a:r>
          </a:p>
          <a:p>
            <a:pPr lvl="1">
              <a:buFont typeface="Arial" panose="020B0604020202020204" pitchFamily="34" charset="0"/>
              <a:buChar char="•"/>
            </a:pPr>
            <a:r>
              <a:rPr lang="en-US" sz="2200" dirty="0"/>
              <a:t>Use descriptive file names (mountain-hiking-gear.jpg—not IMG001.jpg)</a:t>
            </a:r>
          </a:p>
          <a:p>
            <a:pPr lvl="1">
              <a:buFont typeface="Arial" panose="020B0604020202020204" pitchFamily="34" charset="0"/>
              <a:buChar char="•"/>
            </a:pPr>
            <a:r>
              <a:rPr lang="en-US" sz="2200" dirty="0"/>
              <a:t>Add relevant </a:t>
            </a:r>
            <a:r>
              <a:rPr lang="en-US" sz="2200" dirty="0">
                <a:hlinkClick r:id="rId3">
                  <a:extLst>
                    <a:ext uri="{A12FA001-AC4F-418D-AE19-62706E023703}">
                      <ahyp:hlinkClr xmlns:ahyp="http://schemas.microsoft.com/office/drawing/2018/hyperlinkcolor" val="tx"/>
                    </a:ext>
                  </a:extLst>
                </a:hlinkClick>
              </a:rPr>
              <a:t>alt text</a:t>
            </a:r>
            <a:r>
              <a:rPr lang="en-US" sz="2200" dirty="0"/>
              <a:t> to describe each image (include your keyword when it makes sense)</a:t>
            </a:r>
          </a:p>
          <a:p>
            <a:pPr lvl="1">
              <a:buFont typeface="Arial" panose="020B0604020202020204" pitchFamily="34" charset="0"/>
              <a:buChar char="•"/>
            </a:pPr>
            <a:r>
              <a:rPr lang="en-US" sz="2200" dirty="0"/>
              <a:t>Compress files to improve loading speed with tools like </a:t>
            </a:r>
            <a:r>
              <a:rPr lang="en-US" sz="2200" dirty="0" err="1">
                <a:hlinkClick r:id="rId4">
                  <a:extLst>
                    <a:ext uri="{A12FA001-AC4F-418D-AE19-62706E023703}">
                      <ahyp:hlinkClr xmlns:ahyp="http://schemas.microsoft.com/office/drawing/2018/hyperlinkcolor" val="tx"/>
                    </a:ext>
                  </a:extLst>
                </a:hlinkClick>
              </a:rPr>
              <a:t>TinyPNG</a:t>
            </a:r>
            <a:endParaRPr lang="en-US" sz="2200" dirty="0"/>
          </a:p>
          <a:p>
            <a:pPr lvl="1">
              <a:buFont typeface="Arial" panose="020B0604020202020204" pitchFamily="34" charset="0"/>
              <a:buChar char="•"/>
            </a:pPr>
            <a:r>
              <a:rPr lang="en-US" sz="2200" dirty="0"/>
              <a:t>Choose the right file format (</a:t>
            </a:r>
            <a:r>
              <a:rPr lang="en-US" sz="2200" dirty="0" err="1"/>
              <a:t>WebP</a:t>
            </a:r>
            <a:r>
              <a:rPr lang="en-US" sz="2200" dirty="0"/>
              <a:t> is often best, but you can also use JPG for photos and PNG for graphics)</a:t>
            </a:r>
          </a:p>
          <a:p>
            <a:pPr algn="l"/>
            <a:endParaRPr lang="en-US" sz="900" b="0" i="0" dirty="0">
              <a:solidFill>
                <a:srgbClr val="000000"/>
              </a:solidFill>
              <a:effectLst/>
              <a:latin typeface="Inter"/>
            </a:endParaRPr>
          </a:p>
          <a:p>
            <a:pPr marL="402336" lvl="1" indent="0">
              <a:buNone/>
            </a:pPr>
            <a:endParaRPr lang="en-US" sz="2400" b="0" i="0" dirty="0">
              <a:solidFill>
                <a:srgbClr val="000000"/>
              </a:solidFill>
              <a:effectLst/>
              <a:latin typeface="Inter"/>
            </a:endParaRPr>
          </a:p>
          <a:p>
            <a:endParaRPr lang="en-US" sz="2400" dirty="0"/>
          </a:p>
          <a:p>
            <a:pPr algn="l"/>
            <a:endParaRPr lang="en-US" dirty="0"/>
          </a:p>
        </p:txBody>
      </p:sp>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31</a:t>
            </a:fld>
            <a:endParaRPr lang="en-US" dirty="0"/>
          </a:p>
        </p:txBody>
      </p:sp>
    </p:spTree>
    <p:extLst>
      <p:ext uri="{BB962C8B-B14F-4D97-AF65-F5344CB8AC3E}">
        <p14:creationId xmlns:p14="http://schemas.microsoft.com/office/powerpoint/2010/main" val="26287227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7">
            <a:extLst>
              <a:ext uri="{FF2B5EF4-FFF2-40B4-BE49-F238E27FC236}">
                <a16:creationId xmlns:a16="http://schemas.microsoft.com/office/drawing/2014/main" id="{749C7CD1-A9AA-49E3-6734-AD9546F2DF5B}"/>
              </a:ext>
            </a:extLst>
          </p:cNvPr>
          <p:cNvSpPr>
            <a:spLocks noGrp="1"/>
          </p:cNvSpPr>
          <p:nvPr>
            <p:ph sz="half" idx="15"/>
          </p:nvPr>
        </p:nvSpPr>
        <p:spPr>
          <a:xfrm>
            <a:off x="433753" y="457200"/>
            <a:ext cx="5662247" cy="6437506"/>
          </a:xfrm>
        </p:spPr>
        <p:txBody>
          <a:bodyPr>
            <a:normAutofit fontScale="62500" lnSpcReduction="20000"/>
          </a:bodyPr>
          <a:lstStyle/>
          <a:p>
            <a:pPr marL="0" indent="0" algn="l">
              <a:buNone/>
            </a:pPr>
            <a:r>
              <a:rPr lang="en-US" sz="2000" dirty="0">
                <a:latin typeface="+mj-lt"/>
              </a:rPr>
              <a:t>Build Links from Associations, Suppliers, and Connected Business</a:t>
            </a:r>
          </a:p>
          <a:p>
            <a:pPr algn="l"/>
            <a:r>
              <a:rPr lang="en-US" sz="2000" dirty="0"/>
              <a:t>You already have connections with other businesses, so turn those relationships into links. </a:t>
            </a:r>
          </a:p>
          <a:p>
            <a:pPr algn="l"/>
            <a:r>
              <a:rPr lang="en-US" sz="2000" dirty="0"/>
              <a:t>Many of your suppliers, business partners, and industry associations have partner pages or member directories where they can link to your site.</a:t>
            </a:r>
          </a:p>
          <a:p>
            <a:pPr algn="l"/>
            <a:r>
              <a:rPr lang="en-US" sz="2000" dirty="0"/>
              <a:t>Start by making a list of:</a:t>
            </a:r>
          </a:p>
          <a:p>
            <a:pPr lvl="1">
              <a:buFont typeface="Arial" panose="020B0604020202020204" pitchFamily="34" charset="0"/>
              <a:buChar char="•"/>
            </a:pPr>
            <a:r>
              <a:rPr lang="en-US" sz="2000" dirty="0"/>
              <a:t>Companies you buy from</a:t>
            </a:r>
          </a:p>
          <a:p>
            <a:pPr lvl="1">
              <a:buFont typeface="Arial" panose="020B0604020202020204" pitchFamily="34" charset="0"/>
              <a:buChar char="•"/>
            </a:pPr>
            <a:r>
              <a:rPr lang="en-US" sz="2000" dirty="0"/>
              <a:t>Professional organizations you belong to</a:t>
            </a:r>
          </a:p>
          <a:p>
            <a:pPr lvl="1">
              <a:buFont typeface="Arial" panose="020B0604020202020204" pitchFamily="34" charset="0"/>
              <a:buChar char="•"/>
            </a:pPr>
            <a:r>
              <a:rPr lang="en-US" sz="2000" dirty="0"/>
              <a:t>Business partners you work with</a:t>
            </a:r>
          </a:p>
          <a:p>
            <a:pPr lvl="1">
              <a:buFont typeface="Arial" panose="020B0604020202020204" pitchFamily="34" charset="0"/>
              <a:buChar char="•"/>
            </a:pPr>
            <a:r>
              <a:rPr lang="en-US" sz="2000" dirty="0"/>
              <a:t>Chambers of commerce in your area</a:t>
            </a:r>
          </a:p>
          <a:p>
            <a:pPr algn="l"/>
            <a:r>
              <a:rPr lang="en-US" sz="2000" dirty="0"/>
              <a:t>Then, reach out with a simple email asking to be added to their partners page. Since you already have a relationship, many will be happy to link to you.</a:t>
            </a:r>
          </a:p>
          <a:p>
            <a:pPr algn="l"/>
            <a:endParaRPr lang="en-US" sz="900" b="0" i="0" dirty="0">
              <a:solidFill>
                <a:srgbClr val="000000"/>
              </a:solidFill>
              <a:effectLst/>
              <a:latin typeface="Inter"/>
            </a:endParaRPr>
          </a:p>
          <a:p>
            <a:pPr marL="0" indent="0" algn="l">
              <a:buNone/>
            </a:pPr>
            <a:r>
              <a:rPr lang="en-US" sz="2000" dirty="0">
                <a:latin typeface="+mj-lt"/>
              </a:rPr>
              <a:t>Submit Your Site to Quality Directories</a:t>
            </a:r>
          </a:p>
          <a:p>
            <a:pPr algn="l"/>
            <a:r>
              <a:rPr lang="en-US" sz="2000" dirty="0"/>
              <a:t>If you’re a local business or work in a specific niche, getting your site on a legitimate directory can send you traffic and possibly some link authority.</a:t>
            </a:r>
          </a:p>
          <a:p>
            <a:pPr algn="l"/>
            <a:r>
              <a:rPr lang="en-US" sz="2000" dirty="0"/>
              <a:t>Focus on industry-specific directories where your customers are likely to find you.</a:t>
            </a:r>
          </a:p>
          <a:p>
            <a:pPr algn="l"/>
            <a:r>
              <a:rPr lang="en-US" sz="2000" dirty="0"/>
              <a:t>And be aware that most well-known directories (Yelp, Yellow Pages, etc.) use attributes that tell search engines not to treat the links as endorsements. Which can make those links less valuable than standard links. </a:t>
            </a:r>
          </a:p>
          <a:p>
            <a:pPr algn="l"/>
            <a:r>
              <a:rPr lang="en-US" sz="2000" dirty="0"/>
              <a:t>Use a tool like </a:t>
            </a:r>
            <a:r>
              <a:rPr lang="en-US" sz="2000" dirty="0">
                <a:hlinkClick r:id="rId3">
                  <a:extLst>
                    <a:ext uri="{A12FA001-AC4F-418D-AE19-62706E023703}">
                      <ahyp:hlinkClr xmlns:ahyp="http://schemas.microsoft.com/office/drawing/2018/hyperlinkcolor" val="tx"/>
                    </a:ext>
                  </a:extLst>
                </a:hlinkClick>
              </a:rPr>
              <a:t>Listing Management</a:t>
            </a:r>
            <a:r>
              <a:rPr lang="en-US" sz="2000" dirty="0"/>
              <a:t> to automatically submit your business information to top directories.</a:t>
            </a:r>
          </a:p>
          <a:p>
            <a:pPr marL="0" indent="0" algn="l">
              <a:buNone/>
            </a:pPr>
            <a:endParaRPr lang="en-US" sz="900" b="0" i="0" dirty="0">
              <a:solidFill>
                <a:srgbClr val="000000"/>
              </a:solidFill>
              <a:effectLst/>
              <a:latin typeface="Inter"/>
            </a:endParaRPr>
          </a:p>
          <a:p>
            <a:pPr marL="402336" lvl="1" indent="0">
              <a:buNone/>
            </a:pPr>
            <a:endParaRPr lang="en-US" sz="2400" b="0" i="0" dirty="0">
              <a:solidFill>
                <a:srgbClr val="000000"/>
              </a:solidFill>
              <a:effectLst/>
              <a:latin typeface="Inter"/>
            </a:endParaRPr>
          </a:p>
          <a:p>
            <a:endParaRPr lang="en-US" sz="2400" dirty="0"/>
          </a:p>
          <a:p>
            <a:pPr algn="l"/>
            <a:endParaRPr lang="en-US" dirty="0"/>
          </a:p>
        </p:txBody>
      </p:sp>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32</a:t>
            </a:fld>
            <a:endParaRPr lang="en-US" dirty="0"/>
          </a:p>
        </p:txBody>
      </p:sp>
      <p:pic>
        <p:nvPicPr>
          <p:cNvPr id="1026" name="Picture 2" descr="Listings report shows directories, the business's status with those directories, and details to fix.">
            <a:extLst>
              <a:ext uri="{FF2B5EF4-FFF2-40B4-BE49-F238E27FC236}">
                <a16:creationId xmlns:a16="http://schemas.microsoft.com/office/drawing/2014/main" id="{87474308-29A4-4CDA-9398-BF5DA842B0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30642" y="543338"/>
            <a:ext cx="5950744" cy="63146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35900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849782"/>
            <a:ext cx="5715000" cy="2727709"/>
          </a:xfrm>
        </p:spPr>
        <p:txBody>
          <a:bodyPr/>
          <a:lstStyle/>
          <a:p>
            <a:r>
              <a:rPr lang="en-US" dirty="0"/>
              <a:t>Thank </a:t>
            </a:r>
            <a:br>
              <a:rPr lang="en-US" dirty="0"/>
            </a:br>
            <a:r>
              <a:rPr lang="en-US" dirty="0"/>
              <a:t>you</a:t>
            </a:r>
          </a:p>
        </p:txBody>
      </p:sp>
      <p:sp>
        <p:nvSpPr>
          <p:cNvPr id="3" name="Subtitle 2">
            <a:extLst>
              <a:ext uri="{FF2B5EF4-FFF2-40B4-BE49-F238E27FC236}">
                <a16:creationId xmlns:a16="http://schemas.microsoft.com/office/drawing/2014/main" id="{D8B5CEF2-E667-BBB5-2EA6-C06F93B6DE12}"/>
              </a:ext>
            </a:extLst>
          </p:cNvPr>
          <p:cNvSpPr>
            <a:spLocks noGrp="1"/>
          </p:cNvSpPr>
          <p:nvPr>
            <p:ph type="subTitle" idx="1"/>
          </p:nvPr>
        </p:nvSpPr>
        <p:spPr>
          <a:xfrm>
            <a:off x="914401" y="3813606"/>
            <a:ext cx="5715000" cy="2234642"/>
          </a:xfrm>
        </p:spPr>
        <p:txBody>
          <a:bodyPr/>
          <a:lstStyle/>
          <a:p>
            <a:endParaRPr lang="en-US" dirty="0"/>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2.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{F0691B8F-BDFE-41CF-A34A-771D80435B59}tf78438558_win32</Template>
  <TotalTime>1566</TotalTime>
  <Words>2923</Words>
  <Application>Microsoft Office PowerPoint</Application>
  <PresentationFormat>Widescreen</PresentationFormat>
  <Paragraphs>288</Paragraphs>
  <Slides>33</Slides>
  <Notes>31</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33</vt:i4>
      </vt:variant>
    </vt:vector>
  </HeadingPairs>
  <TitlesOfParts>
    <vt:vector size="42" baseType="lpstr">
      <vt:lpstr>Arial</vt:lpstr>
      <vt:lpstr>Arial Black</vt:lpstr>
      <vt:lpstr>Calibri</vt:lpstr>
      <vt:lpstr>Factor A</vt:lpstr>
      <vt:lpstr>Google Sans Text</vt:lpstr>
      <vt:lpstr>Inter</vt:lpstr>
      <vt:lpstr>Sabon Next LT</vt:lpstr>
      <vt:lpstr>Wingdings</vt:lpstr>
      <vt:lpstr>Custom</vt:lpstr>
      <vt:lpstr>SEARCH ENGINE OPTIMIZATION (SEO)</vt:lpstr>
      <vt:lpstr>agenda</vt:lpstr>
      <vt:lpstr>What is SEO</vt:lpstr>
      <vt:lpstr>SEO</vt:lpstr>
      <vt:lpstr>Importance of SEO</vt:lpstr>
      <vt:lpstr>How DOES Google Index Your Site?</vt:lpstr>
      <vt:lpstr>How Do You Make Sure Google Can Index Your Site?</vt:lpstr>
      <vt:lpstr>Keyword    RESEARCH</vt:lpstr>
      <vt:lpstr>About semrush</vt:lpstr>
      <vt:lpstr>Effective KEYWORD RESEARCH</vt:lpstr>
      <vt:lpstr>Effective KEYWORD RESEARCH</vt:lpstr>
      <vt:lpstr>PowerPoint Presentation</vt:lpstr>
      <vt:lpstr>Quick Assignment</vt:lpstr>
      <vt:lpstr>CREATING HIGH QUALITY CONTENT</vt:lpstr>
      <vt:lpstr>High quality content</vt:lpstr>
      <vt:lpstr>PowerPoint Presentation</vt:lpstr>
      <vt:lpstr>PowerPoint Presentation</vt:lpstr>
      <vt:lpstr>PowerPoint Presentation</vt:lpstr>
      <vt:lpstr>PowerPoint Presentation</vt:lpstr>
      <vt:lpstr>ASSIGNMENT</vt:lpstr>
      <vt:lpstr>Optimising Your Website's First Impression </vt:lpstr>
      <vt:lpstr>Optimising Your Website's First Impression </vt:lpstr>
      <vt:lpstr>Optimising Your Website's First Impression </vt:lpstr>
      <vt:lpstr>ON PAGE SEO</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presentation</dc:title>
  <dc:subject/>
  <dc:creator>Diptarko Das Sharma</dc:creator>
  <cp:lastModifiedBy>Diptarko Das Sharma</cp:lastModifiedBy>
  <cp:revision>108</cp:revision>
  <dcterms:created xsi:type="dcterms:W3CDTF">2025-04-03T06:39:41Z</dcterms:created>
  <dcterms:modified xsi:type="dcterms:W3CDTF">2025-04-14T04:36:25Z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