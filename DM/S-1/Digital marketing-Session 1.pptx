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7081-7C7E-4B88-BDBC-2FE3F1D91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55BC1-A415-443D-92EB-014503D2C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739C0-347A-4694-933C-22B081DAD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60A2-ED89-45C3-A884-255453E3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37729-9A24-4DD1-A0C3-C39FE879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6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47D8-782B-40FF-AC23-F8DAE3A2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36CC0-0942-43E8-9CFD-412D87448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7AD8D-46F8-4939-B6A1-B5AE8BB9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76A4-3A7C-4DF1-8AF9-D6FBE0C1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6F4A1-BC18-4A5C-BCD1-9451C77F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5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4436-1A4D-4A1E-BC8F-BF4133B4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DD4F7-5CE2-41DA-BDAC-6549D3C1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5974F-2C09-4B21-BA73-E5C1EABC1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E4662-2839-49B9-9AAB-9519DE89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4D780-08BE-41DE-9D72-04C25A4F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7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6CDB-8066-4FE9-9B89-9C9AEC789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E4C74-97D4-4FB5-B645-B1C9DFBE4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A4E4A-CB35-4878-AA65-258EC619B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47BBB-0EEA-4C4B-BBED-5AA53FCCB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F55F0-2B3B-4B99-9E5F-7974097E0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00285-244A-4C27-9CAB-83B2E1B7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7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CA666-F4DC-49C3-8B2B-1C8C5A3F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7B80C-4FC0-4BCE-A071-2729D99B1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2562B-4DAB-4871-B9CD-117BB05E5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1E181-5CFB-46B0-A77A-C05561F7D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EF61F-E7D0-4C2A-AEC5-0F26DA9E4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1D61B1-3B15-45BE-B532-DD4993DE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C68A95-D803-4528-9A70-0873470D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14095-E410-44A9-9EC8-E5AC940C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64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C0728-E008-4149-B107-35EBB8FB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FD567-2B69-46A0-BEB1-792D9A6B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1E902-995B-4ADE-AFFF-A25929CB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6CEBF-57CC-4CC8-936E-53DFFCE3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8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F171A-3A23-45C4-A4A2-CC5EC61F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F0FB6-4057-49ED-8061-07DC4B19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3A947-B497-40A2-BBB5-D5B0516F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4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4C170-2E84-45FE-A4F3-85AC0804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50D20-F464-4BA4-860F-526DF0EAE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00F2E-F7F3-4678-BFE4-94D7D7A53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4CFA0-0266-4D4C-8F72-7D8BB0B52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D048C-6177-4674-9DC4-043391AE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DB296-C90C-49FE-9AA0-7FEA84CB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4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735E2-66C5-4F4C-9994-0CE9682B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10F78-5AE9-488C-AAFD-57BAEC944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DD70E-45FC-4A18-B873-D4D13AA40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FBA2A-D03C-41AF-B4A5-42389E64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5B39E-7A50-491C-86B9-256445AF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A1BF4-934C-4438-84E6-B1F931FA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6CE6-60E1-4310-8BDF-67EAB650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03BB6-D8FE-4CBD-A403-FC3C4F3E8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B6CD0-65AF-4C46-BE52-1CE3B6049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E6CC7-0505-4EBD-9F03-C07C80E5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36DB9-A9B5-4967-A95E-36156DF6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0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CB0BB0-9746-4960-8A25-1A737D34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2B589-BB8E-4092-AB43-94F1E2163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FBC48-CB17-46C9-8984-2F6E864D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A5113-1980-4702-A629-9E8BAFBA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91056-6A4B-481D-B9CE-780F82C1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1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F2B9A-2E05-4F8E-95D7-74C88452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36AE1-844E-4A4B-912D-291EA819C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7FD7-46D4-4160-BF6A-7254FB705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C6353-2365-4841-A102-DF666901C96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2C70E-57AE-4D9F-BC20-D4E6F332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4DC4C-CA4F-4EC2-B86A-A3C530B70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BB1F-19D8-4D41-88FA-596703AF8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3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B993-F19D-44F6-8AD0-6F36B5AD85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/>
              <a:t>digital marketing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58A9A-F64E-48A7-B82D-2E6A1FF39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0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Rohan – The Aspiring Entrepreneur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DE1021-E67F-4F77-8EC3-432C99C5F7A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/>
          </a:bodyPr>
          <a:lstStyle/>
          <a:p>
            <a:r>
              <a:rPr lang="en-US" dirty="0"/>
              <a:t>Rohan, a young MBA graduate, always dreamed of starting his own sneaker brand. Inspired by global giants like Nike and Adidas, he launched </a:t>
            </a:r>
            <a:r>
              <a:rPr lang="en-US" b="1" dirty="0"/>
              <a:t>"</a:t>
            </a:r>
            <a:r>
              <a:rPr lang="en-US" b="1" dirty="0" err="1"/>
              <a:t>StrideX</a:t>
            </a:r>
            <a:r>
              <a:rPr lang="en-US" b="1" dirty="0"/>
              <a:t>"</a:t>
            </a:r>
            <a:r>
              <a:rPr lang="en-US" dirty="0"/>
              <a:t>, an online store selling premium sneakers.</a:t>
            </a:r>
          </a:p>
          <a:p>
            <a:r>
              <a:rPr lang="en-US" dirty="0"/>
              <a:t>Excited about his product, he set up a small shop in his city and relied on </a:t>
            </a:r>
            <a:r>
              <a:rPr lang="en-US" b="1" dirty="0"/>
              <a:t>traditional marketing</a:t>
            </a:r>
            <a:r>
              <a:rPr lang="en-US" dirty="0"/>
              <a:t>—newspaper ads, flyers, and word-of-mouth. Weeks passed, but sales remained low. Foot traffic was limited, and he couldn’t reach sneaker enthusiasts outside his city.</a:t>
            </a:r>
          </a:p>
          <a:p>
            <a:r>
              <a:rPr lang="en-US" dirty="0"/>
              <a:t>Frustrated, Rohan met his mentor, Priya, a successful digital marketer. She asked,</a:t>
            </a:r>
            <a:br>
              <a:rPr lang="en-US" dirty="0"/>
            </a:br>
            <a:r>
              <a:rPr lang="en-US" b="1" dirty="0"/>
              <a:t>"How many people see your newspaper ad?"</a:t>
            </a:r>
            <a:br>
              <a:rPr lang="en-US" dirty="0"/>
            </a:br>
            <a:r>
              <a:rPr lang="en-US" dirty="0"/>
              <a:t>Rohan hesitated, </a:t>
            </a:r>
            <a:r>
              <a:rPr lang="en-US" b="1" dirty="0"/>
              <a:t>"I have no idea."</a:t>
            </a:r>
            <a:endParaRPr lang="en-US" dirty="0"/>
          </a:p>
          <a:p>
            <a:r>
              <a:rPr lang="en-US" dirty="0"/>
              <a:t>Priya smiled, </a:t>
            </a:r>
            <a:r>
              <a:rPr lang="en-US" b="1" dirty="0"/>
              <a:t>"That’s where digital marketing changes the game."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18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dirty="0"/>
              <a:t>What is Digital Marketing?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/>
          </a:bodyPr>
          <a:lstStyle/>
          <a:p>
            <a:r>
              <a:rPr lang="en-US" sz="2000" dirty="0"/>
              <a:t>Priya explained:</a:t>
            </a:r>
            <a:br>
              <a:rPr lang="en-US" sz="2000" dirty="0"/>
            </a:br>
            <a:r>
              <a:rPr lang="en-US" sz="2000" i="1" dirty="0"/>
              <a:t>"Digital marketing is the use of online platforms like search engines, social media, email, and websites to promote a brand, connect with customers, and drive sales."</a:t>
            </a:r>
            <a:endParaRPr lang="en-US" sz="2000" dirty="0"/>
          </a:p>
          <a:p>
            <a:r>
              <a:rPr lang="en-US" sz="2000" dirty="0"/>
              <a:t>Unlike traditional marketing, where businesses hope their ads are seen, digital marketing allows precise targeting.</a:t>
            </a:r>
          </a:p>
          <a:p>
            <a:r>
              <a:rPr lang="en-US" sz="2000" dirty="0"/>
              <a:t>She showed Rohan an example:</a:t>
            </a:r>
            <a:br>
              <a:rPr lang="en-US" sz="2000" dirty="0"/>
            </a:br>
            <a:r>
              <a:rPr lang="en-US" sz="2000" dirty="0"/>
              <a:t>🔹 Instead of printing 1,000 flyers and hoping people read them, he could create an Instagram ad that </a:t>
            </a:r>
            <a:r>
              <a:rPr lang="en-US" sz="2000" b="1" dirty="0"/>
              <a:t>reaches 10,000 sneaker lovers for half the cost.</a:t>
            </a:r>
            <a:endParaRPr lang="en-US" sz="2000" dirty="0"/>
          </a:p>
          <a:p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72B6C76-A17E-4DF2-B4A3-18375D1574C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5302458" y="1371738"/>
            <a:ext cx="6172200" cy="4873625"/>
          </a:xfrm>
        </p:spPr>
      </p:pic>
    </p:spTree>
    <p:extLst>
      <p:ext uri="{BB962C8B-B14F-4D97-AF65-F5344CB8AC3E}">
        <p14:creationId xmlns:p14="http://schemas.microsoft.com/office/powerpoint/2010/main" val="134528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b="1" dirty="0"/>
              <a:t>Why Digital Marketing?</a:t>
            </a:r>
            <a:r>
              <a:rPr lang="en-US" dirty="0"/>
              <a:t> (Priya’s Lessons)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Priya listed five reasons why businesses today </a:t>
            </a:r>
            <a:r>
              <a:rPr lang="en-US" b="1" dirty="0"/>
              <a:t>must</a:t>
            </a:r>
            <a:r>
              <a:rPr lang="en-US" dirty="0"/>
              <a:t> use digital marketing:</a:t>
            </a:r>
          </a:p>
          <a:p>
            <a:r>
              <a:rPr lang="en-US" dirty="0"/>
              <a:t>1️⃣ </a:t>
            </a:r>
            <a:r>
              <a:rPr lang="en-US" b="1" dirty="0"/>
              <a:t>Wider Reach: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His shop could only serve people in his city.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marketing could make </a:t>
            </a:r>
            <a:r>
              <a:rPr lang="en-US" b="1" dirty="0" err="1"/>
              <a:t>StrideX</a:t>
            </a:r>
            <a:r>
              <a:rPr lang="en-US" dirty="0"/>
              <a:t> visible across India (or globally!).</a:t>
            </a:r>
          </a:p>
          <a:p>
            <a:r>
              <a:rPr lang="en-US" dirty="0"/>
              <a:t>2️⃣ </a:t>
            </a:r>
            <a:r>
              <a:rPr lang="en-US" b="1" dirty="0"/>
              <a:t>Cost-Effective: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Flyers and newspaper ads cost a lot with </a:t>
            </a:r>
            <a:r>
              <a:rPr lang="en-US" b="1" dirty="0"/>
              <a:t>no guarantee</a:t>
            </a:r>
            <a:r>
              <a:rPr lang="en-US" dirty="0"/>
              <a:t> of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₹500 Facebook ad could bring </a:t>
            </a:r>
            <a:r>
              <a:rPr lang="en-US" b="1" dirty="0"/>
              <a:t>thousands of visitors</a:t>
            </a:r>
            <a:r>
              <a:rPr lang="en-US" dirty="0"/>
              <a:t> to his online store.</a:t>
            </a:r>
          </a:p>
          <a:p>
            <a:r>
              <a:rPr lang="en-US" dirty="0"/>
              <a:t>3️⃣ </a:t>
            </a:r>
            <a:r>
              <a:rPr lang="en-US" b="1" dirty="0"/>
              <a:t>Measurable Results: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digital marketing, he could track </a:t>
            </a:r>
            <a:r>
              <a:rPr lang="en-US" b="1" dirty="0"/>
              <a:t>how many people clicked, viewed, or bought sneakers.</a:t>
            </a:r>
            <a:endParaRPr lang="en-US" dirty="0"/>
          </a:p>
          <a:p>
            <a:r>
              <a:rPr lang="en-US" dirty="0"/>
              <a:t>4️⃣ </a:t>
            </a:r>
            <a:r>
              <a:rPr lang="en-US" b="1" dirty="0"/>
              <a:t>Targeted Advertising: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 of advertising to </a:t>
            </a:r>
            <a:r>
              <a:rPr lang="en-US" i="1" dirty="0"/>
              <a:t>everyone,</a:t>
            </a:r>
            <a:r>
              <a:rPr lang="en-US" dirty="0"/>
              <a:t> he could </a:t>
            </a:r>
            <a:r>
              <a:rPr lang="en-US" b="1" dirty="0"/>
              <a:t>show ads only to sneaker lovers aged 18-35.</a:t>
            </a:r>
            <a:endParaRPr lang="en-US" dirty="0"/>
          </a:p>
          <a:p>
            <a:r>
              <a:rPr lang="en-US" dirty="0"/>
              <a:t>5️⃣ </a:t>
            </a:r>
            <a:r>
              <a:rPr lang="en-US" b="1" dirty="0"/>
              <a:t>Customer Engagement: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Unlike one-way newspaper ads, </a:t>
            </a:r>
            <a:r>
              <a:rPr lang="en-US" b="1" dirty="0"/>
              <a:t>social media</a:t>
            </a:r>
            <a:r>
              <a:rPr lang="en-US" dirty="0"/>
              <a:t> allowed </a:t>
            </a:r>
            <a:r>
              <a:rPr lang="en-US" dirty="0" err="1"/>
              <a:t>StrideX</a:t>
            </a:r>
            <a:r>
              <a:rPr lang="en-US" dirty="0"/>
              <a:t> to interact with customers.</a:t>
            </a:r>
          </a:p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8ACE6D-8773-491B-A385-89DFEB3E13AC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150197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11595652" cy="1083365"/>
          </a:xfrm>
        </p:spPr>
        <p:txBody>
          <a:bodyPr/>
          <a:lstStyle/>
          <a:p>
            <a:r>
              <a:rPr lang="en-US" dirty="0"/>
              <a:t>Traditional Marketing vs. Digital Marketing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550505"/>
            <a:ext cx="11476382" cy="4969566"/>
          </a:xfrm>
        </p:spPr>
        <p:txBody>
          <a:bodyPr>
            <a:normAutofit/>
          </a:bodyPr>
          <a:lstStyle/>
          <a:p>
            <a:r>
              <a:rPr lang="en-US" dirty="0"/>
              <a:t>Rohan was curious. </a:t>
            </a:r>
            <a:r>
              <a:rPr lang="en-US" b="1" dirty="0"/>
              <a:t>"So, is traditional marketing useless?"</a:t>
            </a:r>
            <a:endParaRPr lang="en-US" dirty="0"/>
          </a:p>
          <a:p>
            <a:r>
              <a:rPr lang="en-US" dirty="0"/>
              <a:t>Priya shook her head. </a:t>
            </a:r>
            <a:r>
              <a:rPr lang="en-US" b="1" dirty="0"/>
              <a:t>"Not at all! It depends on your audience. But digital marketing offers more control, better targeting, and instant feedback."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29C3704E-4D64-49C5-97DD-B7097289E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708882"/>
              </p:ext>
            </p:extLst>
          </p:nvPr>
        </p:nvGraphicFramePr>
        <p:xfrm>
          <a:off x="852556" y="2946031"/>
          <a:ext cx="8127999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975508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459687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64417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Traditional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Digital Marketing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768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Newspapers, TV, radio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Social media, websites,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51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Audience Targeting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Broad, less specific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Highly targeted 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72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(printing, air-time)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Cost-effective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917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Measurability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Hard to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analytics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570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One-way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Two-way engagement with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931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76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b="1" dirty="0"/>
              <a:t>The Evolution of Digital Marketing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Priya pulled out her phone and showed Rohan how marketing had evolved:</a:t>
            </a:r>
          </a:p>
          <a:p>
            <a:r>
              <a:rPr lang="en-US" sz="2400" dirty="0"/>
              <a:t>📌 </a:t>
            </a:r>
            <a:r>
              <a:rPr lang="en-US" sz="2400" b="1" dirty="0"/>
              <a:t>1990s:</a:t>
            </a:r>
            <a:r>
              <a:rPr lang="en-US" sz="2400" dirty="0"/>
              <a:t> Businesses started making websites and email marketing became popular.</a:t>
            </a:r>
            <a:br>
              <a:rPr lang="en-US" sz="2400" dirty="0"/>
            </a:br>
            <a:r>
              <a:rPr lang="en-US" sz="2400" dirty="0"/>
              <a:t>📌 </a:t>
            </a:r>
            <a:r>
              <a:rPr lang="en-US" sz="2400" b="1" dirty="0"/>
              <a:t>2000s:</a:t>
            </a:r>
            <a:r>
              <a:rPr lang="en-US" sz="2400" dirty="0"/>
              <a:t> Google launched AdWords, Facebook emerged, and SEO became a game-changer.</a:t>
            </a:r>
            <a:br>
              <a:rPr lang="en-US" sz="2400" dirty="0"/>
            </a:br>
            <a:r>
              <a:rPr lang="en-US" sz="2400" dirty="0"/>
              <a:t>📌 </a:t>
            </a:r>
            <a:r>
              <a:rPr lang="en-US" sz="2400" b="1" dirty="0"/>
              <a:t>2010s:</a:t>
            </a:r>
            <a:r>
              <a:rPr lang="en-US" sz="2400" dirty="0"/>
              <a:t> Social media exploded—Instagram, YouTube, influencer marketing, and data-driven ads.</a:t>
            </a:r>
            <a:br>
              <a:rPr lang="en-US" sz="2400" dirty="0"/>
            </a:br>
            <a:r>
              <a:rPr lang="en-US" sz="2400" dirty="0"/>
              <a:t>📌 </a:t>
            </a:r>
            <a:r>
              <a:rPr lang="en-US" sz="2400" b="1" dirty="0"/>
              <a:t>2020s:</a:t>
            </a:r>
            <a:r>
              <a:rPr lang="en-US" sz="2400" dirty="0"/>
              <a:t> AI-driven marketing, chatbots, and hyper-personalization became the future.</a:t>
            </a:r>
          </a:p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5C8371-FE86-4619-BF5F-4FD2C2371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633" y="1056585"/>
            <a:ext cx="6090755" cy="480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63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b="1" dirty="0"/>
              <a:t>Case Study – Nike’s Digital Marketing Success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To convince Rohan, Priya shared an example: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Brand:</a:t>
            </a:r>
            <a:r>
              <a:rPr lang="en-US" sz="2800" dirty="0"/>
              <a:t> Nike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Strategy: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Used </a:t>
            </a:r>
            <a:r>
              <a:rPr lang="en-US" sz="2800" b="1" dirty="0"/>
              <a:t>SEO</a:t>
            </a:r>
            <a:r>
              <a:rPr lang="en-US" sz="2800" dirty="0"/>
              <a:t> to rank on Google for “best running shoes.”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Partnered with </a:t>
            </a:r>
            <a:r>
              <a:rPr lang="en-US" sz="2800" b="1" dirty="0"/>
              <a:t>athletes &amp; influencers</a:t>
            </a:r>
            <a:r>
              <a:rPr lang="en-US" sz="2800" dirty="0"/>
              <a:t> for social media marketing.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Created </a:t>
            </a:r>
            <a:r>
              <a:rPr lang="en-US" sz="2800" b="1" dirty="0"/>
              <a:t>interactive campaigns</a:t>
            </a:r>
            <a:r>
              <a:rPr lang="en-US" sz="2800" dirty="0"/>
              <a:t> like the Nike Training App.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Used </a:t>
            </a:r>
            <a:r>
              <a:rPr lang="en-US" sz="2800" b="1" dirty="0"/>
              <a:t>Facebook &amp; Instagram Ads</a:t>
            </a:r>
            <a:r>
              <a:rPr lang="en-US" sz="2800" dirty="0"/>
              <a:t> to target fitness enthusiasts.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Result:</a:t>
            </a:r>
            <a:r>
              <a:rPr lang="en-US" sz="2800" dirty="0"/>
              <a:t> Nike’s digital marketing helped them dominate online sneaker sales.</a:t>
            </a:r>
          </a:p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00007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479235" cy="1017104"/>
          </a:xfrm>
        </p:spPr>
        <p:txBody>
          <a:bodyPr/>
          <a:lstStyle/>
          <a:p>
            <a:r>
              <a:rPr lang="en-US" b="1" dirty="0"/>
              <a:t>Rohan’s Realization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/>
          </a:bodyPr>
          <a:lstStyle/>
          <a:p>
            <a:r>
              <a:rPr lang="en-US" dirty="0"/>
              <a:t>Rohan finally understood—</a:t>
            </a:r>
            <a:r>
              <a:rPr lang="en-US" b="1" dirty="0"/>
              <a:t>if he wanted </a:t>
            </a:r>
            <a:r>
              <a:rPr lang="en-US" b="1" dirty="0" err="1"/>
              <a:t>StrideX</a:t>
            </a:r>
            <a:r>
              <a:rPr lang="en-US" b="1" dirty="0"/>
              <a:t> to succeed, he needed to go digital.</a:t>
            </a:r>
            <a:endParaRPr lang="en-US" dirty="0"/>
          </a:p>
          <a:p>
            <a:r>
              <a:rPr lang="en-US" dirty="0"/>
              <a:t>He asked, </a:t>
            </a:r>
            <a:r>
              <a:rPr lang="en-US" b="1" dirty="0"/>
              <a:t>"Where do I start?"</a:t>
            </a:r>
            <a:br>
              <a:rPr lang="en-US" dirty="0"/>
            </a:br>
            <a:r>
              <a:rPr lang="en-US" dirty="0"/>
              <a:t>Priya smiled, </a:t>
            </a:r>
            <a:r>
              <a:rPr lang="en-US" b="1" dirty="0"/>
              <a:t>"Let’s begin with the key channels of digital marketing."</a:t>
            </a:r>
            <a:endParaRPr lang="en-US" dirty="0"/>
          </a:p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02616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b="1" dirty="0"/>
              <a:t>Key Digital Marketing Channels – Rohan’s Next Lesson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/>
          </a:bodyPr>
          <a:lstStyle/>
          <a:p>
            <a:r>
              <a:rPr lang="en-US" b="1" dirty="0"/>
              <a:t>Rohan’s Dilemma</a:t>
            </a:r>
          </a:p>
          <a:p>
            <a:r>
              <a:rPr lang="en-US" dirty="0"/>
              <a:t>Now that Rohan understood the power of digital marketing, he asked Priya,</a:t>
            </a:r>
            <a:br>
              <a:rPr lang="en-US" dirty="0"/>
            </a:br>
            <a:r>
              <a:rPr lang="en-US" b="1" dirty="0"/>
              <a:t>“Okay, I get it. But where do I start? Should I just post on Instagram?”</a:t>
            </a:r>
            <a:endParaRPr lang="en-US" dirty="0"/>
          </a:p>
          <a:p>
            <a:r>
              <a:rPr lang="en-US" dirty="0"/>
              <a:t>Priya smiled, </a:t>
            </a:r>
            <a:r>
              <a:rPr lang="en-US" b="1" dirty="0"/>
              <a:t>“Good question! Digital marketing isn’t just about social media. There are multiple channels, and you need to pick the right ones for your brand.”</a:t>
            </a:r>
            <a:endParaRPr lang="en-US" dirty="0"/>
          </a:p>
          <a:p>
            <a:r>
              <a:rPr lang="en-US" dirty="0"/>
              <a:t>She pulled out her tab  and started  scribbling down the </a:t>
            </a:r>
            <a:r>
              <a:rPr lang="en-US" b="1" dirty="0"/>
              <a:t>six key digital marketing channels</a:t>
            </a:r>
            <a:r>
              <a:rPr lang="en-US" dirty="0"/>
              <a:t> every business should know:</a:t>
            </a:r>
          </a:p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808282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dirty="0"/>
              <a:t>1️⃣ Search Engine Optimization (SEO) – Be Found on Google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/>
          </a:bodyPr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i="1" dirty="0"/>
              <a:t>"Imagine someone searches ‘best running shoes under ₹5000’ on Google. If </a:t>
            </a:r>
            <a:r>
              <a:rPr lang="en-US" i="1" dirty="0" err="1"/>
              <a:t>StrideX’s</a:t>
            </a:r>
            <a:r>
              <a:rPr lang="en-US" i="1" dirty="0"/>
              <a:t> website appears on top, that’s because of SEO!"</a:t>
            </a: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SEO helps businesses rank higher on search engines (Google, Bing, etc.).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More visibility → More website visitors → More sales!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Requires keyword research, quality content, and a well-structured website.</a:t>
            </a:r>
            <a:endParaRPr lang="en-US" dirty="0"/>
          </a:p>
          <a:p>
            <a:r>
              <a:rPr lang="en-US" b="1" dirty="0"/>
              <a:t>Priya’s Advice:</a:t>
            </a:r>
            <a:br>
              <a:rPr lang="en-US" dirty="0"/>
            </a:br>
            <a:r>
              <a:rPr lang="en-US" i="1" dirty="0"/>
              <a:t>"SEO is a long-term strategy. It takes time but gives free organic traffic."</a:t>
            </a:r>
            <a:endParaRPr lang="en-US" dirty="0"/>
          </a:p>
          <a:p>
            <a:r>
              <a:rPr lang="en-US" dirty="0"/>
              <a:t>Rohan was excited. </a:t>
            </a:r>
            <a:r>
              <a:rPr lang="en-US" b="1" dirty="0"/>
              <a:t>“So, if I use the right words on my website, I can attract sneaker buyers?”</a:t>
            </a:r>
            <a:br>
              <a:rPr lang="en-US" dirty="0"/>
            </a:br>
            <a:r>
              <a:rPr lang="en-US" dirty="0"/>
              <a:t>Priya nodded, </a:t>
            </a:r>
            <a:r>
              <a:rPr lang="en-US" b="1" dirty="0"/>
              <a:t>“Exactly! But SEO is just one piece of the puzzle.”</a:t>
            </a:r>
            <a:endParaRPr lang="en-US" dirty="0"/>
          </a:p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487533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dirty="0"/>
              <a:t>2️⃣ Pay-Per-Click (PPC) Advertising – Instant Visibility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/>
          </a:bodyPr>
          <a:lstStyle/>
          <a:p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i="1" dirty="0"/>
              <a:t>"If you want immediate results, you can pay to appear at the top of Google results."</a:t>
            </a:r>
            <a:endParaRPr lang="en-US" sz="2000" dirty="0"/>
          </a:p>
          <a:p>
            <a:r>
              <a:rPr lang="en-US" sz="2000" dirty="0"/>
              <a:t>✅ </a:t>
            </a:r>
            <a:r>
              <a:rPr lang="en-US" sz="2000" b="1" dirty="0"/>
              <a:t>Google Ads and Facebook Ads allow businesses to show paid ads to potential customers.</a:t>
            </a:r>
            <a:br>
              <a:rPr lang="en-US" sz="2000" dirty="0"/>
            </a:br>
            <a:r>
              <a:rPr lang="en-US" sz="2000" dirty="0"/>
              <a:t>✅ </a:t>
            </a:r>
            <a:r>
              <a:rPr lang="en-US" sz="2000" b="1" dirty="0"/>
              <a:t>You only pay when someone clicks your ad (hence ‘Pay-Per-Click’).</a:t>
            </a:r>
            <a:br>
              <a:rPr lang="en-US" sz="2000" dirty="0"/>
            </a:br>
            <a:r>
              <a:rPr lang="en-US" sz="2000" dirty="0"/>
              <a:t>✅ </a:t>
            </a:r>
            <a:r>
              <a:rPr lang="en-US" sz="2000" b="1" dirty="0"/>
              <a:t>Best for quick traffic, but costs money.</a:t>
            </a:r>
            <a:endParaRPr lang="en-US" sz="2000" dirty="0"/>
          </a:p>
          <a:p>
            <a:r>
              <a:rPr lang="en-US" sz="2000" dirty="0"/>
              <a:t>Rohan asked, </a:t>
            </a:r>
            <a:r>
              <a:rPr lang="en-US" sz="2000" b="1" dirty="0"/>
              <a:t>“So, I can pay to get my website at the top?”</a:t>
            </a:r>
            <a:br>
              <a:rPr lang="en-US" sz="2000" dirty="0"/>
            </a:br>
            <a:r>
              <a:rPr lang="en-US" sz="2000" dirty="0"/>
              <a:t>Priya nodded, </a:t>
            </a:r>
            <a:r>
              <a:rPr lang="en-US" sz="2000" b="1" dirty="0"/>
              <a:t>“Yes! But a smart strategy is to combine SEO (free, long-term) and PPC (paid, instant).”</a:t>
            </a:r>
            <a:endParaRPr lang="en-US" sz="2000" dirty="0"/>
          </a:p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29656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dirty="0"/>
              <a:t>3️⃣ Social Media Marketing – Build a Brand Community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Priya asked, </a:t>
            </a:r>
            <a:r>
              <a:rPr lang="en-US" sz="1800" b="1" dirty="0"/>
              <a:t>“Rohan, where do you think your customers spend most of their time?”</a:t>
            </a:r>
            <a:br>
              <a:rPr lang="en-US" sz="1800" dirty="0"/>
            </a:br>
            <a:r>
              <a:rPr lang="en-US" sz="1800" dirty="0"/>
              <a:t>Rohan thought for a moment and said, </a:t>
            </a:r>
            <a:r>
              <a:rPr lang="en-US" sz="1800" b="1" dirty="0"/>
              <a:t>“Instagram and YouTube?”</a:t>
            </a:r>
            <a:endParaRPr lang="en-US" sz="1800" dirty="0"/>
          </a:p>
          <a:p>
            <a:r>
              <a:rPr lang="en-US" sz="1800" dirty="0"/>
              <a:t>Priya smiled, </a:t>
            </a:r>
            <a:r>
              <a:rPr lang="en-US" sz="1800" b="1" dirty="0"/>
              <a:t>“Exactly! Social media is one of the most powerful ways to connect with your audience.”</a:t>
            </a:r>
            <a:endParaRPr lang="en-US" sz="1800" dirty="0"/>
          </a:p>
          <a:p>
            <a:r>
              <a:rPr lang="en-US" sz="1800" dirty="0"/>
              <a:t>✅ </a:t>
            </a:r>
            <a:r>
              <a:rPr lang="en-US" sz="1800" b="1" dirty="0"/>
              <a:t>Platforms:</a:t>
            </a:r>
            <a:r>
              <a:rPr lang="en-US" sz="1800" dirty="0"/>
              <a:t> Facebook, Instagram, LinkedIn, Twitter, YouTube, </a:t>
            </a:r>
            <a:r>
              <a:rPr lang="en-US" sz="1800" dirty="0" err="1"/>
              <a:t>TikTok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✅ </a:t>
            </a:r>
            <a:r>
              <a:rPr lang="en-US" sz="1800" b="1" dirty="0"/>
              <a:t>You can promote products, engage with customers, and run ads.</a:t>
            </a:r>
            <a:br>
              <a:rPr lang="en-US" sz="1800" dirty="0"/>
            </a:br>
            <a:r>
              <a:rPr lang="en-US" sz="1800" dirty="0"/>
              <a:t>✅ </a:t>
            </a:r>
            <a:r>
              <a:rPr lang="en-US" sz="1800" b="1" dirty="0"/>
              <a:t>Influencer collaborations boost brand awareness.</a:t>
            </a:r>
            <a:endParaRPr lang="en-US" sz="1800" dirty="0"/>
          </a:p>
          <a:p>
            <a:r>
              <a:rPr lang="en-US" sz="1800" b="1" dirty="0"/>
              <a:t>Example:</a:t>
            </a:r>
            <a:br>
              <a:rPr lang="en-US" sz="1800" dirty="0"/>
            </a:br>
            <a:r>
              <a:rPr lang="en-US" sz="1800" i="1" dirty="0"/>
              <a:t>"Nike partners with athletes &amp; influencers on Instagram to promote new sneaker launches."</a:t>
            </a:r>
            <a:endParaRPr lang="en-US" sz="1800" dirty="0"/>
          </a:p>
          <a:p>
            <a:r>
              <a:rPr lang="en-US" sz="1800" dirty="0"/>
              <a:t>Rohan asked, </a:t>
            </a:r>
            <a:r>
              <a:rPr lang="en-US" sz="1800" b="1" dirty="0"/>
              <a:t>“How often should I post?”</a:t>
            </a:r>
            <a:br>
              <a:rPr lang="en-US" sz="1800" dirty="0"/>
            </a:br>
            <a:r>
              <a:rPr lang="en-US" sz="1800" dirty="0"/>
              <a:t>Priya replied, </a:t>
            </a:r>
            <a:r>
              <a:rPr lang="en-US" sz="1800" b="1" dirty="0"/>
              <a:t>“Consistency is key! Post engaging content 3-4 times a week.”</a:t>
            </a:r>
            <a:endParaRPr lang="en-US" sz="1800" dirty="0"/>
          </a:p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64611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dirty="0"/>
              <a:t>4️⃣ Content Marketing – Attract Customers with Valuable Content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i="1" dirty="0"/>
              <a:t>"Instead of just selling sneakers, </a:t>
            </a:r>
            <a:r>
              <a:rPr lang="en-US" sz="2400" i="1" dirty="0" err="1"/>
              <a:t>StrideX</a:t>
            </a:r>
            <a:r>
              <a:rPr lang="en-US" sz="2400" i="1" dirty="0"/>
              <a:t> could start a blog on ‘How to Pick the Perfect Running Shoes’ or a YouTube channel reviewing sneakers."</a:t>
            </a:r>
            <a:endParaRPr lang="en-US" sz="2400" dirty="0"/>
          </a:p>
          <a:p>
            <a:r>
              <a:rPr lang="en-US" sz="2400" dirty="0"/>
              <a:t>✅ </a:t>
            </a:r>
            <a:r>
              <a:rPr lang="en-US" sz="2400" b="1" dirty="0"/>
              <a:t>Content marketing involves blogs, videos, infographics, podcasts, and more.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It builds trust and positions you as an industry expert.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Good content improves SEO and brings organic traffic.</a:t>
            </a:r>
            <a:endParaRPr lang="en-US" sz="2400" dirty="0"/>
          </a:p>
          <a:p>
            <a:r>
              <a:rPr lang="en-US" sz="2400" dirty="0"/>
              <a:t>Priya’s Tip: </a:t>
            </a:r>
            <a:r>
              <a:rPr lang="en-US" sz="2400" b="1" dirty="0"/>
              <a:t>“Instead of saying ‘Buy my sneakers,’ educate your audience. If they trust you, they will buy!”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613741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/>
          <a:lstStyle/>
          <a:p>
            <a:r>
              <a:rPr lang="en-US" dirty="0"/>
              <a:t>5️⃣ Email Marketing – Personal Connection with Customers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Priya asked, </a:t>
            </a:r>
            <a:r>
              <a:rPr lang="en-US" sz="2400" b="1" dirty="0"/>
              <a:t>“Do you check promotional emails?”</a:t>
            </a:r>
            <a:br>
              <a:rPr lang="en-US" sz="2400" dirty="0"/>
            </a:br>
            <a:r>
              <a:rPr lang="en-US" sz="2400" dirty="0"/>
              <a:t>Rohan replied, </a:t>
            </a:r>
            <a:r>
              <a:rPr lang="en-US" sz="2400" b="1" dirty="0"/>
              <a:t>“Only if they have discounts!”</a:t>
            </a:r>
            <a:endParaRPr lang="en-US" sz="2400" dirty="0"/>
          </a:p>
          <a:p>
            <a:r>
              <a:rPr lang="en-US" sz="2400" dirty="0"/>
              <a:t>Priya laughed, </a:t>
            </a:r>
            <a:r>
              <a:rPr lang="en-US" sz="2400" b="1" dirty="0"/>
              <a:t>“Exactly! Email marketing is great for nurturing leads and increasing repeat sales.”</a:t>
            </a:r>
            <a:endParaRPr lang="en-US" sz="2400" dirty="0"/>
          </a:p>
          <a:p>
            <a:r>
              <a:rPr lang="en-US" sz="2400" dirty="0"/>
              <a:t>✅ </a:t>
            </a:r>
            <a:r>
              <a:rPr lang="en-US" sz="2400" b="1" dirty="0"/>
              <a:t>Businesses collect emails and send personalized offers, newsletters, and updates.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Automated emails (cart abandonment, discounts) boost sales.</a:t>
            </a:r>
            <a:endParaRPr lang="en-US" sz="2400" dirty="0"/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i="1" dirty="0"/>
              <a:t>"</a:t>
            </a:r>
            <a:r>
              <a:rPr lang="en-US" sz="2400" i="1" dirty="0" err="1"/>
              <a:t>StrideX</a:t>
            </a:r>
            <a:r>
              <a:rPr lang="en-US" sz="2400" i="1" dirty="0"/>
              <a:t> could send a ‘20% Off for First-Time Buyers’ email to new subscribers."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808685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281609"/>
            <a:ext cx="4506982" cy="1600200"/>
          </a:xfrm>
        </p:spPr>
        <p:txBody>
          <a:bodyPr>
            <a:normAutofit fontScale="90000"/>
          </a:bodyPr>
          <a:lstStyle/>
          <a:p>
            <a:r>
              <a:rPr lang="en-US" dirty="0"/>
              <a:t>6️⃣ </a:t>
            </a:r>
            <a:r>
              <a:rPr lang="en-US" b="1" dirty="0"/>
              <a:t>Affiliate &amp; Influencer Marketing – Leverage Others to Promote Your Brand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Priya asked, </a:t>
            </a:r>
            <a:r>
              <a:rPr lang="en-US" sz="2400" b="1" dirty="0"/>
              <a:t>“Would you trust an ad or a friend’s recommendation more?”</a:t>
            </a:r>
            <a:br>
              <a:rPr lang="en-US" sz="2400" dirty="0"/>
            </a:br>
            <a:r>
              <a:rPr lang="en-US" sz="2400" dirty="0"/>
              <a:t>Rohan replied, </a:t>
            </a:r>
            <a:r>
              <a:rPr lang="en-US" sz="2400" b="1" dirty="0"/>
              <a:t>“Definitely a friend’s recommendation.”</a:t>
            </a:r>
            <a:endParaRPr lang="en-US" sz="2400" dirty="0"/>
          </a:p>
          <a:p>
            <a:r>
              <a:rPr lang="en-US" sz="2400" dirty="0"/>
              <a:t>✅ </a:t>
            </a:r>
            <a:r>
              <a:rPr lang="en-US" sz="2400" b="1" dirty="0"/>
              <a:t>Affiliate marketing:</a:t>
            </a:r>
            <a:r>
              <a:rPr lang="en-US" sz="2400" dirty="0"/>
              <a:t> Businesses pay commissions to people who bring sales.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Influencer marketing:</a:t>
            </a:r>
            <a:r>
              <a:rPr lang="en-US" sz="2400" dirty="0"/>
              <a:t> Brands partner with social media influencers to promote products.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Great for reaching a wider audience.</a:t>
            </a:r>
            <a:endParaRPr lang="en-US" sz="2400" dirty="0"/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i="1" dirty="0"/>
              <a:t>"</a:t>
            </a:r>
            <a:r>
              <a:rPr lang="en-US" sz="2400" i="1" dirty="0" err="1"/>
              <a:t>StrideX</a:t>
            </a:r>
            <a:r>
              <a:rPr lang="en-US" sz="2400" i="1" dirty="0"/>
              <a:t> could collaborate with a YouTuber who reviews sneakers. If they recommend </a:t>
            </a:r>
            <a:r>
              <a:rPr lang="en-US" sz="2400" i="1" dirty="0" err="1"/>
              <a:t>StrideX</a:t>
            </a:r>
            <a:r>
              <a:rPr lang="en-US" sz="2400" i="1" dirty="0"/>
              <a:t>, their followers are more likely to buy."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1594882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87325"/>
            <a:ext cx="4506982" cy="1600200"/>
          </a:xfrm>
        </p:spPr>
        <p:txBody>
          <a:bodyPr>
            <a:normAutofit/>
          </a:bodyPr>
          <a:lstStyle/>
          <a:p>
            <a:r>
              <a:rPr lang="en-US" b="1" dirty="0"/>
              <a:t>Which Channels Should Rohan Focus On?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Priya said, </a:t>
            </a:r>
            <a:r>
              <a:rPr lang="en-US" sz="2400" b="1" dirty="0"/>
              <a:t>"Now that you know the channels, you need to pick the best ones for your business."</a:t>
            </a:r>
            <a:endParaRPr lang="en-US" sz="2400" dirty="0"/>
          </a:p>
          <a:p>
            <a:r>
              <a:rPr lang="en-US" sz="2400" dirty="0"/>
              <a:t>🚀 </a:t>
            </a:r>
            <a:r>
              <a:rPr lang="en-US" sz="2400" b="1" dirty="0"/>
              <a:t>For a new brand like </a:t>
            </a:r>
            <a:r>
              <a:rPr lang="en-US" sz="2400" b="1" dirty="0" err="1"/>
              <a:t>StrideX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SEO</a:t>
            </a:r>
            <a:r>
              <a:rPr lang="en-US" sz="2400" dirty="0"/>
              <a:t> (for long-term free traffic)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Social Media Marketing</a:t>
            </a:r>
            <a:r>
              <a:rPr lang="en-US" sz="2400" dirty="0"/>
              <a:t> (to build a community)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PPC Ads</a:t>
            </a:r>
            <a:r>
              <a:rPr lang="en-US" sz="2400" dirty="0"/>
              <a:t> (for instant visibility)</a:t>
            </a:r>
            <a:br>
              <a:rPr lang="en-US" sz="2400" dirty="0"/>
            </a:br>
            <a:r>
              <a:rPr lang="en-US" sz="2400" dirty="0"/>
              <a:t>✅ </a:t>
            </a:r>
            <a:r>
              <a:rPr lang="en-US" sz="2400" b="1" dirty="0"/>
              <a:t>Influencer Marketing</a:t>
            </a:r>
            <a:r>
              <a:rPr lang="en-US" sz="2400" dirty="0"/>
              <a:t> (to gain trust quickly)</a:t>
            </a:r>
          </a:p>
          <a:p>
            <a:r>
              <a:rPr lang="en-US" sz="2400" dirty="0"/>
              <a:t>Rohan smiled, </a:t>
            </a:r>
            <a:r>
              <a:rPr lang="en-US" sz="2400" b="1" dirty="0"/>
              <a:t>“This makes sense! Instead of doing everything, I’ll focus on these four first.”</a:t>
            </a:r>
            <a:endParaRPr lang="en-US" sz="2400" dirty="0"/>
          </a:p>
          <a:p>
            <a:r>
              <a:rPr lang="en-US" sz="2400" dirty="0"/>
              <a:t>Priya nodded, </a:t>
            </a:r>
            <a:r>
              <a:rPr lang="en-US" sz="2400" b="1" dirty="0"/>
              <a:t>“Good choice! Next, let’s understand how these channels fit into the Digital Marketing Funnel.”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156282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87325"/>
            <a:ext cx="4506982" cy="1600200"/>
          </a:xfrm>
        </p:spPr>
        <p:txBody>
          <a:bodyPr>
            <a:normAutofit/>
          </a:bodyPr>
          <a:lstStyle/>
          <a:p>
            <a:r>
              <a:rPr lang="en-US" b="1" dirty="0"/>
              <a:t>Understanding the Digital Marketing Funnel – Rohan’s Strategy Blueprint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/>
          </a:bodyPr>
          <a:lstStyle/>
          <a:p>
            <a:r>
              <a:rPr lang="en-US" sz="2400" dirty="0"/>
              <a:t>Rohan was feeling pumped! He had a solid understanding of digital marketing channels, but he had one burning question.</a:t>
            </a:r>
          </a:p>
          <a:p>
            <a:r>
              <a:rPr lang="en-US" sz="2400" b="1" dirty="0"/>
              <a:t>“Priya, I get that I need SEO, social media, and ads, but how do I actually turn strangers into customers?”</a:t>
            </a:r>
            <a:endParaRPr lang="en-US" sz="2400" dirty="0"/>
          </a:p>
          <a:p>
            <a:r>
              <a:rPr lang="en-US" sz="2400" dirty="0"/>
              <a:t>Priya grinned. </a:t>
            </a:r>
            <a:r>
              <a:rPr lang="en-US" sz="2400" b="1" dirty="0"/>
              <a:t>“Great question! You need a Digital Marketing Funnel.”</a:t>
            </a:r>
            <a:endParaRPr lang="en-US" sz="2400" dirty="0"/>
          </a:p>
          <a:p>
            <a:r>
              <a:rPr lang="en-US" sz="2400" dirty="0"/>
              <a:t>She pulled out a notepad and drew a funnel.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4057900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87325"/>
            <a:ext cx="4506982" cy="1600200"/>
          </a:xfrm>
        </p:spPr>
        <p:txBody>
          <a:bodyPr>
            <a:normAutofit/>
          </a:bodyPr>
          <a:lstStyle/>
          <a:p>
            <a:r>
              <a:rPr lang="en-US" b="1" dirty="0"/>
              <a:t>Understanding the Digital Marketing Funnel – Rohan’s Strategy Blueprint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Priya explained, </a:t>
            </a:r>
            <a:r>
              <a:rPr lang="en-US" sz="2800" b="1" dirty="0"/>
              <a:t>“A funnel represents the journey of a customer from the moment they first hear about your brand to the point they make a purchase.”</a:t>
            </a:r>
            <a:endParaRPr lang="en-US" sz="2800" dirty="0"/>
          </a:p>
          <a:p>
            <a:r>
              <a:rPr lang="en-US" sz="2800" dirty="0"/>
              <a:t>She pointed to different sections of the funnel:</a:t>
            </a:r>
          </a:p>
          <a:p>
            <a:r>
              <a:rPr lang="en-US" sz="2800" dirty="0"/>
              <a:t>1️⃣ </a:t>
            </a:r>
            <a:r>
              <a:rPr lang="en-US" sz="2800" b="1" dirty="0"/>
              <a:t>Awareness</a:t>
            </a:r>
            <a:r>
              <a:rPr lang="en-US" sz="2800" dirty="0"/>
              <a:t> – "Who are you?"</a:t>
            </a:r>
            <a:br>
              <a:rPr lang="en-US" sz="2800" dirty="0"/>
            </a:br>
            <a:r>
              <a:rPr lang="en-US" sz="2800" dirty="0"/>
              <a:t>2️⃣ </a:t>
            </a:r>
            <a:r>
              <a:rPr lang="en-US" sz="2800" b="1" dirty="0"/>
              <a:t>Interest</a:t>
            </a:r>
            <a:r>
              <a:rPr lang="en-US" sz="2800" dirty="0"/>
              <a:t> – "Hmm, this looks interesting!"</a:t>
            </a:r>
            <a:br>
              <a:rPr lang="en-US" sz="2800" dirty="0"/>
            </a:br>
            <a:r>
              <a:rPr lang="en-US" sz="2800" dirty="0"/>
              <a:t>3️⃣ </a:t>
            </a:r>
            <a:r>
              <a:rPr lang="en-US" sz="2800" b="1" dirty="0"/>
              <a:t>Consideration</a:t>
            </a:r>
            <a:r>
              <a:rPr lang="en-US" sz="2800" dirty="0"/>
              <a:t> – "Should I buy it?"</a:t>
            </a:r>
            <a:br>
              <a:rPr lang="en-US" sz="2800" dirty="0"/>
            </a:br>
            <a:r>
              <a:rPr lang="en-US" sz="2800" dirty="0"/>
              <a:t>4️⃣ </a:t>
            </a:r>
            <a:r>
              <a:rPr lang="en-US" sz="2800" b="1" dirty="0"/>
              <a:t>Conversion</a:t>
            </a:r>
            <a:r>
              <a:rPr lang="en-US" sz="2800" dirty="0"/>
              <a:t> – "I’m buying it!"</a:t>
            </a:r>
            <a:br>
              <a:rPr lang="en-US" sz="2800" dirty="0"/>
            </a:br>
            <a:r>
              <a:rPr lang="en-US" sz="2800" dirty="0"/>
              <a:t>5️⃣ </a:t>
            </a:r>
            <a:r>
              <a:rPr lang="en-US" sz="2800" b="1" dirty="0"/>
              <a:t>Loyalty &amp; Advocacy</a:t>
            </a:r>
            <a:r>
              <a:rPr lang="en-US" sz="2800" dirty="0"/>
              <a:t> – "I love this brand!"</a:t>
            </a:r>
          </a:p>
          <a:p>
            <a:r>
              <a:rPr lang="en-US" sz="2800" dirty="0"/>
              <a:t>Rohan nodded, </a:t>
            </a:r>
            <a:r>
              <a:rPr lang="en-US" sz="2800" b="1" dirty="0"/>
              <a:t>“So, I can’t just throw ads and expect people to buy? They need to trust me first?”</a:t>
            </a:r>
            <a:endParaRPr lang="en-US" sz="2800" dirty="0"/>
          </a:p>
          <a:p>
            <a:r>
              <a:rPr lang="en-US" sz="2800" dirty="0"/>
              <a:t>Priya smiled, </a:t>
            </a:r>
            <a:r>
              <a:rPr lang="en-US" sz="2800" b="1" dirty="0"/>
              <a:t>“Exactly! Let’s break down each stage with your company.”</a:t>
            </a:r>
            <a:endParaRPr lang="en-US" sz="28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493121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74073"/>
            <a:ext cx="4506982" cy="1600200"/>
          </a:xfrm>
        </p:spPr>
        <p:txBody>
          <a:bodyPr>
            <a:normAutofit/>
          </a:bodyPr>
          <a:lstStyle/>
          <a:p>
            <a:r>
              <a:rPr lang="en-US" dirty="0"/>
              <a:t>1️⃣ Awareness Stage – “Who are you?”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🔹 </a:t>
            </a:r>
            <a:r>
              <a:rPr lang="en-US" sz="2400" b="1" dirty="0"/>
              <a:t>Goal:</a:t>
            </a:r>
            <a:r>
              <a:rPr lang="en-US" sz="2400" dirty="0"/>
              <a:t> Get </a:t>
            </a:r>
            <a:r>
              <a:rPr lang="en-US" sz="2400" dirty="0" err="1"/>
              <a:t>StrideX</a:t>
            </a:r>
            <a:r>
              <a:rPr lang="en-US" sz="2400" dirty="0"/>
              <a:t> in front of potential sneaker buyers.</a:t>
            </a:r>
            <a:br>
              <a:rPr lang="en-US" sz="2400" dirty="0"/>
            </a:br>
            <a:r>
              <a:rPr lang="en-US" sz="2400" dirty="0"/>
              <a:t>🔹 </a:t>
            </a:r>
            <a:r>
              <a:rPr lang="en-US" sz="2400" b="1" dirty="0"/>
              <a:t>Channels to use:</a:t>
            </a:r>
            <a:br>
              <a:rPr lang="en-US" sz="2400" dirty="0"/>
            </a:br>
            <a:r>
              <a:rPr lang="en-US" sz="2400" dirty="0"/>
              <a:t>✅ SEO – Writing blog articles like </a:t>
            </a:r>
            <a:r>
              <a:rPr lang="en-US" sz="2400" i="1" dirty="0"/>
              <a:t>“Top 5 Sneakers for Running in 2025”</a:t>
            </a:r>
            <a:br>
              <a:rPr lang="en-US" sz="2400" dirty="0"/>
            </a:br>
            <a:r>
              <a:rPr lang="en-US" sz="2400" dirty="0"/>
              <a:t>✅ Social Media – Posting engaging reels on Instagram and </a:t>
            </a:r>
            <a:r>
              <a:rPr lang="en-US" sz="2400" dirty="0" err="1"/>
              <a:t>TikTok</a:t>
            </a:r>
            <a:br>
              <a:rPr lang="en-US" sz="2400" dirty="0"/>
            </a:br>
            <a:r>
              <a:rPr lang="en-US" sz="2400" dirty="0"/>
              <a:t>✅ PPC Ads – Running Google &amp; Facebook ads targeting running enthusiasts</a:t>
            </a:r>
            <a:br>
              <a:rPr lang="en-US" sz="2400" dirty="0"/>
            </a:br>
            <a:r>
              <a:rPr lang="en-US" sz="2400" dirty="0"/>
              <a:t>✅ Influencer Marketing – Collaborating with fitness YouTubers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i="1" dirty="0"/>
              <a:t>"Imagine someone scrolling Instagram and seeing a fun reel about </a:t>
            </a:r>
            <a:r>
              <a:rPr lang="en-US" sz="2400" i="1" dirty="0" err="1"/>
              <a:t>StrideX’s</a:t>
            </a:r>
            <a:r>
              <a:rPr lang="en-US" sz="2400" i="1" dirty="0"/>
              <a:t> ultra-lightweight sneakers. That’s awareness!"</a:t>
            </a:r>
            <a:endParaRPr lang="en-US" sz="2400" dirty="0"/>
          </a:p>
          <a:p>
            <a:r>
              <a:rPr lang="en-US" sz="2400" b="1" dirty="0"/>
              <a:t>Priya’s Tip:</a:t>
            </a:r>
            <a:r>
              <a:rPr lang="en-US" sz="2400" dirty="0"/>
              <a:t> </a:t>
            </a:r>
            <a:r>
              <a:rPr lang="en-US" sz="2400" i="1" dirty="0"/>
              <a:t>“At this stage, you don’t sell. You just make people aware of your brand.”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683079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74073"/>
            <a:ext cx="4506982" cy="1600200"/>
          </a:xfrm>
        </p:spPr>
        <p:txBody>
          <a:bodyPr>
            <a:normAutofit/>
          </a:bodyPr>
          <a:lstStyle/>
          <a:p>
            <a:r>
              <a:rPr lang="en-US" dirty="0"/>
              <a:t>2️⃣ Interest Stage – “Hmm, this looks interesting!”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881809"/>
            <a:ext cx="4825379" cy="4638261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🔹 </a:t>
            </a:r>
            <a:r>
              <a:rPr lang="en-US" sz="2400" b="1" dirty="0"/>
              <a:t>Goal:</a:t>
            </a:r>
            <a:r>
              <a:rPr lang="en-US" sz="2400" dirty="0"/>
              <a:t> Engage users and make them curious about </a:t>
            </a:r>
            <a:r>
              <a:rPr lang="en-US" sz="2400" dirty="0" err="1"/>
              <a:t>StrideX</a:t>
            </a:r>
            <a:r>
              <a:rPr lang="en-US" sz="2400" dirty="0"/>
              <a:t>.</a:t>
            </a:r>
          </a:p>
          <a:p>
            <a:r>
              <a:rPr lang="en-US" sz="2400" dirty="0"/>
              <a:t>🔹 </a:t>
            </a:r>
            <a:r>
              <a:rPr lang="en-US" sz="2400" b="1" dirty="0"/>
              <a:t>Channels to use: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✅ Social Media – Posting behind-the-</a:t>
            </a:r>
          </a:p>
          <a:p>
            <a:r>
              <a:rPr lang="en-US" sz="2400" dirty="0"/>
              <a:t>scenes videos on sneaker design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✅ Content Marketing – Writing articles like </a:t>
            </a:r>
            <a:r>
              <a:rPr lang="en-US" sz="2400" i="1" dirty="0"/>
              <a:t>“How </a:t>
            </a:r>
          </a:p>
          <a:p>
            <a:r>
              <a:rPr lang="en-US" sz="2400" i="1" dirty="0"/>
              <a:t>to Choose the Right Sneakers”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✅ Email Marketing – Capturing leads through newsletter sign-ups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i="1" dirty="0"/>
              <a:t>"A visitor reads an article on </a:t>
            </a:r>
            <a:r>
              <a:rPr lang="en-US" sz="2400" i="1" dirty="0" err="1"/>
              <a:t>StrideX’s</a:t>
            </a:r>
            <a:r>
              <a:rPr lang="en-US" sz="2400" i="1" dirty="0"/>
              <a:t> website about the best sneakers for long-distance running. They like the insights and sign up for a free sneaker-buying guide."</a:t>
            </a:r>
            <a:endParaRPr lang="en-US" sz="2400" dirty="0"/>
          </a:p>
          <a:p>
            <a:r>
              <a:rPr lang="en-US" sz="2400" b="1" dirty="0"/>
              <a:t>Priya’s Tip:</a:t>
            </a:r>
            <a:r>
              <a:rPr lang="en-US" sz="2400" dirty="0"/>
              <a:t> </a:t>
            </a:r>
            <a:r>
              <a:rPr lang="en-US" sz="2400" i="1" dirty="0"/>
              <a:t>“Here, you educate and engage. Don’t push for sales yet.”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4102555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609599"/>
            <a:ext cx="4506982" cy="1164673"/>
          </a:xfrm>
        </p:spPr>
        <p:txBody>
          <a:bodyPr>
            <a:normAutofit/>
          </a:bodyPr>
          <a:lstStyle/>
          <a:p>
            <a:r>
              <a:rPr lang="en-US" dirty="0"/>
              <a:t>3️⃣ Consideration Stage – “Should I buy it?”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774273"/>
            <a:ext cx="4825379" cy="4745798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🔹 </a:t>
            </a:r>
            <a:r>
              <a:rPr lang="en-US" sz="2400" b="1" dirty="0"/>
              <a:t>Goal:</a:t>
            </a:r>
            <a:r>
              <a:rPr lang="en-US" sz="2400" dirty="0"/>
              <a:t> Convince potential customers why </a:t>
            </a:r>
            <a:r>
              <a:rPr lang="en-US" sz="2400" dirty="0" err="1"/>
              <a:t>StrideX</a:t>
            </a:r>
            <a:r>
              <a:rPr lang="en-US" sz="2400" dirty="0"/>
              <a:t> is better than competitors.</a:t>
            </a:r>
          </a:p>
          <a:p>
            <a:br>
              <a:rPr lang="en-US" sz="2400" dirty="0"/>
            </a:br>
            <a:r>
              <a:rPr lang="en-US" sz="2400" dirty="0"/>
              <a:t>🔹 </a:t>
            </a:r>
            <a:r>
              <a:rPr lang="en-US" sz="2400" b="1" dirty="0"/>
              <a:t>Channels to use: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✅ Retargeting Ads – Showing ads to people who visited the website but didn’t buy</a:t>
            </a:r>
            <a:br>
              <a:rPr lang="en-US" sz="2400" dirty="0"/>
            </a:br>
            <a:r>
              <a:rPr lang="en-US" sz="2400" dirty="0"/>
              <a:t>✅ Email Marketing – Sending product comparisons &amp; reviews</a:t>
            </a:r>
            <a:br>
              <a:rPr lang="en-US" sz="2400" dirty="0"/>
            </a:br>
            <a:r>
              <a:rPr lang="en-US" sz="2400" dirty="0"/>
              <a:t>✅ Influencer Testimonials – Posting reviews from athletes &amp; YouTubers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i="1" dirty="0"/>
              <a:t>"A potential customer saw </a:t>
            </a:r>
            <a:r>
              <a:rPr lang="en-US" sz="2400" i="1" dirty="0" err="1"/>
              <a:t>StrideX</a:t>
            </a:r>
            <a:r>
              <a:rPr lang="en-US" sz="2400" i="1" dirty="0"/>
              <a:t> on Instagram but didn’t buy. The next day, they see an ad: ‘</a:t>
            </a:r>
            <a:r>
              <a:rPr lang="en-US" sz="2400" i="1" dirty="0" err="1"/>
              <a:t>StrideX</a:t>
            </a:r>
            <a:r>
              <a:rPr lang="en-US" sz="2400" i="1" dirty="0"/>
              <a:t> vs. Nike: Which is better for runners?’ They click to read more."</a:t>
            </a:r>
            <a:endParaRPr lang="en-US" sz="2400" dirty="0"/>
          </a:p>
          <a:p>
            <a:r>
              <a:rPr lang="en-US" sz="2400" b="1" dirty="0"/>
              <a:t>Priya’s Tip:</a:t>
            </a:r>
            <a:r>
              <a:rPr lang="en-US" sz="2400" dirty="0"/>
              <a:t> </a:t>
            </a:r>
            <a:r>
              <a:rPr lang="en-US" sz="2400" i="1" dirty="0"/>
              <a:t>“At this stage, you must highlight your USP (Unique Selling Proposition). Why should they choose you?”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048704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609599"/>
            <a:ext cx="4506982" cy="1164674"/>
          </a:xfrm>
        </p:spPr>
        <p:txBody>
          <a:bodyPr>
            <a:normAutofit/>
          </a:bodyPr>
          <a:lstStyle/>
          <a:p>
            <a:r>
              <a:rPr lang="en-US" sz="3200" b="1" dirty="0"/>
              <a:t>4️⃣ Conversion Stage – “I’m buying it!”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774273"/>
            <a:ext cx="4825379" cy="4745798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🔹 </a:t>
            </a:r>
            <a:r>
              <a:rPr lang="en-US" sz="2400" b="1" dirty="0"/>
              <a:t>Goal:</a:t>
            </a:r>
            <a:r>
              <a:rPr lang="en-US" sz="2400" dirty="0"/>
              <a:t> Get the visitor to purchase.</a:t>
            </a:r>
            <a:br>
              <a:rPr lang="en-US" sz="2400" dirty="0"/>
            </a:br>
            <a:r>
              <a:rPr lang="en-US" sz="2400" dirty="0"/>
              <a:t>🔹 </a:t>
            </a:r>
            <a:r>
              <a:rPr lang="en-US" sz="2400" b="1" dirty="0"/>
              <a:t>Channels to use:</a:t>
            </a:r>
            <a:br>
              <a:rPr lang="en-US" sz="2400" dirty="0"/>
            </a:br>
            <a:r>
              <a:rPr lang="en-US" sz="2400" dirty="0"/>
              <a:t>✅ Discount Offers – Giving a ‘10% Off First Order’ promo code</a:t>
            </a:r>
          </a:p>
          <a:p>
            <a:br>
              <a:rPr lang="en-US" sz="2400" dirty="0"/>
            </a:br>
            <a:r>
              <a:rPr lang="en-US" sz="2400" dirty="0"/>
              <a:t>✅ Free Shipping – Reducing hesitation with free delivery</a:t>
            </a:r>
          </a:p>
          <a:p>
            <a:br>
              <a:rPr lang="en-US" sz="2400" dirty="0"/>
            </a:br>
            <a:r>
              <a:rPr lang="en-US" sz="2400" dirty="0"/>
              <a:t>✅ Scarcity &amp; Urgency – “Only 5 sneakers left in stock!”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i="1" dirty="0"/>
              <a:t>"The visitor gets an email: ‘Limited Time Offer – 15% Off </a:t>
            </a:r>
            <a:r>
              <a:rPr lang="en-US" sz="2400" i="1" dirty="0" err="1"/>
              <a:t>StrideX</a:t>
            </a:r>
            <a:r>
              <a:rPr lang="en-US" sz="2400" i="1" dirty="0"/>
              <a:t> Sneakers! Use Code: RUN15’. They finally make the purchase!"</a:t>
            </a:r>
            <a:endParaRPr lang="en-US" sz="2400" dirty="0"/>
          </a:p>
          <a:p>
            <a:r>
              <a:rPr lang="en-US" sz="2400" b="1" dirty="0"/>
              <a:t>Priya’s Tip:</a:t>
            </a:r>
            <a:r>
              <a:rPr lang="en-US" sz="2400" dirty="0"/>
              <a:t> </a:t>
            </a:r>
            <a:r>
              <a:rPr lang="en-US" sz="2400" i="1" dirty="0"/>
              <a:t>“People need a push to convert. Discounts, social proof, and urgency work wonders.”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826673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609599"/>
            <a:ext cx="4506982" cy="1164674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5️⃣ Loyalty &amp; Advocacy Stage – “I love this brand!”</a:t>
            </a:r>
            <a:br>
              <a:rPr lang="en-US" sz="3200" b="1" dirty="0"/>
            </a:b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774273"/>
            <a:ext cx="4825379" cy="474579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🔹 </a:t>
            </a:r>
            <a:r>
              <a:rPr lang="en-US" sz="2400" b="1" dirty="0"/>
              <a:t>Goal:</a:t>
            </a:r>
            <a:r>
              <a:rPr lang="en-US" sz="2400" dirty="0"/>
              <a:t> Turn customers into repeat buyers and brand ambassadors.</a:t>
            </a:r>
            <a:br>
              <a:rPr lang="en-US" sz="2400" dirty="0"/>
            </a:br>
            <a:r>
              <a:rPr lang="en-US" sz="2400" dirty="0"/>
              <a:t>🔹 </a:t>
            </a:r>
            <a:r>
              <a:rPr lang="en-US" sz="2400" b="1" dirty="0"/>
              <a:t>Channels to use:</a:t>
            </a:r>
            <a:br>
              <a:rPr lang="en-US" sz="2400" dirty="0"/>
            </a:br>
            <a:r>
              <a:rPr lang="en-US" sz="2400" dirty="0"/>
              <a:t>✅ Loyalty Programs – Rewarding returning customers with discounts</a:t>
            </a:r>
            <a:br>
              <a:rPr lang="en-US" sz="2400" dirty="0"/>
            </a:br>
            <a:r>
              <a:rPr lang="en-US" sz="2400" dirty="0"/>
              <a:t>✅ Referral Programs – Giving benefits for referring friends</a:t>
            </a:r>
            <a:br>
              <a:rPr lang="en-US" sz="2400" dirty="0"/>
            </a:br>
            <a:r>
              <a:rPr lang="en-US" sz="2400" dirty="0"/>
              <a:t>✅ User-Generated Content – Encouraging buyers to share their sneaker experience on social media</a:t>
            </a:r>
          </a:p>
          <a:p>
            <a:r>
              <a:rPr lang="en-US" sz="2400" b="1" dirty="0"/>
              <a:t>Example:</a:t>
            </a:r>
            <a:br>
              <a:rPr lang="en-US" sz="2400" dirty="0"/>
            </a:br>
            <a:r>
              <a:rPr lang="en-US" sz="2400" i="1" dirty="0"/>
              <a:t>"</a:t>
            </a:r>
            <a:r>
              <a:rPr lang="en-US" sz="2400" i="1" dirty="0" err="1"/>
              <a:t>StrideX</a:t>
            </a:r>
            <a:r>
              <a:rPr lang="en-US" sz="2400" i="1" dirty="0"/>
              <a:t> sends an email: ‘Refer a friend and get ₹500 off your next pair!’ The customer shares their referral link."</a:t>
            </a:r>
            <a:endParaRPr lang="en-US" sz="2400" dirty="0"/>
          </a:p>
          <a:p>
            <a:r>
              <a:rPr lang="en-US" sz="2400" b="1" dirty="0"/>
              <a:t>Priya’s Tip:</a:t>
            </a:r>
            <a:r>
              <a:rPr lang="en-US" sz="2400" dirty="0"/>
              <a:t> </a:t>
            </a:r>
            <a:r>
              <a:rPr lang="en-US" sz="2400" i="1" dirty="0"/>
              <a:t>“Loyal customers are your best marketers. Keep them engaged!”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76213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609599"/>
            <a:ext cx="4506982" cy="1164674"/>
          </a:xfrm>
        </p:spPr>
        <p:txBody>
          <a:bodyPr>
            <a:normAutofit/>
          </a:bodyPr>
          <a:lstStyle/>
          <a:p>
            <a:r>
              <a:rPr lang="en-US" sz="3200" b="1" dirty="0"/>
              <a:t>Rohan’s game plan.</a:t>
            </a:r>
            <a:br>
              <a:rPr lang="en-US" sz="3200" b="1" dirty="0"/>
            </a:b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7809" y="1774273"/>
            <a:ext cx="4825379" cy="4745798"/>
          </a:xfrm>
        </p:spPr>
        <p:txBody>
          <a:bodyPr>
            <a:normAutofit fontScale="70000" lnSpcReduction="20000"/>
          </a:bodyPr>
          <a:lstStyle/>
          <a:p>
            <a:r>
              <a:rPr lang="en-US" sz="2400" dirty="0"/>
              <a:t>Rohan stared at the funnel sketch, excited.</a:t>
            </a:r>
          </a:p>
          <a:p>
            <a:r>
              <a:rPr lang="en-US" sz="2400" b="1" dirty="0"/>
              <a:t>“So, instead of asking people to buy right away, I should guide them step by step?”</a:t>
            </a:r>
            <a:endParaRPr lang="en-US" sz="2400" dirty="0"/>
          </a:p>
          <a:p>
            <a:r>
              <a:rPr lang="en-US" sz="2400" dirty="0"/>
              <a:t>Priya nodded. </a:t>
            </a:r>
            <a:r>
              <a:rPr lang="en-US" sz="2400" b="1" dirty="0"/>
              <a:t>“Yes! The best brands don’t sell, they build relationships.”</a:t>
            </a:r>
            <a:endParaRPr lang="en-US" sz="2400" dirty="0"/>
          </a:p>
          <a:p>
            <a:r>
              <a:rPr lang="en-US" sz="2400" dirty="0"/>
              <a:t>🚀 </a:t>
            </a:r>
            <a:r>
              <a:rPr lang="en-US" sz="2400" b="1" dirty="0"/>
              <a:t>Action Plan for </a:t>
            </a:r>
            <a:r>
              <a:rPr lang="en-US" sz="2400" b="1" dirty="0" err="1"/>
              <a:t>StrideX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/>
              <a:t>✔ Awareness – Start Instagram &amp; YouTube marketing</a:t>
            </a:r>
            <a:br>
              <a:rPr lang="en-US" sz="2400" dirty="0"/>
            </a:br>
            <a:r>
              <a:rPr lang="en-US" sz="2400" dirty="0"/>
              <a:t>✔ Interest – Write sneaker-related blog posts &amp; collect emails</a:t>
            </a:r>
            <a:br>
              <a:rPr lang="en-US" sz="2400" dirty="0"/>
            </a:br>
            <a:r>
              <a:rPr lang="en-US" sz="2400" dirty="0"/>
              <a:t>✔ Consideration – Show testimonials &amp; product comparisons</a:t>
            </a:r>
            <a:br>
              <a:rPr lang="en-US" sz="2400" dirty="0"/>
            </a:br>
            <a:r>
              <a:rPr lang="en-US" sz="2400" dirty="0"/>
              <a:t>✔ Conversion – Use discounts &amp; retargeting ads</a:t>
            </a:r>
            <a:br>
              <a:rPr lang="en-US" sz="2400" dirty="0"/>
            </a:br>
            <a:r>
              <a:rPr lang="en-US" sz="2400" dirty="0"/>
              <a:t>✔ Loyalty – Launch a referral program</a:t>
            </a:r>
          </a:p>
          <a:p>
            <a:r>
              <a:rPr lang="en-US" sz="2400" dirty="0"/>
              <a:t>Rohan grinned, </a:t>
            </a:r>
            <a:r>
              <a:rPr lang="en-US" sz="2400" b="1" dirty="0"/>
              <a:t>“I love this! Let’s build </a:t>
            </a:r>
            <a:r>
              <a:rPr lang="en-US" sz="2400" b="1" dirty="0" err="1"/>
              <a:t>StrideX’s</a:t>
            </a:r>
            <a:r>
              <a:rPr lang="en-US" sz="2400" b="1" dirty="0"/>
              <a:t> funnel.”</a:t>
            </a:r>
            <a:endParaRPr lang="en-US" sz="2400" dirty="0"/>
          </a:p>
          <a:p>
            <a:r>
              <a:rPr lang="en-US" sz="2400" dirty="0"/>
              <a:t>Priya smiled, </a:t>
            </a:r>
            <a:r>
              <a:rPr lang="en-US" sz="2400" b="1" dirty="0"/>
              <a:t>“Now, before we implement this, let’s analyze a real-world case study to see the funnel in action.”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142262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5" y="112643"/>
            <a:ext cx="4506982" cy="775253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Rohan’s game plan.</a:t>
            </a:r>
            <a:br>
              <a:rPr lang="en-US" sz="3200" b="1" dirty="0"/>
            </a:b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636104"/>
            <a:ext cx="6317973" cy="6109253"/>
          </a:xfrm>
        </p:spPr>
        <p:txBody>
          <a:bodyPr>
            <a:normAutofit fontScale="32500" lnSpcReduction="20000"/>
          </a:bodyPr>
          <a:lstStyle/>
          <a:p>
            <a:r>
              <a:rPr lang="en-US" sz="3700" dirty="0"/>
              <a:t>Priya and Rohan sit at a quiet corner of the café, her laptop open in front of them.</a:t>
            </a:r>
          </a:p>
          <a:p>
            <a:r>
              <a:rPr lang="en-US" sz="3700" b="1" dirty="0"/>
              <a:t>Priya:</a:t>
            </a:r>
            <a:r>
              <a:rPr lang="en-US" sz="3700" dirty="0"/>
              <a:t> </a:t>
            </a:r>
            <a:r>
              <a:rPr lang="en-US" sz="3700" i="1" dirty="0"/>
              <a:t>"Before we apply the funnel to </a:t>
            </a:r>
            <a:r>
              <a:rPr lang="en-US" sz="3700" i="1" dirty="0" err="1"/>
              <a:t>StrideX</a:t>
            </a:r>
            <a:r>
              <a:rPr lang="en-US" sz="3700" i="1" dirty="0"/>
              <a:t>, let’s study a brand that successfully used digital marketing to grow."</a:t>
            </a:r>
            <a:endParaRPr lang="en-US" sz="3700" dirty="0"/>
          </a:p>
          <a:p>
            <a:r>
              <a:rPr lang="en-US" sz="3700" dirty="0"/>
              <a:t>She clicks on a presentation and pulls up a case study of </a:t>
            </a:r>
            <a:r>
              <a:rPr lang="en-US" sz="3700" b="1" dirty="0"/>
              <a:t>Nike’s digital marketing strategy</a:t>
            </a:r>
            <a:r>
              <a:rPr lang="en-US" sz="3700" dirty="0"/>
              <a:t>.</a:t>
            </a:r>
          </a:p>
          <a:p>
            <a:r>
              <a:rPr lang="en-US" sz="3700" b="1" dirty="0"/>
              <a:t>Priya:</a:t>
            </a:r>
            <a:r>
              <a:rPr lang="en-US" sz="3700" dirty="0"/>
              <a:t> </a:t>
            </a:r>
            <a:r>
              <a:rPr lang="en-US" sz="3700" i="1" dirty="0"/>
              <a:t>"Nike follows the digital marketing funnel perfectly. Let’s break it down."</a:t>
            </a:r>
            <a:endParaRPr lang="en-US" sz="3700" dirty="0"/>
          </a:p>
          <a:p>
            <a:r>
              <a:rPr lang="en-US" sz="3700" dirty="0"/>
              <a:t>📌 </a:t>
            </a:r>
            <a:r>
              <a:rPr lang="en-US" sz="3700" b="1" dirty="0"/>
              <a:t>Nike’s Digital Marketing Funnel in Action:</a:t>
            </a:r>
            <a:br>
              <a:rPr lang="en-US" sz="3700" dirty="0"/>
            </a:br>
            <a:r>
              <a:rPr lang="en-US" sz="3700" dirty="0"/>
              <a:t>1️⃣ </a:t>
            </a:r>
            <a:r>
              <a:rPr lang="en-US" sz="3700" b="1" dirty="0"/>
              <a:t>Awareness:</a:t>
            </a:r>
            <a:r>
              <a:rPr lang="en-US" sz="3700" dirty="0"/>
              <a:t> They create buzz with influencer collaborations, viral campaigns, and YouTube ads.</a:t>
            </a:r>
            <a:br>
              <a:rPr lang="en-US" sz="3700" dirty="0"/>
            </a:br>
            <a:r>
              <a:rPr lang="en-US" sz="3700" dirty="0"/>
              <a:t>2️⃣ </a:t>
            </a:r>
            <a:r>
              <a:rPr lang="en-US" sz="3700" b="1" dirty="0"/>
              <a:t>Interest:</a:t>
            </a:r>
            <a:r>
              <a:rPr lang="en-US" sz="3700" dirty="0"/>
              <a:t> They use engaging Instagram stories, behind-the-scenes videos, and interactive content.</a:t>
            </a:r>
            <a:br>
              <a:rPr lang="en-US" sz="3700" dirty="0"/>
            </a:br>
            <a:r>
              <a:rPr lang="en-US" sz="3700" dirty="0"/>
              <a:t>3️⃣ </a:t>
            </a:r>
            <a:r>
              <a:rPr lang="en-US" sz="3700" b="1" dirty="0"/>
              <a:t>Consideration:</a:t>
            </a:r>
            <a:r>
              <a:rPr lang="en-US" sz="3700" dirty="0"/>
              <a:t> They showcase product reviews, comparisons, and user testimonials.</a:t>
            </a:r>
            <a:br>
              <a:rPr lang="en-US" sz="3700" dirty="0"/>
            </a:br>
            <a:r>
              <a:rPr lang="en-US" sz="3700" dirty="0"/>
              <a:t>4️⃣ </a:t>
            </a:r>
            <a:r>
              <a:rPr lang="en-US" sz="3700" b="1" dirty="0"/>
              <a:t>Conversion:</a:t>
            </a:r>
            <a:r>
              <a:rPr lang="en-US" sz="3700" dirty="0"/>
              <a:t> They offer limited-time discounts and personalized shopping experiences.</a:t>
            </a:r>
            <a:br>
              <a:rPr lang="en-US" sz="3700" dirty="0"/>
            </a:br>
            <a:r>
              <a:rPr lang="en-US" sz="3700" dirty="0"/>
              <a:t>5️⃣ </a:t>
            </a:r>
            <a:r>
              <a:rPr lang="en-US" sz="3700" b="1" dirty="0"/>
              <a:t>Loyalty:</a:t>
            </a:r>
            <a:r>
              <a:rPr lang="en-US" sz="3700" dirty="0"/>
              <a:t> They have the Nike Membership program with exclusive perks.</a:t>
            </a:r>
          </a:p>
          <a:p>
            <a:r>
              <a:rPr lang="en-US" sz="3700" b="1" dirty="0"/>
              <a:t>Rohan:</a:t>
            </a:r>
            <a:r>
              <a:rPr lang="en-US" sz="3700" dirty="0"/>
              <a:t> </a:t>
            </a:r>
            <a:r>
              <a:rPr lang="en-US" sz="3700" i="1" dirty="0"/>
              <a:t>(leaning in, impressed)</a:t>
            </a:r>
            <a:r>
              <a:rPr lang="en-US" sz="3700" dirty="0"/>
              <a:t> </a:t>
            </a:r>
            <a:r>
              <a:rPr lang="en-US" sz="3700" i="1" dirty="0"/>
              <a:t>"So they’re not just selling shoes—they’re creating a whole experience!"</a:t>
            </a:r>
            <a:endParaRPr lang="en-US" sz="3700" dirty="0"/>
          </a:p>
          <a:p>
            <a:r>
              <a:rPr lang="en-US" sz="3700" b="1" dirty="0"/>
              <a:t>Priya:</a:t>
            </a:r>
            <a:r>
              <a:rPr lang="en-US" sz="3700" dirty="0"/>
              <a:t> </a:t>
            </a:r>
            <a:r>
              <a:rPr lang="en-US" sz="3700" i="1" dirty="0"/>
              <a:t>"Exactly! Now, let’s map out a similar funnel for </a:t>
            </a:r>
            <a:r>
              <a:rPr lang="en-US" sz="3700" i="1" dirty="0" err="1"/>
              <a:t>StrideX</a:t>
            </a:r>
            <a:r>
              <a:rPr lang="en-US" sz="3700" i="1" dirty="0"/>
              <a:t>. What strategies can we use at each stage?"</a:t>
            </a:r>
            <a:endParaRPr lang="en-US" sz="3700" dirty="0"/>
          </a:p>
          <a:p>
            <a:r>
              <a:rPr lang="en-US" sz="3700" b="1" dirty="0"/>
              <a:t>Rohan:</a:t>
            </a:r>
            <a:r>
              <a:rPr lang="en-US" sz="3700" dirty="0"/>
              <a:t> </a:t>
            </a:r>
            <a:r>
              <a:rPr lang="en-US" sz="3700" i="1" dirty="0"/>
              <a:t>(grabbing a notebook, thinking hard)</a:t>
            </a:r>
            <a:r>
              <a:rPr lang="en-US" sz="3700" dirty="0"/>
              <a:t> </a:t>
            </a:r>
            <a:r>
              <a:rPr lang="en-US" sz="3700" i="1" dirty="0"/>
              <a:t>"For Awareness, we can start with Instagram and YouTube content. For Interest, maybe blog posts about sneaker care, trends, and styling tips. For Consideration, we’ll showcase testimonials and comparisons…"</a:t>
            </a:r>
            <a:endParaRPr lang="en-US" sz="3700" dirty="0"/>
          </a:p>
          <a:p>
            <a:r>
              <a:rPr lang="en-US" sz="3700" b="1" dirty="0"/>
              <a:t>Priya:</a:t>
            </a:r>
            <a:r>
              <a:rPr lang="en-US" sz="3700" dirty="0"/>
              <a:t> </a:t>
            </a:r>
            <a:r>
              <a:rPr lang="en-US" sz="3700" i="1" dirty="0"/>
              <a:t>(nodding, smiling)</a:t>
            </a:r>
            <a:r>
              <a:rPr lang="en-US" sz="3700" dirty="0"/>
              <a:t> </a:t>
            </a:r>
            <a:r>
              <a:rPr lang="en-US" sz="3700" i="1" dirty="0"/>
              <a:t>"Yes! And for Conversion, we’ll use discounts and retargeting ads. Finally, to build Loyalty, we can launch a referral program!"</a:t>
            </a:r>
            <a:endParaRPr lang="en-US" sz="3700" dirty="0"/>
          </a:p>
          <a:p>
            <a:r>
              <a:rPr lang="en-US" sz="3700" dirty="0"/>
              <a:t>🚀 </a:t>
            </a:r>
            <a:r>
              <a:rPr lang="en-US" sz="3700" b="1" dirty="0" err="1"/>
              <a:t>StrideX</a:t>
            </a:r>
            <a:r>
              <a:rPr lang="en-US" sz="3700" b="1" dirty="0"/>
              <a:t> Action Plan (Finalized):</a:t>
            </a:r>
            <a:br>
              <a:rPr lang="en-US" sz="3700" dirty="0"/>
            </a:br>
            <a:r>
              <a:rPr lang="en-US" sz="3700" dirty="0"/>
              <a:t>✔ </a:t>
            </a:r>
            <a:r>
              <a:rPr lang="en-US" sz="3700" b="1" dirty="0"/>
              <a:t>Awareness</a:t>
            </a:r>
            <a:r>
              <a:rPr lang="en-US" sz="3700" dirty="0"/>
              <a:t> – Instagram &amp; YouTube marketing</a:t>
            </a:r>
            <a:br>
              <a:rPr lang="en-US" sz="3700" dirty="0"/>
            </a:br>
            <a:r>
              <a:rPr lang="en-US" sz="3700" dirty="0"/>
              <a:t>✔ </a:t>
            </a:r>
            <a:r>
              <a:rPr lang="en-US" sz="3700" b="1" dirty="0"/>
              <a:t>Interest</a:t>
            </a:r>
            <a:r>
              <a:rPr lang="en-US" sz="3700" dirty="0"/>
              <a:t> – Sneaker-related blog posts &amp; email collection</a:t>
            </a:r>
            <a:br>
              <a:rPr lang="en-US" sz="3700" dirty="0"/>
            </a:br>
            <a:r>
              <a:rPr lang="en-US" sz="3700" dirty="0"/>
              <a:t>✔ </a:t>
            </a:r>
            <a:r>
              <a:rPr lang="en-US" sz="3700" b="1" dirty="0"/>
              <a:t>Consideration</a:t>
            </a:r>
            <a:r>
              <a:rPr lang="en-US" sz="3700" dirty="0"/>
              <a:t> – Testimonials &amp; product comparisons</a:t>
            </a:r>
            <a:br>
              <a:rPr lang="en-US" sz="3700" dirty="0"/>
            </a:br>
            <a:r>
              <a:rPr lang="en-US" sz="3700" dirty="0"/>
              <a:t>✔ </a:t>
            </a:r>
            <a:r>
              <a:rPr lang="en-US" sz="3700" b="1" dirty="0"/>
              <a:t>Conversion</a:t>
            </a:r>
            <a:r>
              <a:rPr lang="en-US" sz="3700" dirty="0"/>
              <a:t> – Discounts &amp; retargeting ads</a:t>
            </a:r>
            <a:br>
              <a:rPr lang="en-US" sz="3700" dirty="0"/>
            </a:br>
            <a:r>
              <a:rPr lang="en-US" sz="3700" dirty="0"/>
              <a:t>✔ </a:t>
            </a:r>
            <a:r>
              <a:rPr lang="en-US" sz="3700" b="1" dirty="0"/>
              <a:t>Loyalty</a:t>
            </a:r>
            <a:r>
              <a:rPr lang="en-US" sz="3700" dirty="0"/>
              <a:t> – Referral program</a:t>
            </a:r>
          </a:p>
          <a:p>
            <a:r>
              <a:rPr lang="en-US" sz="3700" dirty="0"/>
              <a:t>Rohan grins, energized. </a:t>
            </a:r>
            <a:r>
              <a:rPr lang="en-US" sz="3700" i="1" dirty="0"/>
              <a:t>"I love this! Let’s build </a:t>
            </a:r>
            <a:r>
              <a:rPr lang="en-US" sz="3700" i="1" dirty="0" err="1"/>
              <a:t>StrideX’s</a:t>
            </a:r>
            <a:r>
              <a:rPr lang="en-US" sz="3700" i="1" dirty="0"/>
              <a:t> funnel."</a:t>
            </a:r>
            <a:endParaRPr lang="en-US" sz="3700" dirty="0"/>
          </a:p>
          <a:p>
            <a:r>
              <a:rPr lang="en-US" sz="3700" b="1" dirty="0"/>
              <a:t>Priya:</a:t>
            </a:r>
            <a:r>
              <a:rPr lang="en-US" sz="3700" dirty="0"/>
              <a:t> </a:t>
            </a:r>
            <a:r>
              <a:rPr lang="en-US" sz="3700" i="1" dirty="0"/>
              <a:t>(closing her laptop)</a:t>
            </a:r>
            <a:r>
              <a:rPr lang="en-US" sz="3700" dirty="0"/>
              <a:t> </a:t>
            </a:r>
            <a:r>
              <a:rPr lang="en-US" sz="3700" i="1" dirty="0"/>
              <a:t>"Great! But before we jump into execution, you need the right tools and platforms. Let’s explore them next."</a:t>
            </a:r>
            <a:endParaRPr lang="en-US" sz="37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3113549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5" y="328059"/>
            <a:ext cx="4506982" cy="7752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Equipping Rohan with the Right Tools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With a strategy in place, Priya introduces Rohan to key digital marketing tools that will help </a:t>
            </a:r>
            <a:r>
              <a:rPr lang="en-US" sz="2400" dirty="0" err="1"/>
              <a:t>StrideX</a:t>
            </a:r>
            <a:r>
              <a:rPr lang="en-US" sz="2400" dirty="0"/>
              <a:t> grow effectively. Instead of manually handling everything, these tools streamline content creation, advertising, and customer engagement.</a:t>
            </a:r>
          </a:p>
          <a:p>
            <a:endParaRPr lang="en-US" sz="2400" dirty="0"/>
          </a:p>
          <a:p>
            <a:r>
              <a:rPr lang="en-US" sz="2400" b="1" dirty="0"/>
              <a:t>1️⃣ Social Media Management</a:t>
            </a:r>
          </a:p>
          <a:p>
            <a:r>
              <a:rPr lang="en-US" sz="2400" dirty="0"/>
              <a:t>Automates scheduling and posting across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Tools:</a:t>
            </a:r>
            <a:r>
              <a:rPr lang="en-US" sz="2400" dirty="0"/>
              <a:t> Meta Business Suite, Hootsuite, Buffer</a:t>
            </a:r>
          </a:p>
          <a:p>
            <a:r>
              <a:rPr lang="en-US" sz="2400" b="1" dirty="0"/>
              <a:t>2️⃣ SEO &amp; Keyword Research</a:t>
            </a:r>
          </a:p>
          <a:p>
            <a:r>
              <a:rPr lang="en-US" sz="2400" dirty="0"/>
              <a:t>Finds the best search terms to improve website rankings.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Tools:</a:t>
            </a:r>
            <a:r>
              <a:rPr lang="en-US" sz="2400" dirty="0"/>
              <a:t> Google Keyword Planner, </a:t>
            </a:r>
            <a:r>
              <a:rPr lang="en-US" sz="2400" dirty="0" err="1"/>
              <a:t>Ahrefs</a:t>
            </a:r>
            <a:r>
              <a:rPr lang="en-US" sz="2400" dirty="0"/>
              <a:t>, SEMrush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3058584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5" y="328059"/>
            <a:ext cx="4506982" cy="7752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Equipping Rohan with the Right Tools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3️⃣ Content Creation &amp; Design</a:t>
            </a:r>
          </a:p>
          <a:p>
            <a:r>
              <a:rPr lang="en-US" sz="2400" dirty="0"/>
              <a:t>Creates professional-looking visuals and videos.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Tools:</a:t>
            </a:r>
            <a:r>
              <a:rPr lang="en-US" sz="2400" dirty="0"/>
              <a:t> Canva (for graphics), </a:t>
            </a:r>
            <a:r>
              <a:rPr lang="en-US" sz="2400" dirty="0" err="1"/>
              <a:t>CapCut</a:t>
            </a:r>
            <a:r>
              <a:rPr lang="en-US" sz="2400" dirty="0"/>
              <a:t> (for videos), Grammarly (for content editing)</a:t>
            </a:r>
          </a:p>
          <a:p>
            <a:endParaRPr lang="en-US" sz="2000" dirty="0"/>
          </a:p>
          <a:p>
            <a:r>
              <a:rPr lang="en-US" sz="2400" b="1" dirty="0"/>
              <a:t>4️⃣ Email Marketing</a:t>
            </a:r>
          </a:p>
          <a:p>
            <a:r>
              <a:rPr lang="en-US" sz="2400" dirty="0"/>
              <a:t>Automates email campaigns and newsletters.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Tools:</a:t>
            </a:r>
            <a:r>
              <a:rPr lang="en-US" sz="2400" dirty="0"/>
              <a:t> Mailchimp, </a:t>
            </a:r>
            <a:r>
              <a:rPr lang="en-US" sz="2400" dirty="0" err="1"/>
              <a:t>ConvertKit</a:t>
            </a:r>
            <a:r>
              <a:rPr lang="en-US" sz="2400" dirty="0"/>
              <a:t>, HubSpot</a:t>
            </a:r>
          </a:p>
          <a:p>
            <a:endParaRPr lang="en-US" sz="2000" dirty="0"/>
          </a:p>
          <a:p>
            <a:r>
              <a:rPr lang="en-US" sz="2400" b="1" dirty="0"/>
              <a:t>5️⃣ Analytics &amp; Tracking</a:t>
            </a:r>
          </a:p>
          <a:p>
            <a:r>
              <a:rPr lang="en-US" sz="2400" dirty="0"/>
              <a:t>Measures marketing performance to refine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Tools:</a:t>
            </a:r>
            <a:r>
              <a:rPr lang="en-US" sz="2400" dirty="0"/>
              <a:t> Google Analytics (website tracking), Facebook Pixel (ad tracking)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1093744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4" y="328059"/>
            <a:ext cx="6029739" cy="7752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🚀 Practical Implementation: </a:t>
            </a:r>
            <a:r>
              <a:rPr lang="en-US" b="1" dirty="0" err="1"/>
              <a:t>StrideX’s</a:t>
            </a:r>
            <a:r>
              <a:rPr lang="en-US" b="1" dirty="0"/>
              <a:t> First Digital Campaign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With the strategy and tools in place, it's time for action! Priya guides Rohan through launching </a:t>
            </a:r>
            <a:r>
              <a:rPr lang="en-US" sz="2400" dirty="0" err="1"/>
              <a:t>StrideX’s</a:t>
            </a:r>
            <a:r>
              <a:rPr lang="en-US" sz="2400" dirty="0"/>
              <a:t> first digital marketing campaign.</a:t>
            </a:r>
          </a:p>
          <a:p>
            <a:endParaRPr lang="en-US" sz="2400" dirty="0"/>
          </a:p>
          <a:p>
            <a:r>
              <a:rPr lang="en-US" sz="2400" b="1" dirty="0"/>
              <a:t>Step 1️⃣: Creating the First Social Media Post</a:t>
            </a:r>
          </a:p>
          <a:p>
            <a:r>
              <a:rPr lang="en-US" sz="2400" dirty="0"/>
              <a:t>Rohan starts with Instagram, using </a:t>
            </a:r>
            <a:r>
              <a:rPr lang="en-US" sz="2400" b="1" dirty="0"/>
              <a:t>Canva</a:t>
            </a:r>
            <a:r>
              <a:rPr lang="en-US" sz="2400" dirty="0"/>
              <a:t> to design an eye-catching post featuring </a:t>
            </a:r>
            <a:r>
              <a:rPr lang="en-US" sz="2400" dirty="0" err="1"/>
              <a:t>StrideX’s</a:t>
            </a:r>
            <a:r>
              <a:rPr lang="en-US" sz="2400" dirty="0"/>
              <a:t> latest sneakers.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Image:</a:t>
            </a:r>
            <a:r>
              <a:rPr lang="en-US" sz="2400" dirty="0"/>
              <a:t> A dynamic shot of the sneakers in 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Caption:</a:t>
            </a:r>
            <a:r>
              <a:rPr lang="en-US" sz="2400" dirty="0"/>
              <a:t> “🔥 Step Up Your Game with </a:t>
            </a:r>
            <a:r>
              <a:rPr lang="en-US" sz="2400" dirty="0" err="1"/>
              <a:t>StrideX</a:t>
            </a:r>
            <a:r>
              <a:rPr lang="en-US" sz="2400" dirty="0"/>
              <a:t>! 🔥 Comfort &amp; style, all in one. Limited stock—grab yours now! #StrideWithPride”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Hashtags:</a:t>
            </a:r>
            <a:r>
              <a:rPr lang="en-US" sz="2400" dirty="0"/>
              <a:t> #SneakerHeads #StreetStyle #LimitedEdition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Call to Action (CTA):</a:t>
            </a:r>
            <a:r>
              <a:rPr lang="en-US" sz="2400" dirty="0"/>
              <a:t> “📥 DM us for exclusive launch discounts!”</a:t>
            </a:r>
          </a:p>
          <a:p>
            <a:r>
              <a:rPr lang="en-US" sz="2400" dirty="0"/>
              <a:t>📌 </a:t>
            </a:r>
            <a:r>
              <a:rPr lang="en-US" sz="2400" b="1" dirty="0"/>
              <a:t>Why?</a:t>
            </a:r>
            <a:r>
              <a:rPr lang="en-US" sz="2400" dirty="0"/>
              <a:t> Instagram is a high-engagement platform, and using hashtags expands reach.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1120994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5" y="328059"/>
            <a:ext cx="5791200" cy="775253"/>
          </a:xfrm>
        </p:spPr>
        <p:txBody>
          <a:bodyPr>
            <a:normAutofit fontScale="90000"/>
          </a:bodyPr>
          <a:lstStyle/>
          <a:p>
            <a:r>
              <a:rPr lang="en-US" dirty="0"/>
              <a:t>🚀 Practical Implementation: </a:t>
            </a:r>
            <a:r>
              <a:rPr lang="en-US" dirty="0" err="1"/>
              <a:t>StrideX’s</a:t>
            </a:r>
            <a:r>
              <a:rPr lang="en-US" dirty="0"/>
              <a:t> First Digital Campaign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/>
          </a:bodyPr>
          <a:lstStyle/>
          <a:p>
            <a:r>
              <a:rPr lang="en-US" sz="2400" b="1" dirty="0"/>
              <a:t>Step 2️⃣: Running a Paid Ad Campaign</a:t>
            </a:r>
          </a:p>
          <a:p>
            <a:r>
              <a:rPr lang="en-US" sz="2400" dirty="0"/>
              <a:t>Next, Priya helps Rohan set up his first </a:t>
            </a:r>
            <a:r>
              <a:rPr lang="en-US" sz="2400" b="1" dirty="0"/>
              <a:t>Facebook &amp; Instagram ad</a:t>
            </a:r>
            <a:r>
              <a:rPr lang="en-US" sz="2400" dirty="0"/>
              <a:t> using </a:t>
            </a:r>
            <a:r>
              <a:rPr lang="en-US" sz="2400" b="1" dirty="0"/>
              <a:t>Meta Ads Manager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Target Audience:</a:t>
            </a:r>
            <a:br>
              <a:rPr lang="en-US" sz="2400" dirty="0"/>
            </a:br>
            <a:r>
              <a:rPr lang="en-US" sz="2400" dirty="0"/>
              <a:t>✅ Age: 18-35 (sneaker enthusiasts)</a:t>
            </a:r>
            <a:br>
              <a:rPr lang="en-US" sz="2400" dirty="0"/>
            </a:br>
            <a:r>
              <a:rPr lang="en-US" sz="2400" dirty="0"/>
              <a:t>✅ Location: Major cities with high sneaker culture</a:t>
            </a:r>
            <a:br>
              <a:rPr lang="en-US" sz="2400" dirty="0"/>
            </a:br>
            <a:r>
              <a:rPr lang="en-US" sz="2400" dirty="0"/>
              <a:t>✅ Interests: Streetwear, Sneakers, Gym Enthusiasts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Budget:</a:t>
            </a:r>
            <a:r>
              <a:rPr lang="en-US" sz="2400" dirty="0"/>
              <a:t> ₹500 per day for 7 days (test run)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Objective:</a:t>
            </a:r>
            <a:r>
              <a:rPr lang="en-US" sz="2400" dirty="0"/>
              <a:t> Drive traffic to </a:t>
            </a:r>
            <a:r>
              <a:rPr lang="en-US" sz="2400" dirty="0" err="1"/>
              <a:t>StrideX’s</a:t>
            </a:r>
            <a:r>
              <a:rPr lang="en-US" sz="2400" dirty="0"/>
              <a:t> Instagram page</a:t>
            </a:r>
          </a:p>
          <a:p>
            <a:r>
              <a:rPr lang="en-US" sz="2400" dirty="0"/>
              <a:t>📌 </a:t>
            </a:r>
            <a:r>
              <a:rPr lang="en-US" sz="2400" b="1" dirty="0"/>
              <a:t>Why?</a:t>
            </a:r>
            <a:r>
              <a:rPr lang="en-US" sz="2400" dirty="0"/>
              <a:t> Paid ads accelerate brand awareness and help attract potential customers.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3926822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5" y="328059"/>
            <a:ext cx="5791200" cy="775253"/>
          </a:xfrm>
        </p:spPr>
        <p:txBody>
          <a:bodyPr>
            <a:normAutofit fontScale="90000"/>
          </a:bodyPr>
          <a:lstStyle/>
          <a:p>
            <a:r>
              <a:rPr lang="en-US" dirty="0"/>
              <a:t>🚀 Practical Implementation: </a:t>
            </a:r>
            <a:r>
              <a:rPr lang="en-US" dirty="0" err="1"/>
              <a:t>StrideX’s</a:t>
            </a:r>
            <a:r>
              <a:rPr lang="en-US" dirty="0"/>
              <a:t> First Digital Campaign</a:t>
            </a:r>
            <a:endParaRPr lang="en-US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Step 3️⃣: Setting Up an Email Campaign</a:t>
            </a:r>
          </a:p>
          <a:p>
            <a:r>
              <a:rPr lang="en-US" sz="2800" dirty="0"/>
              <a:t>To retain potential customers, Priya introduces </a:t>
            </a:r>
            <a:r>
              <a:rPr lang="en-US" sz="2800" b="1" dirty="0"/>
              <a:t>Mailchimp</a:t>
            </a:r>
            <a:r>
              <a:rPr lang="en-US" sz="2800" dirty="0"/>
              <a:t> to set up an email capture form on </a:t>
            </a:r>
            <a:r>
              <a:rPr lang="en-US" sz="2800" dirty="0" err="1"/>
              <a:t>StrideX’s</a:t>
            </a:r>
            <a:r>
              <a:rPr lang="en-US" sz="2800" dirty="0"/>
              <a:t> website.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Lead Magnet:</a:t>
            </a:r>
            <a:r>
              <a:rPr lang="en-US" sz="2800" dirty="0"/>
              <a:t> A </a:t>
            </a:r>
            <a:r>
              <a:rPr lang="en-US" sz="2800" b="1" dirty="0"/>
              <a:t>10% discount code</a:t>
            </a:r>
            <a:r>
              <a:rPr lang="en-US" sz="2800" dirty="0"/>
              <a:t> for signing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Follow-up Emails:</a:t>
            </a:r>
            <a:br>
              <a:rPr lang="en-US" sz="2800" dirty="0"/>
            </a:br>
            <a:r>
              <a:rPr lang="en-US" sz="2800" dirty="0"/>
              <a:t>1️⃣ Welcome Email: “Thanks for joining </a:t>
            </a:r>
            <a:r>
              <a:rPr lang="en-US" sz="2800" dirty="0" err="1"/>
              <a:t>StrideX</a:t>
            </a:r>
            <a:r>
              <a:rPr lang="en-US" sz="2800" dirty="0"/>
              <a:t>! Here’s your 10% OFF.”</a:t>
            </a:r>
            <a:br>
              <a:rPr lang="en-US" sz="2800" dirty="0"/>
            </a:br>
            <a:r>
              <a:rPr lang="en-US" sz="2800" dirty="0"/>
              <a:t>2️⃣ Product Showcase: Featuring best-selling sneakers</a:t>
            </a:r>
            <a:br>
              <a:rPr lang="en-US" sz="2800" dirty="0"/>
            </a:br>
            <a:r>
              <a:rPr lang="en-US" sz="2800" dirty="0"/>
              <a:t>3️⃣ Limited-Time Offer: Urging quick purchases</a:t>
            </a:r>
          </a:p>
          <a:p>
            <a:r>
              <a:rPr lang="en-US" sz="2800" dirty="0"/>
              <a:t>📌 </a:t>
            </a:r>
            <a:r>
              <a:rPr lang="en-US" sz="2800" b="1" dirty="0"/>
              <a:t>Why?</a:t>
            </a:r>
            <a:r>
              <a:rPr lang="en-US" sz="2800" dirty="0"/>
              <a:t> Email marketing helps build long-term customer relationships.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1644342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4" y="328059"/>
            <a:ext cx="6317973" cy="7752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📊 Analyzing the Campaign Performance &amp; Optimization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fontScale="62500" lnSpcReduction="20000"/>
          </a:bodyPr>
          <a:lstStyle/>
          <a:p>
            <a:r>
              <a:rPr lang="en-US" sz="2400" dirty="0"/>
              <a:t>A week after launching </a:t>
            </a:r>
            <a:r>
              <a:rPr lang="en-US" sz="2400" dirty="0" err="1"/>
              <a:t>StrideX’s</a:t>
            </a:r>
            <a:r>
              <a:rPr lang="en-US" sz="2400" dirty="0"/>
              <a:t> first digital marketing campaign, Rohan and Priya sit down to analyze the results.</a:t>
            </a:r>
          </a:p>
          <a:p>
            <a:r>
              <a:rPr lang="en-US" sz="2800" b="1" dirty="0"/>
              <a:t>🔍 Step 1: Reviewing Social Media Engagement</a:t>
            </a:r>
          </a:p>
          <a:p>
            <a:r>
              <a:rPr lang="en-US" sz="2800" dirty="0"/>
              <a:t>Rohan checks </a:t>
            </a:r>
            <a:r>
              <a:rPr lang="en-US" sz="2800" b="1" dirty="0"/>
              <a:t>Instagram Insights</a:t>
            </a:r>
            <a:r>
              <a:rPr lang="en-US" sz="2800" dirty="0"/>
              <a:t> and </a:t>
            </a:r>
            <a:r>
              <a:rPr lang="en-US" sz="2800" b="1" dirty="0"/>
              <a:t>Facebook Ads Manager</a:t>
            </a:r>
            <a:r>
              <a:rPr lang="en-US" sz="2800" dirty="0"/>
              <a:t> to measure the success of their organic and paid posts.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Instagram Post Metrics:</a:t>
            </a:r>
          </a:p>
          <a:p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Likes:</a:t>
            </a:r>
            <a:r>
              <a:rPr lang="en-US" sz="2800" dirty="0"/>
              <a:t> 1,200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Shares:</a:t>
            </a:r>
            <a:r>
              <a:rPr lang="en-US" sz="2800" dirty="0"/>
              <a:t> 300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Comments:</a:t>
            </a:r>
            <a:r>
              <a:rPr lang="en-US" sz="2800" dirty="0"/>
              <a:t> 150 (Many asking about sizes &amp; price)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Follower Growth:</a:t>
            </a:r>
            <a:r>
              <a:rPr lang="en-US" sz="2800" dirty="0"/>
              <a:t> +500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Paid Ad Performance (₹3,500 spent in 7 days):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Reach:</a:t>
            </a:r>
            <a:r>
              <a:rPr lang="en-US" sz="2800" dirty="0"/>
              <a:t> 25,000 people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Clicks:</a:t>
            </a:r>
            <a:r>
              <a:rPr lang="en-US" sz="2800" dirty="0"/>
              <a:t> 3,000 (cost per click ₹1.16)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Conversions:</a:t>
            </a:r>
            <a:r>
              <a:rPr lang="en-US" sz="2800" dirty="0"/>
              <a:t> 45 purchases (₹2,250 average order value)</a:t>
            </a:r>
          </a:p>
          <a:p>
            <a:r>
              <a:rPr lang="en-US" sz="2800" dirty="0"/>
              <a:t>📌 </a:t>
            </a:r>
            <a:r>
              <a:rPr lang="en-US" sz="2800" b="1" dirty="0"/>
              <a:t>Insights: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engagement is high</a:t>
            </a:r>
            <a:r>
              <a:rPr lang="en-US" sz="2800" dirty="0"/>
              <a:t>, which means people like the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Many people commented with questions—adding a chatbot for auto-replies might help.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ad drove sales</a:t>
            </a:r>
            <a:r>
              <a:rPr lang="en-US" sz="2800" dirty="0"/>
              <a:t>, making a </a:t>
            </a:r>
            <a:r>
              <a:rPr lang="en-US" sz="2800" b="1" dirty="0"/>
              <a:t>3x return on investment</a:t>
            </a:r>
            <a:r>
              <a:rPr lang="en-US" sz="2800" dirty="0"/>
              <a:t>.</a:t>
            </a:r>
          </a:p>
          <a:p>
            <a:endParaRPr lang="en-US" sz="2400" dirty="0"/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2208921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4" y="328059"/>
            <a:ext cx="6317973" cy="7752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📊 Analyzing the Campaign Performance &amp; Optimization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📧 Step 2: Checking Email Marketing Performance</a:t>
            </a:r>
          </a:p>
          <a:p>
            <a:r>
              <a:rPr lang="en-US" sz="2400" dirty="0"/>
              <a:t>Using </a:t>
            </a:r>
            <a:r>
              <a:rPr lang="en-US" sz="2400" b="1" dirty="0"/>
              <a:t>Mailchimp Analytics</a:t>
            </a:r>
            <a:r>
              <a:rPr lang="en-US" sz="2400" dirty="0"/>
              <a:t>, Priya and Rohan evaluate how well their email campaign worked.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Subscribers:</a:t>
            </a:r>
            <a:r>
              <a:rPr lang="en-US" sz="2400" dirty="0"/>
              <a:t> 1,200 new signups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Open Rate:</a:t>
            </a:r>
            <a:r>
              <a:rPr lang="en-US" sz="2400" dirty="0"/>
              <a:t> 42% (Industry average: 20%)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Click-through Rate:</a:t>
            </a:r>
            <a:r>
              <a:rPr lang="en-US" sz="2400" dirty="0"/>
              <a:t> 18% (Industry average: 5%)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Sales from Email:</a:t>
            </a:r>
            <a:r>
              <a:rPr lang="en-US" sz="2400" dirty="0"/>
              <a:t> 30 additional sneaker purchases</a:t>
            </a:r>
          </a:p>
          <a:p>
            <a:r>
              <a:rPr lang="en-US" sz="2400" dirty="0"/>
              <a:t>📌 </a:t>
            </a:r>
            <a:r>
              <a:rPr lang="en-US" sz="2400" b="1" dirty="0"/>
              <a:t>Insights: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welcome email had the highest open rate—offering a discount worked well!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product showcase email had fewer clicks—needs more engaging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Personalizing emails with </a:t>
            </a:r>
            <a:r>
              <a:rPr lang="en-US" sz="2400" b="1" dirty="0"/>
              <a:t>customer names</a:t>
            </a:r>
            <a:r>
              <a:rPr lang="en-US" sz="2400" dirty="0"/>
              <a:t> and recommendations could improve results.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1655994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4" y="328059"/>
            <a:ext cx="6317973" cy="7752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📊 Analyzing the Campaign Performance &amp; Optimization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📈 Step 3: Website Traffic &amp; Conversion Rate</a:t>
            </a:r>
          </a:p>
          <a:p>
            <a:r>
              <a:rPr lang="en-US" sz="2400" dirty="0"/>
              <a:t>Using </a:t>
            </a:r>
            <a:r>
              <a:rPr lang="en-US" sz="2400" b="1" dirty="0"/>
              <a:t>Google Analytics</a:t>
            </a:r>
            <a:r>
              <a:rPr lang="en-US" sz="2400" dirty="0"/>
              <a:t>, they review website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Total Visits:</a:t>
            </a:r>
            <a:r>
              <a:rPr lang="en-US" sz="2400" dirty="0"/>
              <a:t> 8,500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Bounce Rate:</a:t>
            </a:r>
            <a:r>
              <a:rPr lang="en-US" sz="2400" dirty="0"/>
              <a:t> 60% (High—people leave quickly)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Average Session Time:</a:t>
            </a:r>
            <a:r>
              <a:rPr lang="en-US" sz="2400" dirty="0"/>
              <a:t> 1 min 45 sec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Conversion Rate:</a:t>
            </a:r>
            <a:r>
              <a:rPr lang="en-US" sz="2400" dirty="0"/>
              <a:t> 1.5% (Needs improvement)</a:t>
            </a:r>
          </a:p>
          <a:p>
            <a:r>
              <a:rPr lang="en-US" sz="2400" dirty="0"/>
              <a:t>📌 </a:t>
            </a:r>
            <a:r>
              <a:rPr lang="en-US" sz="2400" b="1" dirty="0"/>
              <a:t>Insights: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 </a:t>
            </a:r>
            <a:r>
              <a:rPr lang="en-US" sz="2400" b="1" dirty="0"/>
              <a:t>bounce rate</a:t>
            </a:r>
            <a:r>
              <a:rPr lang="en-US" sz="2400" dirty="0"/>
              <a:t> means visitors leave quickly—maybe the homepage isn’t engaging enough.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Adding a </a:t>
            </a:r>
            <a:r>
              <a:rPr lang="en-US" sz="2400" b="1" dirty="0"/>
              <a:t>product demo video</a:t>
            </a:r>
            <a:r>
              <a:rPr lang="en-US" sz="2400" dirty="0"/>
              <a:t> or a </a:t>
            </a:r>
            <a:r>
              <a:rPr lang="en-US" sz="2400" b="1" dirty="0"/>
              <a:t>limited-time discount pop-up</a:t>
            </a:r>
            <a:r>
              <a:rPr lang="en-US" sz="2400" dirty="0"/>
              <a:t> could help.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Mobile traffic is </a:t>
            </a:r>
            <a:r>
              <a:rPr lang="en-US" sz="2400" b="1" dirty="0"/>
              <a:t>75%</a:t>
            </a:r>
            <a:r>
              <a:rPr lang="en-US" sz="2400" dirty="0"/>
              <a:t>, so optimizing for mobile is crucial.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42636973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4" y="328059"/>
            <a:ext cx="6317973" cy="7752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📊 Analyzing the Campaign Performance &amp; Optimization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🛠 Step 4: Optimization Strategy</a:t>
            </a:r>
          </a:p>
          <a:p>
            <a:r>
              <a:rPr lang="en-US" sz="2400" dirty="0"/>
              <a:t>Priya suggests improvements based on their analysis:</a:t>
            </a:r>
          </a:p>
          <a:p>
            <a:r>
              <a:rPr lang="en-US" sz="2400" dirty="0"/>
              <a:t>🚀 </a:t>
            </a:r>
            <a:r>
              <a:rPr lang="en-US" sz="2400" b="1" dirty="0"/>
              <a:t>For Social Media:</a:t>
            </a:r>
            <a:br>
              <a:rPr lang="en-US" sz="2400" dirty="0"/>
            </a:br>
            <a:r>
              <a:rPr lang="en-US" sz="2400" dirty="0"/>
              <a:t>✔️ Add a </a:t>
            </a:r>
            <a:r>
              <a:rPr lang="en-US" sz="2400" b="1" dirty="0"/>
              <a:t>chatbot</a:t>
            </a:r>
            <a:r>
              <a:rPr lang="en-US" sz="2400" dirty="0"/>
              <a:t> to answer common queries instantly.</a:t>
            </a:r>
            <a:br>
              <a:rPr lang="en-US" sz="2400" dirty="0"/>
            </a:br>
            <a:r>
              <a:rPr lang="en-US" sz="2400" dirty="0"/>
              <a:t>✔️ Experiment with </a:t>
            </a:r>
            <a:r>
              <a:rPr lang="en-US" sz="2400" b="1" dirty="0"/>
              <a:t>Instagram Stories &amp; Reels</a:t>
            </a:r>
            <a:r>
              <a:rPr lang="en-US" sz="2400" dirty="0"/>
              <a:t> for better reach.</a:t>
            </a:r>
            <a:br>
              <a:rPr lang="en-US" sz="2400" dirty="0"/>
            </a:br>
            <a:r>
              <a:rPr lang="en-US" sz="2400" dirty="0"/>
              <a:t>✔️ Use a </a:t>
            </a:r>
            <a:r>
              <a:rPr lang="en-US" sz="2400" b="1" dirty="0"/>
              <a:t>carousel post</a:t>
            </a:r>
            <a:r>
              <a:rPr lang="en-US" sz="2400" dirty="0"/>
              <a:t> to showcase different sneaker angles.</a:t>
            </a:r>
          </a:p>
          <a:p>
            <a:r>
              <a:rPr lang="en-US" sz="2400" dirty="0"/>
              <a:t>🚀 </a:t>
            </a:r>
            <a:r>
              <a:rPr lang="en-US" sz="2400" b="1" dirty="0"/>
              <a:t>For Email Marketing:</a:t>
            </a:r>
            <a:br>
              <a:rPr lang="en-US" sz="2400" dirty="0"/>
            </a:br>
            <a:r>
              <a:rPr lang="en-US" sz="2400" dirty="0"/>
              <a:t>✔️ Add customer names for </a:t>
            </a:r>
            <a:r>
              <a:rPr lang="en-US" sz="2400" b="1" dirty="0"/>
              <a:t>personalized emails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✔️ Create an </a:t>
            </a:r>
            <a:r>
              <a:rPr lang="en-US" sz="2400" b="1" dirty="0"/>
              <a:t>exclusive VIP club</a:t>
            </a:r>
            <a:r>
              <a:rPr lang="en-US" sz="2400" dirty="0"/>
              <a:t> for repeat buyers.</a:t>
            </a:r>
            <a:br>
              <a:rPr lang="en-US" sz="2400" dirty="0"/>
            </a:br>
            <a:r>
              <a:rPr lang="en-US" sz="2400" dirty="0"/>
              <a:t>✔️ Use GIFs or short videos to make emails more engaging.</a:t>
            </a:r>
          </a:p>
          <a:p>
            <a:r>
              <a:rPr lang="en-US" sz="2400" dirty="0"/>
              <a:t>🚀 </a:t>
            </a:r>
            <a:r>
              <a:rPr lang="en-US" sz="2400" b="1" dirty="0"/>
              <a:t>For Website Optimization:</a:t>
            </a:r>
            <a:br>
              <a:rPr lang="en-US" sz="2400" dirty="0"/>
            </a:br>
            <a:r>
              <a:rPr lang="en-US" sz="2400" dirty="0"/>
              <a:t>✔️ Improve the homepage with </a:t>
            </a:r>
            <a:r>
              <a:rPr lang="en-US" sz="2400" b="1" dirty="0"/>
              <a:t>high-quality visuals &amp; product videos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✔️ Add a </a:t>
            </a:r>
            <a:r>
              <a:rPr lang="en-US" sz="2400" b="1" dirty="0"/>
              <a:t>time-limited discount pop-up</a:t>
            </a:r>
            <a:r>
              <a:rPr lang="en-US" sz="2400" dirty="0"/>
              <a:t> to reduce bounce rates.</a:t>
            </a:r>
            <a:br>
              <a:rPr lang="en-US" sz="2400" dirty="0"/>
            </a:br>
            <a:r>
              <a:rPr lang="en-US" sz="2400" dirty="0"/>
              <a:t>✔️ Optimize for </a:t>
            </a:r>
            <a:r>
              <a:rPr lang="en-US" sz="2400" b="1" dirty="0"/>
              <a:t>faster mobile loading speed</a:t>
            </a:r>
            <a:r>
              <a:rPr lang="en-US" sz="2400" dirty="0"/>
              <a:t>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1218435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BB11A4-65E7-443F-BBA2-4B45A8D15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B0416B2-F039-4CFF-BF09-5FBD7802CA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Your own use case</a:t>
            </a:r>
          </a:p>
        </p:txBody>
      </p:sp>
    </p:spTree>
    <p:extLst>
      <p:ext uri="{BB962C8B-B14F-4D97-AF65-F5344CB8AC3E}">
        <p14:creationId xmlns:p14="http://schemas.microsoft.com/office/powerpoint/2010/main" val="92734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4" y="328059"/>
            <a:ext cx="6317973" cy="7752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📌 Assignment Use Case: Digital Marketing Strategy for "</a:t>
            </a:r>
            <a:r>
              <a:rPr lang="en-US" b="1" dirty="0" err="1"/>
              <a:t>FitFuel</a:t>
            </a:r>
            <a:r>
              <a:rPr lang="en-US" b="1" dirty="0"/>
              <a:t>"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/>
          </a:bodyPr>
          <a:lstStyle/>
          <a:p>
            <a:r>
              <a:rPr lang="en-US" sz="2400" dirty="0"/>
              <a:t>👟 </a:t>
            </a:r>
            <a:r>
              <a:rPr lang="en-US" sz="2400" b="1" dirty="0"/>
              <a:t>Background:</a:t>
            </a:r>
            <a:br>
              <a:rPr lang="en-US" sz="2400" dirty="0"/>
            </a:br>
            <a:r>
              <a:rPr lang="en-US" sz="2400" dirty="0"/>
              <a:t>A startup named </a:t>
            </a:r>
            <a:r>
              <a:rPr lang="en-US" sz="2400" b="1" dirty="0" err="1"/>
              <a:t>FitFuel</a:t>
            </a:r>
            <a:r>
              <a:rPr lang="en-US" sz="2400" dirty="0"/>
              <a:t> is launching a </a:t>
            </a:r>
            <a:r>
              <a:rPr lang="en-US" sz="2400" b="1" dirty="0"/>
              <a:t>new protein bar</a:t>
            </a:r>
            <a:r>
              <a:rPr lang="en-US" sz="2400" dirty="0"/>
              <a:t> aimed at fitness enthusiasts, gym-goers, and health-conscious individuals. Their goal is to create </a:t>
            </a:r>
            <a:r>
              <a:rPr lang="en-US" sz="2400" b="1" dirty="0"/>
              <a:t>brand awareness, drive website traffic, and boost sales</a:t>
            </a:r>
            <a:r>
              <a:rPr lang="en-US" sz="2400" dirty="0"/>
              <a:t> using digital marketing strategies.</a:t>
            </a:r>
          </a:p>
          <a:p>
            <a:r>
              <a:rPr lang="en-US" sz="2400" dirty="0"/>
              <a:t>📊 </a:t>
            </a:r>
            <a:r>
              <a:rPr lang="en-US" sz="2400" b="1" dirty="0"/>
              <a:t>Your Task:</a:t>
            </a:r>
            <a:br>
              <a:rPr lang="en-US" sz="2400" dirty="0"/>
            </a:br>
            <a:r>
              <a:rPr lang="en-US" sz="2400" dirty="0"/>
              <a:t>As a </a:t>
            </a:r>
            <a:r>
              <a:rPr lang="en-US" sz="2400" b="1" dirty="0"/>
              <a:t>Digital Marketing Consultant</a:t>
            </a:r>
            <a:r>
              <a:rPr lang="en-US" sz="2400" dirty="0"/>
              <a:t>, </a:t>
            </a:r>
            <a:r>
              <a:rPr lang="en-US" sz="2400" dirty="0" err="1"/>
              <a:t>FitFuel</a:t>
            </a:r>
            <a:r>
              <a:rPr lang="en-US" sz="2400" dirty="0"/>
              <a:t> has hired you to create a </a:t>
            </a:r>
            <a:r>
              <a:rPr lang="en-US" sz="2400" b="1" dirty="0"/>
              <a:t>digital marketing strategy</a:t>
            </a:r>
            <a:r>
              <a:rPr lang="en-US" sz="2400" dirty="0"/>
              <a:t> that follows the </a:t>
            </a:r>
            <a:r>
              <a:rPr lang="en-US" sz="2400" b="1" dirty="0"/>
              <a:t>Digital Marketing Funnel</a:t>
            </a:r>
            <a:r>
              <a:rPr lang="en-US" sz="2400" dirty="0"/>
              <a:t> (Awareness → Interest → Consideration → Conversion → Loyalty).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123198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65344-BD3F-48E1-9262-072BAA14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4" y="328059"/>
            <a:ext cx="6317973" cy="775253"/>
          </a:xfrm>
        </p:spPr>
        <p:txBody>
          <a:bodyPr>
            <a:normAutofit/>
          </a:bodyPr>
          <a:lstStyle/>
          <a:p>
            <a:r>
              <a:rPr lang="en-US" sz="3200" b="1" dirty="0"/>
              <a:t>📍 Assignment Deliverables: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D9829E-9BCC-425F-80C5-4D9BDD84D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035" y="1103312"/>
            <a:ext cx="6317973" cy="5642045"/>
          </a:xfrm>
        </p:spPr>
        <p:txBody>
          <a:bodyPr>
            <a:normAutofit fontScale="47500" lnSpcReduction="20000"/>
          </a:bodyPr>
          <a:lstStyle/>
          <a:p>
            <a:r>
              <a:rPr lang="en-US" sz="3300" b="1" dirty="0"/>
              <a:t>1️⃣ Awareness (Getting the brand noticed)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Which digital channels should </a:t>
            </a:r>
            <a:r>
              <a:rPr lang="en-US" sz="3300" dirty="0" err="1"/>
              <a:t>FitFuel</a:t>
            </a:r>
            <a:r>
              <a:rPr lang="en-US" sz="3300" dirty="0"/>
              <a:t> use for brand awareness?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Suggest 2 content ideas for social media to attract engagement.</a:t>
            </a:r>
          </a:p>
          <a:p>
            <a:r>
              <a:rPr lang="en-US" sz="3300" b="1" dirty="0"/>
              <a:t>2️⃣ Interest (Generating curiosity &amp; collecting leads)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What type of </a:t>
            </a:r>
            <a:r>
              <a:rPr lang="en-US" sz="3300" b="1" dirty="0"/>
              <a:t>lead magnet</a:t>
            </a:r>
            <a:r>
              <a:rPr lang="en-US" sz="3300" dirty="0"/>
              <a:t> (freebie) can </a:t>
            </a:r>
            <a:r>
              <a:rPr lang="en-US" sz="3300" dirty="0" err="1"/>
              <a:t>FitFuel</a:t>
            </a:r>
            <a:r>
              <a:rPr lang="en-US" sz="3300" dirty="0"/>
              <a:t> offer to collect emails?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Design a simple </a:t>
            </a:r>
            <a:r>
              <a:rPr lang="en-US" sz="3300" b="1" dirty="0"/>
              <a:t>email subject line</a:t>
            </a:r>
            <a:r>
              <a:rPr lang="en-US" sz="3300" dirty="0"/>
              <a:t> that would encourage people to open an email from </a:t>
            </a:r>
            <a:r>
              <a:rPr lang="en-US" sz="3300" dirty="0" err="1"/>
              <a:t>FitFuel</a:t>
            </a:r>
            <a:r>
              <a:rPr lang="en-US" sz="3300" dirty="0"/>
              <a:t>.</a:t>
            </a:r>
          </a:p>
          <a:p>
            <a:r>
              <a:rPr lang="en-US" sz="3300" b="1" dirty="0"/>
              <a:t>3️⃣ Consideration (Convincing potential buyers)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Name two ways </a:t>
            </a:r>
            <a:r>
              <a:rPr lang="en-US" sz="3300" dirty="0" err="1"/>
              <a:t>FitFuel</a:t>
            </a:r>
            <a:r>
              <a:rPr lang="en-US" sz="3300" dirty="0"/>
              <a:t> can showcase </a:t>
            </a:r>
            <a:r>
              <a:rPr lang="en-US" sz="3300" b="1" dirty="0"/>
              <a:t>social proof</a:t>
            </a:r>
            <a:r>
              <a:rPr lang="en-US" sz="3300" dirty="0"/>
              <a:t> to build trust.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Suggest one improvement for </a:t>
            </a:r>
            <a:r>
              <a:rPr lang="en-US" sz="3300" dirty="0" err="1"/>
              <a:t>FitFuel’s</a:t>
            </a:r>
            <a:r>
              <a:rPr lang="en-US" sz="3300" dirty="0"/>
              <a:t> product website to keep visitors engaged.</a:t>
            </a:r>
          </a:p>
          <a:p>
            <a:r>
              <a:rPr lang="en-US" sz="3300" b="1" dirty="0"/>
              <a:t>4️⃣ Conversion (Driving sales)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Propose a </a:t>
            </a:r>
            <a:r>
              <a:rPr lang="en-US" sz="3300" b="1" dirty="0"/>
              <a:t>limited-time discount offer</a:t>
            </a:r>
            <a:r>
              <a:rPr lang="en-US" sz="3300" dirty="0"/>
              <a:t> to create urgency.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Recommend a </a:t>
            </a:r>
            <a:r>
              <a:rPr lang="en-US" sz="3300" b="1" dirty="0"/>
              <a:t>retargeting strategy</a:t>
            </a:r>
            <a:r>
              <a:rPr lang="en-US" sz="3300" dirty="0"/>
              <a:t> to bring back visitors who didn’t buy on their first visit.</a:t>
            </a:r>
          </a:p>
          <a:p>
            <a:r>
              <a:rPr lang="en-US" sz="3300" b="1" dirty="0"/>
              <a:t>5️⃣ Loyalty (Turning buyers into repeat customers &amp; brand advocates)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How can </a:t>
            </a:r>
            <a:r>
              <a:rPr lang="en-US" sz="3300" dirty="0" err="1"/>
              <a:t>FitFuel</a:t>
            </a:r>
            <a:r>
              <a:rPr lang="en-US" sz="3300" dirty="0"/>
              <a:t> encourage repeat purchases?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dirty="0"/>
              <a:t>Suggest one referral program idea to incentivize customers to bring in friends.</a:t>
            </a:r>
          </a:p>
          <a:p>
            <a:endParaRPr lang="en-US" sz="20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8141E0-8198-490B-BC3F-3B20590CA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30008" y="987425"/>
            <a:ext cx="4825379" cy="4873625"/>
          </a:xfrm>
        </p:spPr>
      </p:sp>
    </p:spTree>
    <p:extLst>
      <p:ext uri="{BB962C8B-B14F-4D97-AF65-F5344CB8AC3E}">
        <p14:creationId xmlns:p14="http://schemas.microsoft.com/office/powerpoint/2010/main" val="49562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4219</Words>
  <Application>Microsoft Office PowerPoint</Application>
  <PresentationFormat>Widescreen</PresentationFormat>
  <Paragraphs>263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Introduction to digital marketing</vt:lpstr>
      <vt:lpstr>Meet Rohan – The Aspiring Entrepreneur </vt:lpstr>
      <vt:lpstr>What is Digital Marketing? </vt:lpstr>
      <vt:lpstr>Why Digital Marketing? (Priya’s Lessons)</vt:lpstr>
      <vt:lpstr>Traditional Marketing vs. Digital Marketing</vt:lpstr>
      <vt:lpstr>The Evolution of Digital Marketing</vt:lpstr>
      <vt:lpstr>Case Study – Nike’s Digital Marketing Success</vt:lpstr>
      <vt:lpstr>Rohan’s Realization</vt:lpstr>
      <vt:lpstr>Key Digital Marketing Channels – Rohan’s Next Lesson</vt:lpstr>
      <vt:lpstr>1️⃣ Search Engine Optimization (SEO) – Be Found on Google</vt:lpstr>
      <vt:lpstr>2️⃣ Pay-Per-Click (PPC) Advertising – Instant Visibility</vt:lpstr>
      <vt:lpstr>3️⃣ Social Media Marketing – Build a Brand Community</vt:lpstr>
      <vt:lpstr>4️⃣ Content Marketing – Attract Customers with Valuable Content</vt:lpstr>
      <vt:lpstr>5️⃣ Email Marketing – Personal Connection with Customers</vt:lpstr>
      <vt:lpstr>6️⃣ Affiliate &amp; Influencer Marketing – Leverage Others to Promote Your Brand</vt:lpstr>
      <vt:lpstr>Which Channels Should Rohan Focus On?</vt:lpstr>
      <vt:lpstr>Understanding the Digital Marketing Funnel – Rohan’s Strategy Blueprint</vt:lpstr>
      <vt:lpstr>Understanding the Digital Marketing Funnel – Rohan’s Strategy Blueprint</vt:lpstr>
      <vt:lpstr>1️⃣ Awareness Stage – “Who are you?”</vt:lpstr>
      <vt:lpstr>2️⃣ Interest Stage – “Hmm, this looks interesting!”</vt:lpstr>
      <vt:lpstr>3️⃣ Consideration Stage – “Should I buy it?”</vt:lpstr>
      <vt:lpstr>4️⃣ Conversion Stage – “I’m buying it!”</vt:lpstr>
      <vt:lpstr>5️⃣ Loyalty &amp; Advocacy Stage – “I love this brand!” </vt:lpstr>
      <vt:lpstr>Rohan’s game plan. </vt:lpstr>
      <vt:lpstr>Rohan’s game plan. </vt:lpstr>
      <vt:lpstr>Equipping Rohan with the Right Tools</vt:lpstr>
      <vt:lpstr>Equipping Rohan with the Right Tools</vt:lpstr>
      <vt:lpstr>🚀 Practical Implementation: StrideX’s First Digital Campaign</vt:lpstr>
      <vt:lpstr>🚀 Practical Implementation: StrideX’s First Digital Campaign</vt:lpstr>
      <vt:lpstr>🚀 Practical Implementation: StrideX’s First Digital Campaign</vt:lpstr>
      <vt:lpstr>📊 Analyzing the Campaign Performance &amp; Optimization</vt:lpstr>
      <vt:lpstr>📊 Analyzing the Campaign Performance &amp; Optimization</vt:lpstr>
      <vt:lpstr>📊 Analyzing the Campaign Performance &amp; Optimization</vt:lpstr>
      <vt:lpstr>📊 Analyzing the Campaign Performance &amp; Optimization</vt:lpstr>
      <vt:lpstr>Assignment</vt:lpstr>
      <vt:lpstr>📌 Assignment Use Case: Digital Marketing Strategy for "FitFuel"</vt:lpstr>
      <vt:lpstr>📍 Assignment Deliverables: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Diptarko Das Sharma</dc:creator>
  <cp:lastModifiedBy>Diptarko Das Sharma</cp:lastModifiedBy>
  <cp:revision>93</cp:revision>
  <dcterms:created xsi:type="dcterms:W3CDTF">2025-03-10T07:37:17Z</dcterms:created>
  <dcterms:modified xsi:type="dcterms:W3CDTF">2025-03-12T07:22:52Z</dcterms:modified>
</cp:coreProperties>
</file>