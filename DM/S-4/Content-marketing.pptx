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58" r:id="rId4"/>
    <p:sldId id="270" r:id="rId5"/>
    <p:sldId id="259" r:id="rId6"/>
    <p:sldId id="260" r:id="rId7"/>
    <p:sldId id="261" r:id="rId8"/>
    <p:sldId id="262" r:id="rId9"/>
    <p:sldId id="264" r:id="rId10"/>
    <p:sldId id="265" r:id="rId11"/>
    <p:sldId id="266" r:id="rId12"/>
    <p:sldId id="267" r:id="rId13"/>
    <p:sldId id="268" r:id="rId14"/>
  </p:sldIdLst>
  <p:sldSz cx="14630400" cy="8229600"/>
  <p:notesSz cx="8229600" cy="14630400"/>
  <p:embeddedFontLst>
    <p:embeddedFont>
      <p:font typeface="Calibri" panose="020F0502020204030204" pitchFamily="34" charset="0"/>
      <p:regular r:id="rId16"/>
      <p:bold r:id="rId17"/>
      <p:italic r:id="rId18"/>
      <p:boldItalic r:id="rId19"/>
    </p:embeddedFont>
    <p:embeddedFont>
      <p:font typeface="Cambria" panose="02040503050406030204" pitchFamily="18" charset="0"/>
      <p:regular r:id="rId20"/>
      <p:bold r:id="rId21"/>
      <p:italic r:id="rId22"/>
      <p:boldItalic r:id="rId23"/>
    </p:embeddedFont>
    <p:embeddedFont>
      <p:font typeface="Raleway Medium" pitchFamily="2" charset="0"/>
      <p:regular r:id="rId24"/>
      <p: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0" d="100"/>
          <a:sy n="60" d="100"/>
        </p:scale>
        <p:origin x="660"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5891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637218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bluetokaicoffee.com/blogs" TargetMode="External"/><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20842" y="1122947"/>
            <a:ext cx="7491663" cy="5708077"/>
          </a:xfrm>
          <a:prstGeom prst="rect">
            <a:avLst/>
          </a:prstGeom>
        </p:spPr>
      </p:pic>
      <p:sp>
        <p:nvSpPr>
          <p:cNvPr id="3" name="Text 0"/>
          <p:cNvSpPr/>
          <p:nvPr/>
        </p:nvSpPr>
        <p:spPr>
          <a:xfrm>
            <a:off x="8229411" y="2539038"/>
            <a:ext cx="6555105" cy="1892618"/>
          </a:xfrm>
          <a:prstGeom prst="rect">
            <a:avLst/>
          </a:prstGeom>
          <a:noFill/>
          <a:ln/>
        </p:spPr>
        <p:txBody>
          <a:bodyPr wrap="square" lIns="0" tIns="0" rIns="0" bIns="0" rtlCol="0" anchor="t"/>
          <a:lstStyle/>
          <a:p>
            <a:pPr marL="0" indent="0" algn="l">
              <a:lnSpc>
                <a:spcPts val="7450"/>
              </a:lnSpc>
              <a:buNone/>
            </a:pPr>
            <a:r>
              <a:rPr lang="en-US" sz="5950" b="1" dirty="0">
                <a:solidFill>
                  <a:srgbClr val="FFE14D"/>
                </a:solidFill>
                <a:latin typeface="Comfortaa Bold" pitchFamily="34" charset="0"/>
                <a:ea typeface="Comfortaa Bold" pitchFamily="34" charset="-122"/>
                <a:cs typeface="Comfortaa Bold" pitchFamily="34" charset="-120"/>
              </a:rPr>
              <a:t>Content marketing</a:t>
            </a:r>
            <a:endParaRPr lang="en-US" sz="5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73869" y="372784"/>
            <a:ext cx="4627520" cy="375881"/>
          </a:xfrm>
          <a:prstGeom prst="rect">
            <a:avLst/>
          </a:prstGeom>
          <a:noFill/>
          <a:ln/>
        </p:spPr>
        <p:txBody>
          <a:bodyPr wrap="none" lIns="0" tIns="0" rIns="0" bIns="0" rtlCol="0" anchor="t"/>
          <a:lstStyle/>
          <a:p>
            <a:pPr marL="0" indent="0" algn="l">
              <a:lnSpc>
                <a:spcPts val="2950"/>
              </a:lnSpc>
              <a:buNone/>
            </a:pPr>
            <a:r>
              <a:rPr lang="en-US" sz="6000" b="1" dirty="0">
                <a:solidFill>
                  <a:srgbClr val="FFE14D"/>
                </a:solidFill>
                <a:latin typeface="Comfortaa Bold" pitchFamily="34" charset="0"/>
                <a:ea typeface="Comfortaa Bold" pitchFamily="34" charset="-122"/>
                <a:cs typeface="Comfortaa Bold" pitchFamily="34" charset="-120"/>
              </a:rPr>
              <a:t>Agenda</a:t>
            </a:r>
            <a:endParaRPr lang="en-US" sz="3200" dirty="0"/>
          </a:p>
        </p:txBody>
      </p:sp>
      <p:pic>
        <p:nvPicPr>
          <p:cNvPr id="3" name="Image 0" descr="preencoded.png"/>
          <p:cNvPicPr>
            <a:picLocks noChangeAspect="1"/>
          </p:cNvPicPr>
          <p:nvPr/>
        </p:nvPicPr>
        <p:blipFill>
          <a:blip r:embed="rId3"/>
          <a:stretch>
            <a:fillRect/>
          </a:stretch>
        </p:blipFill>
        <p:spPr>
          <a:xfrm>
            <a:off x="1560408" y="1203158"/>
            <a:ext cx="11509584" cy="6653657"/>
          </a:xfrm>
          <a:prstGeom prst="rect">
            <a:avLst/>
          </a:prstGeom>
        </p:spPr>
      </p:pic>
      <p:sp>
        <p:nvSpPr>
          <p:cNvPr id="4" name="Text 1"/>
          <p:cNvSpPr/>
          <p:nvPr/>
        </p:nvSpPr>
        <p:spPr>
          <a:xfrm>
            <a:off x="473869" y="7061240"/>
            <a:ext cx="13682663" cy="216575"/>
          </a:xfrm>
          <a:prstGeom prst="rect">
            <a:avLst/>
          </a:prstGeom>
          <a:noFill/>
          <a:ln/>
        </p:spPr>
        <p:txBody>
          <a:bodyPr wrap="none" lIns="0" tIns="0" rIns="0" bIns="0" rtlCol="0" anchor="t"/>
          <a:lstStyle/>
          <a:p>
            <a:pPr marL="0" indent="0" algn="l">
              <a:lnSpc>
                <a:spcPts val="1700"/>
              </a:lnSpc>
              <a:buNone/>
            </a:pPr>
            <a:endParaRPr lang="en-US" sz="1050" dirty="0"/>
          </a:p>
        </p:txBody>
      </p:sp>
      <p:sp>
        <p:nvSpPr>
          <p:cNvPr id="5" name="Text 2"/>
          <p:cNvSpPr/>
          <p:nvPr/>
        </p:nvSpPr>
        <p:spPr>
          <a:xfrm>
            <a:off x="473869" y="7480816"/>
            <a:ext cx="3008709" cy="375999"/>
          </a:xfrm>
          <a:prstGeom prst="rect">
            <a:avLst/>
          </a:prstGeom>
          <a:noFill/>
          <a:ln/>
        </p:spPr>
        <p:txBody>
          <a:bodyPr wrap="none" lIns="0" tIns="0" rIns="0" bIns="0" rtlCol="0" anchor="t"/>
          <a:lstStyle/>
          <a:p>
            <a:pPr marL="0" indent="0" algn="l">
              <a:lnSpc>
                <a:spcPts val="2950"/>
              </a:lnSpc>
              <a:buNone/>
            </a:pPr>
            <a:endParaRPr lang="en-US" sz="2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300069" y="731185"/>
            <a:ext cx="5649158" cy="492919"/>
          </a:xfrm>
          <a:prstGeom prst="rect">
            <a:avLst/>
          </a:prstGeom>
          <a:noFill/>
          <a:ln/>
        </p:spPr>
        <p:txBody>
          <a:bodyPr wrap="none" lIns="0" tIns="0" rIns="0" bIns="0" rtlCol="0" anchor="t"/>
          <a:lstStyle/>
          <a:p>
            <a:pPr marL="0" indent="0" algn="l">
              <a:lnSpc>
                <a:spcPts val="3850"/>
              </a:lnSpc>
              <a:buNone/>
            </a:pPr>
            <a:r>
              <a:rPr lang="en-US" sz="3100" b="1" dirty="0">
                <a:solidFill>
                  <a:srgbClr val="FFE14D"/>
                </a:solidFill>
                <a:latin typeface="Comfortaa Bold" pitchFamily="34" charset="0"/>
                <a:ea typeface="Comfortaa Bold" pitchFamily="34" charset="-122"/>
                <a:cs typeface="Comfortaa Bold" pitchFamily="34" charset="-120"/>
              </a:rPr>
              <a:t>What is content marketing?</a:t>
            </a:r>
            <a:endParaRPr lang="en-US" sz="3100" dirty="0"/>
          </a:p>
        </p:txBody>
      </p:sp>
      <p:pic>
        <p:nvPicPr>
          <p:cNvPr id="4" name="Image 1" descr="preencoded.png"/>
          <p:cNvPicPr>
            <a:picLocks noChangeAspect="1"/>
          </p:cNvPicPr>
          <p:nvPr/>
        </p:nvPicPr>
        <p:blipFill>
          <a:blip r:embed="rId3"/>
          <a:stretch>
            <a:fillRect/>
          </a:stretch>
        </p:blipFill>
        <p:spPr>
          <a:xfrm>
            <a:off x="620911" y="1636295"/>
            <a:ext cx="6983047" cy="5421730"/>
          </a:xfrm>
          <a:prstGeom prst="rect">
            <a:avLst/>
          </a:prstGeom>
        </p:spPr>
      </p:pic>
      <p:sp>
        <p:nvSpPr>
          <p:cNvPr id="5" name="Text 1"/>
          <p:cNvSpPr/>
          <p:nvPr/>
        </p:nvSpPr>
        <p:spPr>
          <a:xfrm>
            <a:off x="8125934" y="448187"/>
            <a:ext cx="4957405" cy="1788373"/>
          </a:xfrm>
          <a:prstGeom prst="rect">
            <a:avLst/>
          </a:prstGeom>
          <a:noFill/>
          <a:ln/>
        </p:spPr>
        <p:txBody>
          <a:bodyPr wrap="square" lIns="0" tIns="0" rIns="0" bIns="0" rtlCol="0" anchor="t"/>
          <a:lstStyle/>
          <a:p>
            <a:pPr marL="342900" indent="-342900" algn="l">
              <a:buSzPct val="100000"/>
              <a:buChar char="•"/>
            </a:pPr>
            <a:r>
              <a:rPr lang="en-US" sz="3200" b="1" dirty="0">
                <a:solidFill>
                  <a:srgbClr val="FFE14D"/>
                </a:solidFill>
                <a:latin typeface="Raleway Medium" pitchFamily="34" charset="0"/>
                <a:ea typeface="Raleway Medium" pitchFamily="34" charset="-122"/>
                <a:cs typeface="Raleway Medium" pitchFamily="34" charset="-120"/>
              </a:rPr>
              <a:t>What?</a:t>
            </a:r>
            <a:r>
              <a:rPr lang="en-US" sz="3200" dirty="0">
                <a:solidFill>
                  <a:srgbClr val="D7D4CC"/>
                </a:solidFill>
                <a:latin typeface="Raleway Medium" pitchFamily="34" charset="0"/>
                <a:ea typeface="Raleway Medium" pitchFamily="34" charset="-122"/>
                <a:cs typeface="Raleway Medium" pitchFamily="34" charset="-120"/>
              </a:rPr>
              <a:t>: A strategic approach to creating, publishing, and distributing valuable, relevant, and consistent content.</a:t>
            </a:r>
            <a:endParaRPr lang="en-US" sz="3200" dirty="0"/>
          </a:p>
        </p:txBody>
      </p:sp>
      <p:sp>
        <p:nvSpPr>
          <p:cNvPr id="6" name="Text 2"/>
          <p:cNvSpPr/>
          <p:nvPr/>
        </p:nvSpPr>
        <p:spPr>
          <a:xfrm>
            <a:off x="7976305" y="3555000"/>
            <a:ext cx="5779363" cy="1584320"/>
          </a:xfrm>
          <a:prstGeom prst="rect">
            <a:avLst/>
          </a:prstGeom>
          <a:noFill/>
          <a:ln/>
        </p:spPr>
        <p:txBody>
          <a:bodyPr wrap="square" lIns="0" tIns="0" rIns="0" bIns="0" rtlCol="0" anchor="t"/>
          <a:lstStyle/>
          <a:p>
            <a:pPr marL="342900" indent="-342900" algn="l">
              <a:buSzPct val="100000"/>
              <a:buChar char="•"/>
            </a:pPr>
            <a:r>
              <a:rPr lang="en-US" sz="3200" b="1" dirty="0">
                <a:solidFill>
                  <a:srgbClr val="FFE14D"/>
                </a:solidFill>
                <a:latin typeface="Raleway Medium" pitchFamily="34" charset="0"/>
                <a:ea typeface="Raleway Medium" pitchFamily="34" charset="-122"/>
                <a:cs typeface="Raleway Medium" pitchFamily="34" charset="-120"/>
              </a:rPr>
              <a:t>Goal:</a:t>
            </a:r>
            <a:r>
              <a:rPr lang="en-US" sz="3200" dirty="0">
                <a:solidFill>
                  <a:srgbClr val="D7D4CC"/>
                </a:solidFill>
                <a:latin typeface="Raleway Medium" pitchFamily="34" charset="0"/>
                <a:ea typeface="Raleway Medium" pitchFamily="34" charset="-122"/>
                <a:cs typeface="Raleway Medium" pitchFamily="34" charset="-120"/>
              </a:rPr>
              <a:t> Attract and engage a defined audience to drive profitable customer action.</a:t>
            </a:r>
            <a:endParaRPr lang="en-US" sz="3200" dirty="0"/>
          </a:p>
        </p:txBody>
      </p:sp>
      <p:sp>
        <p:nvSpPr>
          <p:cNvPr id="7" name="Text 3"/>
          <p:cNvSpPr/>
          <p:nvPr/>
        </p:nvSpPr>
        <p:spPr>
          <a:xfrm>
            <a:off x="7976304" y="5673254"/>
            <a:ext cx="5779363" cy="1584320"/>
          </a:xfrm>
          <a:prstGeom prst="rect">
            <a:avLst/>
          </a:prstGeom>
          <a:noFill/>
          <a:ln/>
        </p:spPr>
        <p:txBody>
          <a:bodyPr wrap="none" lIns="0" tIns="0" rIns="0" bIns="0" rtlCol="0" anchor="t"/>
          <a:lstStyle/>
          <a:p>
            <a:pPr marL="342900" indent="-342900" algn="l">
              <a:buSzPct val="100000"/>
              <a:buChar char="•"/>
            </a:pPr>
            <a:r>
              <a:rPr lang="en-US" sz="3200" b="1" dirty="0">
                <a:solidFill>
                  <a:srgbClr val="FFE14D"/>
                </a:solidFill>
                <a:latin typeface="Raleway Medium" pitchFamily="34" charset="0"/>
                <a:ea typeface="Raleway Medium" pitchFamily="34" charset="-122"/>
                <a:cs typeface="Raleway Medium" pitchFamily="34" charset="-120"/>
              </a:rPr>
              <a:t>Focus:</a:t>
            </a:r>
            <a:r>
              <a:rPr lang="en-US" sz="3200" dirty="0">
                <a:solidFill>
                  <a:srgbClr val="D7D4CC"/>
                </a:solidFill>
                <a:latin typeface="Raleway Medium" pitchFamily="34" charset="0"/>
                <a:ea typeface="Raleway Medium" pitchFamily="34" charset="-122"/>
                <a:cs typeface="Raleway Medium" pitchFamily="34" charset="-120"/>
              </a:rPr>
              <a:t> Provide value, build trust,</a:t>
            </a:r>
          </a:p>
          <a:p>
            <a:pPr marL="342900" indent="-342900" algn="l">
              <a:buSzPct val="100000"/>
              <a:buChar char="•"/>
            </a:pPr>
            <a:r>
              <a:rPr lang="en-US" sz="3200" dirty="0">
                <a:solidFill>
                  <a:srgbClr val="D7D4CC"/>
                </a:solidFill>
                <a:latin typeface="Raleway Medium" pitchFamily="34" charset="0"/>
                <a:ea typeface="Raleway Medium" pitchFamily="34" charset="-122"/>
                <a:cs typeface="Raleway Medium" pitchFamily="34" charset="-120"/>
              </a:rPr>
              <a:t> and  establish  authority.</a:t>
            </a:r>
            <a:endParaRPr lang="en-US" sz="3200" dirty="0"/>
          </a:p>
        </p:txBody>
      </p:sp>
      <p:sp>
        <p:nvSpPr>
          <p:cNvPr id="8" name="Text 4"/>
          <p:cNvSpPr/>
          <p:nvPr/>
        </p:nvSpPr>
        <p:spPr>
          <a:xfrm>
            <a:off x="620911" y="7457123"/>
            <a:ext cx="13388578" cy="283845"/>
          </a:xfrm>
          <a:prstGeom prst="rect">
            <a:avLst/>
          </a:prstGeom>
          <a:noFill/>
          <a:ln/>
        </p:spPr>
        <p:txBody>
          <a:bodyPr wrap="none" lIns="0" tIns="0" rIns="0" bIns="0" rtlCol="0" anchor="t"/>
          <a:lstStyle/>
          <a:p>
            <a:pPr marL="0" indent="0" algn="l">
              <a:lnSpc>
                <a:spcPts val="2200"/>
              </a:lnSpc>
              <a:buNone/>
            </a:pP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00068" y="384095"/>
            <a:ext cx="9758331" cy="492919"/>
          </a:xfrm>
          <a:prstGeom prst="rect">
            <a:avLst/>
          </a:prstGeom>
          <a:noFill/>
          <a:ln/>
        </p:spPr>
        <p:txBody>
          <a:bodyPr wrap="none" lIns="0" tIns="0" rIns="0" bIns="0" rtlCol="0" anchor="t"/>
          <a:lstStyle/>
          <a:p>
            <a:pPr marL="0" indent="0" algn="l">
              <a:lnSpc>
                <a:spcPts val="3850"/>
              </a:lnSpc>
              <a:buNone/>
            </a:pPr>
            <a:r>
              <a:rPr lang="en-US" sz="3100" b="1" dirty="0">
                <a:solidFill>
                  <a:srgbClr val="FFE14D"/>
                </a:solidFill>
                <a:latin typeface="Comfortaa Bold" pitchFamily="34" charset="0"/>
                <a:ea typeface="Comfortaa Bold" pitchFamily="34" charset="-122"/>
                <a:cs typeface="Comfortaa Bold" pitchFamily="34" charset="-120"/>
              </a:rPr>
              <a:t>Difference between Content and Social media Marketing </a:t>
            </a:r>
            <a:endParaRPr lang="en-US" sz="3100" dirty="0"/>
          </a:p>
        </p:txBody>
      </p:sp>
      <p:sp>
        <p:nvSpPr>
          <p:cNvPr id="8" name="Text 4"/>
          <p:cNvSpPr/>
          <p:nvPr/>
        </p:nvSpPr>
        <p:spPr>
          <a:xfrm>
            <a:off x="620911" y="7457123"/>
            <a:ext cx="13388578" cy="283845"/>
          </a:xfrm>
          <a:prstGeom prst="rect">
            <a:avLst/>
          </a:prstGeom>
          <a:noFill/>
          <a:ln/>
        </p:spPr>
        <p:txBody>
          <a:bodyPr wrap="none" lIns="0" tIns="0" rIns="0" bIns="0" rtlCol="0" anchor="t"/>
          <a:lstStyle/>
          <a:p>
            <a:pPr marL="0" indent="0" algn="l">
              <a:lnSpc>
                <a:spcPts val="2200"/>
              </a:lnSpc>
              <a:buNone/>
            </a:pPr>
            <a:endParaRPr lang="en-US" sz="1350" dirty="0"/>
          </a:p>
        </p:txBody>
      </p:sp>
      <p:pic>
        <p:nvPicPr>
          <p:cNvPr id="11" name="Picture 10">
            <a:extLst>
              <a:ext uri="{FF2B5EF4-FFF2-40B4-BE49-F238E27FC236}">
                <a16:creationId xmlns:a16="http://schemas.microsoft.com/office/drawing/2014/main" id="{0CA689BA-8869-42E0-9CE1-B5AD39E79C29}"/>
              </a:ext>
            </a:extLst>
          </p:cNvPr>
          <p:cNvPicPr>
            <a:picLocks noChangeAspect="1"/>
          </p:cNvPicPr>
          <p:nvPr/>
        </p:nvPicPr>
        <p:blipFill>
          <a:blip r:embed="rId3"/>
          <a:stretch>
            <a:fillRect/>
          </a:stretch>
        </p:blipFill>
        <p:spPr>
          <a:xfrm>
            <a:off x="1732548" y="1700454"/>
            <a:ext cx="10716126" cy="5898591"/>
          </a:xfrm>
          <a:prstGeom prst="rect">
            <a:avLst/>
          </a:prstGeom>
        </p:spPr>
      </p:pic>
    </p:spTree>
    <p:extLst>
      <p:ext uri="{BB962C8B-B14F-4D97-AF65-F5344CB8AC3E}">
        <p14:creationId xmlns:p14="http://schemas.microsoft.com/office/powerpoint/2010/main" val="3758893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31958" y="339446"/>
            <a:ext cx="5423409" cy="395049"/>
          </a:xfrm>
          <a:prstGeom prst="rect">
            <a:avLst/>
          </a:prstGeom>
          <a:noFill/>
          <a:ln/>
        </p:spPr>
        <p:txBody>
          <a:bodyPr wrap="none" lIns="0" tIns="0" rIns="0" bIns="0" rtlCol="0" anchor="t"/>
          <a:lstStyle/>
          <a:p>
            <a:pPr marL="0" indent="0" algn="l">
              <a:lnSpc>
                <a:spcPts val="2700"/>
              </a:lnSpc>
              <a:buNone/>
            </a:pPr>
            <a:r>
              <a:rPr lang="en-US" sz="4800" b="1" dirty="0">
                <a:solidFill>
                  <a:srgbClr val="FFE14D"/>
                </a:solidFill>
                <a:latin typeface="Comfortaa Bold" pitchFamily="34" charset="0"/>
                <a:ea typeface="Comfortaa Bold" pitchFamily="34" charset="-122"/>
                <a:cs typeface="Comfortaa Bold" pitchFamily="34" charset="-120"/>
              </a:rPr>
              <a:t>Use Case</a:t>
            </a:r>
            <a:endParaRPr lang="en-US" sz="4800" dirty="0"/>
          </a:p>
        </p:txBody>
      </p:sp>
      <p:sp>
        <p:nvSpPr>
          <p:cNvPr id="3" name="Text 1"/>
          <p:cNvSpPr/>
          <p:nvPr/>
        </p:nvSpPr>
        <p:spPr>
          <a:xfrm>
            <a:off x="431960" y="734495"/>
            <a:ext cx="13500172" cy="1689668"/>
          </a:xfrm>
          <a:prstGeom prst="rect">
            <a:avLst/>
          </a:prstGeom>
          <a:noFill/>
          <a:ln/>
        </p:spPr>
        <p:txBody>
          <a:bodyPr wrap="none" lIns="0" tIns="0" rIns="0" bIns="0" rtlCol="0" anchor="t"/>
          <a:lstStyle/>
          <a:p>
            <a:pPr marL="0" indent="0" algn="l">
              <a:buNone/>
            </a:pPr>
            <a:r>
              <a:rPr lang="en-US" sz="2400" dirty="0">
                <a:solidFill>
                  <a:srgbClr val="D7D4CC"/>
                </a:solidFill>
                <a:latin typeface="Raleway Medium" pitchFamily="34" charset="0"/>
                <a:ea typeface="Raleway Medium" pitchFamily="34" charset="-122"/>
                <a:cs typeface="Raleway Medium" pitchFamily="34" charset="-120"/>
              </a:rPr>
              <a:t>Content marketing isn’t about direct selling; it’s about creating content that your audience </a:t>
            </a:r>
          </a:p>
          <a:p>
            <a:pPr marL="0" indent="0" algn="l">
              <a:buNone/>
            </a:pPr>
            <a:r>
              <a:rPr lang="en-US" sz="2500" dirty="0">
                <a:solidFill>
                  <a:srgbClr val="D7D4CC"/>
                </a:solidFill>
                <a:latin typeface="Raleway Medium" pitchFamily="34" charset="0"/>
                <a:ea typeface="Raleway Medium" pitchFamily="34" charset="-122"/>
                <a:cs typeface="Raleway Medium" pitchFamily="34" charset="-120"/>
              </a:rPr>
              <a:t>finds genuinely useful or entertaining, which in turn builds a relationship with your brand.</a:t>
            </a:r>
            <a:endParaRPr lang="en-US" sz="2500" dirty="0"/>
          </a:p>
        </p:txBody>
      </p:sp>
      <p:sp>
        <p:nvSpPr>
          <p:cNvPr id="4" name="Text 2"/>
          <p:cNvSpPr/>
          <p:nvPr/>
        </p:nvSpPr>
        <p:spPr>
          <a:xfrm>
            <a:off x="431960" y="1617532"/>
            <a:ext cx="13766483" cy="197525"/>
          </a:xfrm>
          <a:prstGeom prst="rect">
            <a:avLst/>
          </a:prstGeom>
          <a:noFill/>
          <a:ln/>
        </p:spPr>
        <p:txBody>
          <a:bodyPr wrap="none" lIns="0" tIns="0" rIns="0" bIns="0" rtlCol="0" anchor="t"/>
          <a:lstStyle/>
          <a:p>
            <a:pPr marL="342900" indent="-342900" algn="l">
              <a:lnSpc>
                <a:spcPts val="1550"/>
              </a:lnSpc>
              <a:buSzPct val="100000"/>
              <a:buChar char="•"/>
            </a:pPr>
            <a:r>
              <a:rPr lang="en-US" sz="2500" dirty="0">
                <a:solidFill>
                  <a:srgbClr val="D7D4CC"/>
                </a:solidFill>
                <a:latin typeface="Raleway Medium" pitchFamily="34" charset="0"/>
                <a:ea typeface="Raleway Medium" pitchFamily="34" charset="-122"/>
                <a:cs typeface="Raleway Medium" pitchFamily="34" charset="-120"/>
              </a:rPr>
              <a:t>A fitness brand sharing workout tips to attract health enthusiasts.</a:t>
            </a:r>
            <a:endParaRPr lang="en-US" sz="2500" dirty="0"/>
          </a:p>
        </p:txBody>
      </p:sp>
      <p:sp>
        <p:nvSpPr>
          <p:cNvPr id="5" name="Text 3"/>
          <p:cNvSpPr/>
          <p:nvPr/>
        </p:nvSpPr>
        <p:spPr>
          <a:xfrm>
            <a:off x="431960" y="2074949"/>
            <a:ext cx="13766483" cy="197525"/>
          </a:xfrm>
          <a:prstGeom prst="rect">
            <a:avLst/>
          </a:prstGeom>
          <a:noFill/>
          <a:ln/>
        </p:spPr>
        <p:txBody>
          <a:bodyPr wrap="none" lIns="0" tIns="0" rIns="0" bIns="0" rtlCol="0" anchor="t"/>
          <a:lstStyle/>
          <a:p>
            <a:pPr marL="342900" indent="-342900" algn="l">
              <a:lnSpc>
                <a:spcPts val="1550"/>
              </a:lnSpc>
              <a:buSzPct val="100000"/>
              <a:buChar char="•"/>
            </a:pPr>
            <a:r>
              <a:rPr lang="en-US" sz="2500" dirty="0">
                <a:solidFill>
                  <a:srgbClr val="D7D4CC"/>
                </a:solidFill>
                <a:latin typeface="Raleway Medium" pitchFamily="34" charset="0"/>
                <a:ea typeface="Raleway Medium" pitchFamily="34" charset="-122"/>
                <a:cs typeface="Raleway Medium" pitchFamily="34" charset="-120"/>
              </a:rPr>
              <a:t>A software company publishing a guide on </a:t>
            </a:r>
            <a:r>
              <a:rPr lang="en-US" sz="2500" dirty="0">
                <a:solidFill>
                  <a:srgbClr val="FFA44F"/>
                </a:solidFill>
                <a:latin typeface="Raleway Medium" pitchFamily="34" charset="0"/>
                <a:ea typeface="Raleway Medium" pitchFamily="34" charset="-122"/>
                <a:cs typeface="Raleway Medium" pitchFamily="34" charset="-120"/>
              </a:rPr>
              <a:t>“How to Improve Productivity”</a:t>
            </a:r>
            <a:r>
              <a:rPr lang="en-US" sz="2500" dirty="0">
                <a:solidFill>
                  <a:srgbClr val="D7D4CC"/>
                </a:solidFill>
                <a:latin typeface="Raleway Medium" pitchFamily="34" charset="0"/>
                <a:ea typeface="Raleway Medium" pitchFamily="34" charset="-122"/>
                <a:cs typeface="Raleway Medium" pitchFamily="34" charset="-120"/>
              </a:rPr>
              <a:t> to build trust.</a:t>
            </a:r>
            <a:endParaRPr lang="en-US" sz="2500" dirty="0"/>
          </a:p>
        </p:txBody>
      </p:sp>
      <p:sp>
        <p:nvSpPr>
          <p:cNvPr id="6" name="Text 4"/>
          <p:cNvSpPr/>
          <p:nvPr/>
        </p:nvSpPr>
        <p:spPr>
          <a:xfrm>
            <a:off x="431960" y="2552795"/>
            <a:ext cx="13766483" cy="197525"/>
          </a:xfrm>
          <a:prstGeom prst="rect">
            <a:avLst/>
          </a:prstGeom>
          <a:noFill/>
          <a:ln/>
        </p:spPr>
        <p:txBody>
          <a:bodyPr wrap="none" lIns="0" tIns="0" rIns="0" bIns="0" rtlCol="0" anchor="t"/>
          <a:lstStyle/>
          <a:p>
            <a:pPr marL="342900" indent="-342900" algn="l">
              <a:lnSpc>
                <a:spcPts val="1550"/>
              </a:lnSpc>
              <a:buSzPct val="100000"/>
              <a:buChar char="•"/>
            </a:pPr>
            <a:r>
              <a:rPr lang="en-US" sz="2500" dirty="0">
                <a:solidFill>
                  <a:srgbClr val="D7D4CC"/>
                </a:solidFill>
                <a:latin typeface="Raleway Medium" pitchFamily="34" charset="0"/>
                <a:ea typeface="Raleway Medium" pitchFamily="34" charset="-122"/>
                <a:cs typeface="Raleway Medium" pitchFamily="34" charset="-120"/>
              </a:rPr>
              <a:t>A local bakery posting recipes to establish authority in baking.</a:t>
            </a:r>
            <a:endParaRPr lang="en-US" sz="2500" dirty="0"/>
          </a:p>
        </p:txBody>
      </p:sp>
      <p:sp>
        <p:nvSpPr>
          <p:cNvPr id="7" name="Text 5"/>
          <p:cNvSpPr/>
          <p:nvPr/>
        </p:nvSpPr>
        <p:spPr>
          <a:xfrm>
            <a:off x="431960" y="3073530"/>
            <a:ext cx="13766483" cy="197525"/>
          </a:xfrm>
          <a:prstGeom prst="rect">
            <a:avLst/>
          </a:prstGeom>
          <a:noFill/>
          <a:ln/>
        </p:spPr>
        <p:txBody>
          <a:bodyPr wrap="none" lIns="0" tIns="0" rIns="0" bIns="0" rtlCol="0" anchor="t"/>
          <a:lstStyle/>
          <a:p>
            <a:pPr marL="0" indent="0" algn="l">
              <a:lnSpc>
                <a:spcPts val="1550"/>
              </a:lnSpc>
              <a:buNone/>
            </a:pPr>
            <a:r>
              <a:rPr lang="en-US" sz="3200" b="1" dirty="0">
                <a:solidFill>
                  <a:srgbClr val="FFE14D"/>
                </a:solidFill>
                <a:latin typeface="Raleway Medium" pitchFamily="34" charset="0"/>
                <a:ea typeface="Raleway Medium" pitchFamily="34" charset="-122"/>
                <a:cs typeface="Raleway Medium" pitchFamily="34" charset="-120"/>
              </a:rPr>
              <a:t>Examples</a:t>
            </a:r>
            <a:endParaRPr lang="en-US" sz="3200" dirty="0"/>
          </a:p>
        </p:txBody>
      </p:sp>
      <p:sp>
        <p:nvSpPr>
          <p:cNvPr id="8" name="Text 6"/>
          <p:cNvSpPr/>
          <p:nvPr/>
        </p:nvSpPr>
        <p:spPr>
          <a:xfrm>
            <a:off x="672590" y="3455334"/>
            <a:ext cx="13766483" cy="741584"/>
          </a:xfrm>
          <a:prstGeom prst="rect">
            <a:avLst/>
          </a:prstGeom>
          <a:noFill/>
          <a:ln/>
        </p:spPr>
        <p:txBody>
          <a:bodyPr wrap="square" lIns="0" tIns="0" rIns="0" bIns="0" rtlCol="0" anchor="t"/>
          <a:lstStyle/>
          <a:p>
            <a:pPr marL="0" indent="0" algn="l">
              <a:buNone/>
            </a:pPr>
            <a:r>
              <a:rPr lang="en-US" sz="2000" b="1" dirty="0">
                <a:solidFill>
                  <a:srgbClr val="FFA44F"/>
                </a:solidFill>
                <a:latin typeface="Raleway Medium" pitchFamily="34" charset="0"/>
                <a:ea typeface="Raleway Medium" pitchFamily="34" charset="-122"/>
                <a:cs typeface="Raleway Medium" pitchFamily="34" charset="-120"/>
              </a:rPr>
              <a:t>Fitness Brand (Provide Value)</a:t>
            </a:r>
            <a:r>
              <a:rPr lang="en-US" sz="2000" b="1" dirty="0">
                <a:solidFill>
                  <a:srgbClr val="D7D4CC"/>
                </a:solidFill>
                <a:latin typeface="Raleway Medium" pitchFamily="34" charset="0"/>
                <a:ea typeface="Raleway Medium" pitchFamily="34" charset="-122"/>
                <a:cs typeface="Raleway Medium" pitchFamily="34" charset="-120"/>
              </a:rPr>
              <a:t>:</a:t>
            </a:r>
            <a:r>
              <a:rPr lang="en-US" sz="2000" dirty="0">
                <a:solidFill>
                  <a:srgbClr val="D7D4CC"/>
                </a:solidFill>
                <a:latin typeface="Raleway Medium" pitchFamily="34" charset="0"/>
                <a:ea typeface="Raleway Medium" pitchFamily="34" charset="-122"/>
                <a:cs typeface="Raleway Medium" pitchFamily="34" charset="-120"/>
              </a:rPr>
              <a:t> A company like </a:t>
            </a:r>
            <a:r>
              <a:rPr lang="en-US" sz="2000" dirty="0">
                <a:solidFill>
                  <a:srgbClr val="F44444"/>
                </a:solidFill>
                <a:latin typeface="Raleway Medium" pitchFamily="34" charset="0"/>
                <a:ea typeface="Raleway Medium" pitchFamily="34" charset="-122"/>
                <a:cs typeface="Raleway Medium" pitchFamily="34" charset="-120"/>
              </a:rPr>
              <a:t>Decathlon</a:t>
            </a:r>
            <a:r>
              <a:rPr lang="en-US" sz="2000" dirty="0">
                <a:solidFill>
                  <a:srgbClr val="D7D4CC"/>
                </a:solidFill>
                <a:latin typeface="Raleway Medium" pitchFamily="34" charset="0"/>
                <a:ea typeface="Raleway Medium" pitchFamily="34" charset="-122"/>
                <a:cs typeface="Raleway Medium" pitchFamily="34" charset="-120"/>
              </a:rPr>
              <a:t> might create a blog series on “10-Minute Workouts for Busy Professionals.” This provides value to their audience (health-conscious people with limited time), attracting them to the brand without directly selling their equipment. Over time, these readers may trust Decathlon enough to purchase a bike or subscription.</a:t>
            </a:r>
            <a:endParaRPr lang="en-US" sz="2000" dirty="0"/>
          </a:p>
        </p:txBody>
      </p:sp>
      <p:sp>
        <p:nvSpPr>
          <p:cNvPr id="10" name="Text 8"/>
          <p:cNvSpPr/>
          <p:nvPr/>
        </p:nvSpPr>
        <p:spPr>
          <a:xfrm>
            <a:off x="672590" y="5107731"/>
            <a:ext cx="13766483" cy="3377747"/>
          </a:xfrm>
          <a:prstGeom prst="rect">
            <a:avLst/>
          </a:prstGeom>
          <a:noFill/>
          <a:ln/>
        </p:spPr>
        <p:txBody>
          <a:bodyPr wrap="square" lIns="0" tIns="0" rIns="0" bIns="0" rtlCol="0" anchor="t"/>
          <a:lstStyle/>
          <a:p>
            <a:pPr marL="0" indent="0" algn="l">
              <a:buNone/>
            </a:pPr>
            <a:r>
              <a:rPr lang="en-US" sz="2000" b="1" dirty="0">
                <a:solidFill>
                  <a:srgbClr val="FFA44F"/>
                </a:solidFill>
                <a:latin typeface="Raleway Medium" pitchFamily="34" charset="0"/>
                <a:ea typeface="Raleway Medium" pitchFamily="34" charset="-122"/>
                <a:cs typeface="Raleway Medium" pitchFamily="34" charset="-120"/>
              </a:rPr>
              <a:t>Software Company (Build Trust)</a:t>
            </a:r>
            <a:r>
              <a:rPr lang="en-US" sz="2000" dirty="0">
                <a:solidFill>
                  <a:srgbClr val="D7D4CC"/>
                </a:solidFill>
                <a:latin typeface="Raleway Medium" pitchFamily="34" charset="0"/>
                <a:ea typeface="Raleway Medium" pitchFamily="34" charset="-122"/>
                <a:cs typeface="Raleway Medium" pitchFamily="34" charset="-120"/>
              </a:rPr>
              <a:t>: A company like </a:t>
            </a:r>
            <a:r>
              <a:rPr lang="en-US" sz="2000" dirty="0">
                <a:solidFill>
                  <a:srgbClr val="F44444"/>
                </a:solidFill>
                <a:latin typeface="Raleway Medium" pitchFamily="34" charset="0"/>
                <a:ea typeface="Raleway Medium" pitchFamily="34" charset="-122"/>
                <a:cs typeface="Raleway Medium" pitchFamily="34" charset="-120"/>
              </a:rPr>
              <a:t>Asana</a:t>
            </a:r>
            <a:r>
              <a:rPr lang="en-US" sz="2000" dirty="0">
                <a:solidFill>
                  <a:srgbClr val="D7D4CC"/>
                </a:solidFill>
                <a:latin typeface="Raleway Medium" pitchFamily="34" charset="0"/>
                <a:ea typeface="Raleway Medium" pitchFamily="34" charset="-122"/>
                <a:cs typeface="Raleway Medium" pitchFamily="34" charset="-120"/>
              </a:rPr>
              <a:t>, which offers project management tools, might publish an e-book titled “How to Improve Productivity in Remote Teams.” This content helps their target audience (businesses and team leaders) solve a real problem, building trust in Asana as a knowledgeable leader in the space. Readers are more likely to try Asana’s software because they’ve already benefited from their content.</a:t>
            </a:r>
            <a:endParaRPr lang="en-US" sz="2000" dirty="0"/>
          </a:p>
        </p:txBody>
      </p:sp>
      <p:sp>
        <p:nvSpPr>
          <p:cNvPr id="12" name="Text 10"/>
          <p:cNvSpPr/>
          <p:nvPr/>
        </p:nvSpPr>
        <p:spPr>
          <a:xfrm>
            <a:off x="672590" y="6687353"/>
            <a:ext cx="13766483" cy="1964890"/>
          </a:xfrm>
          <a:prstGeom prst="rect">
            <a:avLst/>
          </a:prstGeom>
          <a:noFill/>
          <a:ln/>
        </p:spPr>
        <p:txBody>
          <a:bodyPr wrap="square" lIns="0" tIns="0" rIns="0" bIns="0" rtlCol="0" anchor="t"/>
          <a:lstStyle/>
          <a:p>
            <a:pPr marL="0" indent="0" algn="l">
              <a:buNone/>
            </a:pPr>
            <a:r>
              <a:rPr lang="en-US" sz="2000" b="1" dirty="0">
                <a:solidFill>
                  <a:srgbClr val="FFA44F"/>
                </a:solidFill>
                <a:latin typeface="Raleway Medium" pitchFamily="34" charset="0"/>
                <a:ea typeface="Raleway Medium" pitchFamily="34" charset="-122"/>
                <a:cs typeface="Raleway Medium" pitchFamily="34" charset="-120"/>
              </a:rPr>
              <a:t>Local Bakery (Establish Authority)</a:t>
            </a:r>
            <a:r>
              <a:rPr lang="en-US" sz="2000" b="1" dirty="0">
                <a:solidFill>
                  <a:srgbClr val="D7D4CC"/>
                </a:solidFill>
                <a:latin typeface="Raleway Medium" pitchFamily="34" charset="0"/>
                <a:ea typeface="Raleway Medium" pitchFamily="34" charset="-122"/>
                <a:cs typeface="Raleway Medium" pitchFamily="34" charset="-120"/>
              </a:rPr>
              <a:t>:</a:t>
            </a:r>
            <a:r>
              <a:rPr lang="en-US" sz="2000" dirty="0">
                <a:solidFill>
                  <a:srgbClr val="D7D4CC"/>
                </a:solidFill>
                <a:latin typeface="Raleway Medium" pitchFamily="34" charset="0"/>
                <a:ea typeface="Raleway Medium" pitchFamily="34" charset="-122"/>
                <a:cs typeface="Raleway Medium" pitchFamily="34" charset="-120"/>
              </a:rPr>
              <a:t> A small bakery in a community might post weekly recipes on Instagram, like </a:t>
            </a:r>
            <a:r>
              <a:rPr lang="en-US" sz="2000" dirty="0">
                <a:solidFill>
                  <a:srgbClr val="F44444"/>
                </a:solidFill>
                <a:latin typeface="Raleway Medium" pitchFamily="34" charset="0"/>
                <a:ea typeface="Raleway Medium" pitchFamily="34" charset="-122"/>
                <a:cs typeface="Raleway Medium" pitchFamily="34" charset="-120"/>
              </a:rPr>
              <a:t>“How to Make the Perfect Sourdough at Home.”</a:t>
            </a:r>
            <a:r>
              <a:rPr lang="en-US" sz="2000" dirty="0">
                <a:solidFill>
                  <a:srgbClr val="D7D4CC"/>
                </a:solidFill>
                <a:latin typeface="Raleway Medium" pitchFamily="34" charset="0"/>
                <a:ea typeface="Raleway Medium" pitchFamily="34" charset="-122"/>
                <a:cs typeface="Raleway Medium" pitchFamily="34" charset="-120"/>
              </a:rPr>
              <a:t> By sharing expertise, they position themselves as the go-to authority on baking in their area, encouraging followers to visit the bakery for fresh bread or baking classes.</a:t>
            </a:r>
            <a:endParaRPr lang="en-US" sz="2000" dirty="0"/>
          </a:p>
        </p:txBody>
      </p:sp>
      <p:sp>
        <p:nvSpPr>
          <p:cNvPr id="15" name="Text 12"/>
          <p:cNvSpPr/>
          <p:nvPr/>
        </p:nvSpPr>
        <p:spPr>
          <a:xfrm>
            <a:off x="431959" y="7517368"/>
            <a:ext cx="13766483" cy="197525"/>
          </a:xfrm>
          <a:prstGeom prst="rect">
            <a:avLst/>
          </a:prstGeom>
          <a:noFill/>
          <a:ln/>
        </p:spPr>
        <p:txBody>
          <a:bodyPr wrap="none" lIns="0" tIns="0" rIns="0" bIns="0" rtlCol="0" anchor="t"/>
          <a:lstStyle/>
          <a:p>
            <a:pPr marL="0" indent="0" algn="l">
              <a:lnSpc>
                <a:spcPts val="1550"/>
              </a:lnSpc>
              <a:buNone/>
            </a:pPr>
            <a:endParaRPr lang="en-US" sz="950" dirty="0"/>
          </a:p>
        </p:txBody>
      </p:sp>
      <p:sp>
        <p:nvSpPr>
          <p:cNvPr id="16" name="Text 13"/>
          <p:cNvSpPr/>
          <p:nvPr/>
        </p:nvSpPr>
        <p:spPr>
          <a:xfrm>
            <a:off x="431959" y="7853720"/>
            <a:ext cx="13766483" cy="197525"/>
          </a:xfrm>
          <a:prstGeom prst="rect">
            <a:avLst/>
          </a:prstGeom>
          <a:noFill/>
          <a:ln/>
        </p:spPr>
        <p:txBody>
          <a:bodyPr wrap="none" lIns="0" tIns="0" rIns="0" bIns="0" rtlCol="0" anchor="t"/>
          <a:lstStyle/>
          <a:p>
            <a:pPr marL="0" indent="0" algn="l">
              <a:lnSpc>
                <a:spcPts val="1550"/>
              </a:lnSpc>
              <a:buNone/>
            </a:pPr>
            <a:endParaRPr lang="en-US" sz="950" dirty="0"/>
          </a:p>
        </p:txBody>
      </p:sp>
      <p:sp>
        <p:nvSpPr>
          <p:cNvPr id="17" name="Text 14"/>
          <p:cNvSpPr/>
          <p:nvPr/>
        </p:nvSpPr>
        <p:spPr>
          <a:xfrm>
            <a:off x="431959" y="8190071"/>
            <a:ext cx="13766483" cy="197525"/>
          </a:xfrm>
          <a:prstGeom prst="rect">
            <a:avLst/>
          </a:prstGeom>
          <a:noFill/>
          <a:ln/>
        </p:spPr>
        <p:txBody>
          <a:bodyPr wrap="none" lIns="0" tIns="0" rIns="0" bIns="0" rtlCol="0" anchor="t"/>
          <a:lstStyle/>
          <a:p>
            <a:pPr marL="0" indent="0" algn="l">
              <a:lnSpc>
                <a:spcPts val="1550"/>
              </a:lnSpc>
              <a:buNone/>
            </a:pP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437" y="1740694"/>
            <a:ext cx="7415927" cy="1371600"/>
          </a:xfrm>
          <a:prstGeom prst="rect">
            <a:avLst/>
          </a:prstGeom>
          <a:noFill/>
          <a:ln/>
        </p:spPr>
        <p:txBody>
          <a:bodyPr wrap="squar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Brainstorm Content Types</a:t>
            </a:r>
            <a:endParaRPr lang="en-US" sz="4300" dirty="0"/>
          </a:p>
        </p:txBody>
      </p:sp>
      <p:sp>
        <p:nvSpPr>
          <p:cNvPr id="4" name="Shape 1"/>
          <p:cNvSpPr/>
          <p:nvPr/>
        </p:nvSpPr>
        <p:spPr>
          <a:xfrm>
            <a:off x="6350437" y="3482578"/>
            <a:ext cx="3584615" cy="1379696"/>
          </a:xfrm>
          <a:prstGeom prst="roundRect">
            <a:avLst>
              <a:gd name="adj" fmla="val 26842"/>
            </a:avLst>
          </a:prstGeom>
          <a:solidFill>
            <a:srgbClr val="46464A"/>
          </a:solidFill>
          <a:ln/>
        </p:spPr>
      </p:sp>
      <p:sp>
        <p:nvSpPr>
          <p:cNvPr id="5" name="Text 2"/>
          <p:cNvSpPr/>
          <p:nvPr/>
        </p:nvSpPr>
        <p:spPr>
          <a:xfrm>
            <a:off x="6597253" y="3729395"/>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Interactive</a:t>
            </a:r>
            <a:endParaRPr lang="en-US" sz="2150" dirty="0"/>
          </a:p>
        </p:txBody>
      </p:sp>
      <p:sp>
        <p:nvSpPr>
          <p:cNvPr id="6" name="Text 3"/>
          <p:cNvSpPr/>
          <p:nvPr/>
        </p:nvSpPr>
        <p:spPr>
          <a:xfrm>
            <a:off x="6597253" y="4220408"/>
            <a:ext cx="3090982"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Quizzes, challenges.</a:t>
            </a:r>
            <a:endParaRPr lang="en-US" sz="1900" dirty="0"/>
          </a:p>
        </p:txBody>
      </p:sp>
      <p:sp>
        <p:nvSpPr>
          <p:cNvPr id="7" name="Shape 4"/>
          <p:cNvSpPr/>
          <p:nvPr/>
        </p:nvSpPr>
        <p:spPr>
          <a:xfrm>
            <a:off x="10181868" y="3482578"/>
            <a:ext cx="3584615" cy="1379696"/>
          </a:xfrm>
          <a:prstGeom prst="roundRect">
            <a:avLst>
              <a:gd name="adj" fmla="val 26842"/>
            </a:avLst>
          </a:prstGeom>
          <a:solidFill>
            <a:srgbClr val="46464A"/>
          </a:solidFill>
          <a:ln/>
        </p:spPr>
      </p:sp>
      <p:sp>
        <p:nvSpPr>
          <p:cNvPr id="8" name="Text 5"/>
          <p:cNvSpPr/>
          <p:nvPr/>
        </p:nvSpPr>
        <p:spPr>
          <a:xfrm>
            <a:off x="10428684" y="3729395"/>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Short-Form Video</a:t>
            </a:r>
            <a:endParaRPr lang="en-US" sz="2150" dirty="0"/>
          </a:p>
        </p:txBody>
      </p:sp>
      <p:sp>
        <p:nvSpPr>
          <p:cNvPr id="9" name="Text 6"/>
          <p:cNvSpPr/>
          <p:nvPr/>
        </p:nvSpPr>
        <p:spPr>
          <a:xfrm>
            <a:off x="10428684" y="4220408"/>
            <a:ext cx="3090982"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Behind-the-scenes.</a:t>
            </a:r>
            <a:endParaRPr lang="en-US" sz="1900" dirty="0"/>
          </a:p>
        </p:txBody>
      </p:sp>
      <p:sp>
        <p:nvSpPr>
          <p:cNvPr id="10" name="Shape 7"/>
          <p:cNvSpPr/>
          <p:nvPr/>
        </p:nvSpPr>
        <p:spPr>
          <a:xfrm>
            <a:off x="6350437" y="5109091"/>
            <a:ext cx="7415927" cy="1379696"/>
          </a:xfrm>
          <a:prstGeom prst="roundRect">
            <a:avLst>
              <a:gd name="adj" fmla="val 26842"/>
            </a:avLst>
          </a:prstGeom>
          <a:solidFill>
            <a:srgbClr val="46464A"/>
          </a:solidFill>
          <a:ln/>
        </p:spPr>
      </p:sp>
      <p:sp>
        <p:nvSpPr>
          <p:cNvPr id="11" name="Text 8"/>
          <p:cNvSpPr/>
          <p:nvPr/>
        </p:nvSpPr>
        <p:spPr>
          <a:xfrm>
            <a:off x="6597253" y="5355908"/>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User-Generated</a:t>
            </a:r>
            <a:endParaRPr lang="en-US" sz="2150" dirty="0"/>
          </a:p>
        </p:txBody>
      </p:sp>
      <p:sp>
        <p:nvSpPr>
          <p:cNvPr id="12" name="Text 9"/>
          <p:cNvSpPr/>
          <p:nvPr/>
        </p:nvSpPr>
        <p:spPr>
          <a:xfrm>
            <a:off x="6597253" y="5846921"/>
            <a:ext cx="6922294"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UGC campaigns.</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4036" y="616982"/>
            <a:ext cx="12902327" cy="1371600"/>
          </a:xfrm>
          <a:prstGeom prst="rect">
            <a:avLst/>
          </a:prstGeom>
          <a:noFill/>
          <a:ln/>
        </p:spPr>
        <p:txBody>
          <a:bodyPr wrap="squar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Assignment : Brainstorm the following scenarios</a:t>
            </a:r>
            <a:endParaRPr lang="en-US" sz="4300" dirty="0"/>
          </a:p>
        </p:txBody>
      </p:sp>
      <p:sp>
        <p:nvSpPr>
          <p:cNvPr id="3" name="Text 1"/>
          <p:cNvSpPr/>
          <p:nvPr/>
        </p:nvSpPr>
        <p:spPr>
          <a:xfrm>
            <a:off x="864037" y="2658487"/>
            <a:ext cx="12902327" cy="395049"/>
          </a:xfrm>
          <a:prstGeom prst="rect">
            <a:avLst/>
          </a:prstGeom>
          <a:noFill/>
          <a:ln/>
        </p:spPr>
        <p:txBody>
          <a:bodyPr wrap="none" lIns="0" tIns="0" rIns="0" bIns="0" rtlCol="0" anchor="t"/>
          <a:lstStyle/>
          <a:p>
            <a:pPr marL="0" indent="0" algn="l">
              <a:lnSpc>
                <a:spcPts val="3100"/>
              </a:lnSpc>
              <a:buNone/>
            </a:pPr>
            <a:r>
              <a:rPr lang="en-US" sz="2800" dirty="0">
                <a:solidFill>
                  <a:srgbClr val="D7D4CC"/>
                </a:solidFill>
                <a:latin typeface="Raleway Medium" pitchFamily="34" charset="0"/>
                <a:ea typeface="Raleway Medium" pitchFamily="34" charset="-122"/>
                <a:cs typeface="Raleway Medium" pitchFamily="34" charset="-120"/>
              </a:rPr>
              <a:t>Think of a small business (e.g., a local bakery or tech startup). </a:t>
            </a:r>
            <a:endParaRPr lang="en-US" sz="2800" dirty="0"/>
          </a:p>
        </p:txBody>
      </p:sp>
      <p:sp>
        <p:nvSpPr>
          <p:cNvPr id="4" name="Text 2"/>
          <p:cNvSpPr/>
          <p:nvPr/>
        </p:nvSpPr>
        <p:spPr>
          <a:xfrm>
            <a:off x="864037" y="3448586"/>
            <a:ext cx="12902327"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 </a:t>
            </a:r>
            <a:r>
              <a:rPr lang="en-US" sz="2800" dirty="0">
                <a:solidFill>
                  <a:srgbClr val="D7D4CC"/>
                </a:solidFill>
                <a:latin typeface="Raleway Medium" pitchFamily="34" charset="0"/>
              </a:rPr>
              <a:t>Brainstorm 3 types of content you can  create to attract customers. </a:t>
            </a:r>
          </a:p>
        </p:txBody>
      </p:sp>
      <p:sp>
        <p:nvSpPr>
          <p:cNvPr id="5" name="Text 3"/>
          <p:cNvSpPr/>
          <p:nvPr/>
        </p:nvSpPr>
        <p:spPr>
          <a:xfrm>
            <a:off x="864035" y="4188441"/>
            <a:ext cx="12902327" cy="395049"/>
          </a:xfrm>
          <a:prstGeom prst="rect">
            <a:avLst/>
          </a:prstGeom>
          <a:noFill/>
          <a:ln/>
        </p:spPr>
        <p:txBody>
          <a:bodyPr wrap="none" lIns="0" tIns="0" rIns="0" bIns="0" rtlCol="0" anchor="t"/>
          <a:lstStyle/>
          <a:p>
            <a:pPr marL="0" indent="0" algn="l">
              <a:lnSpc>
                <a:spcPts val="3100"/>
              </a:lnSpc>
              <a:buNone/>
            </a:pPr>
            <a:r>
              <a:rPr lang="en-US" sz="2400" dirty="0">
                <a:solidFill>
                  <a:srgbClr val="D7D4CC"/>
                </a:solidFill>
                <a:latin typeface="Raleway Medium" pitchFamily="34" charset="0"/>
                <a:ea typeface="Raleway Medium" pitchFamily="34" charset="-122"/>
                <a:cs typeface="Raleway Medium" pitchFamily="34" charset="-120"/>
              </a:rPr>
              <a:t>• Share your ideas with the group.</a:t>
            </a:r>
            <a:endParaRPr lang="en-US" sz="2400" dirty="0"/>
          </a:p>
        </p:txBody>
      </p:sp>
      <p:sp>
        <p:nvSpPr>
          <p:cNvPr id="6" name="Text 4"/>
          <p:cNvSpPr/>
          <p:nvPr/>
        </p:nvSpPr>
        <p:spPr>
          <a:xfrm>
            <a:off x="864037" y="4929956"/>
            <a:ext cx="12902327" cy="395049"/>
          </a:xfrm>
          <a:prstGeom prst="rect">
            <a:avLst/>
          </a:prstGeom>
          <a:noFill/>
          <a:ln/>
        </p:spPr>
        <p:txBody>
          <a:bodyPr wrap="none" lIns="0" tIns="0" rIns="0" bIns="0" rtlCol="0" anchor="t"/>
          <a:lstStyle/>
          <a:p>
            <a:pPr marL="0" indent="0" algn="l">
              <a:lnSpc>
                <a:spcPts val="3100"/>
              </a:lnSpc>
              <a:buNone/>
            </a:pPr>
            <a:r>
              <a:rPr lang="en-US" sz="2400" dirty="0">
                <a:solidFill>
                  <a:srgbClr val="D7D4CC"/>
                </a:solidFill>
                <a:latin typeface="Raleway Medium" pitchFamily="34" charset="0"/>
                <a:ea typeface="Raleway Medium" pitchFamily="34" charset="-122"/>
                <a:cs typeface="Raleway Medium" pitchFamily="34" charset="-120"/>
              </a:rPr>
              <a:t>Present your idea in the form of a PPT/PDF document</a:t>
            </a:r>
            <a:endParaRPr lang="en-US" sz="2400" dirty="0"/>
          </a:p>
        </p:txBody>
      </p:sp>
      <p:sp>
        <p:nvSpPr>
          <p:cNvPr id="7" name="Text 5"/>
          <p:cNvSpPr/>
          <p:nvPr/>
        </p:nvSpPr>
        <p:spPr>
          <a:xfrm>
            <a:off x="864034" y="5592610"/>
            <a:ext cx="12902327" cy="395049"/>
          </a:xfrm>
          <a:prstGeom prst="rect">
            <a:avLst/>
          </a:prstGeom>
          <a:noFill/>
          <a:ln/>
        </p:spPr>
        <p:txBody>
          <a:bodyPr wrap="none" lIns="0" tIns="0" rIns="0" bIns="0" rtlCol="0" anchor="t"/>
          <a:lstStyle/>
          <a:p>
            <a:pPr marL="0" indent="0" algn="l">
              <a:lnSpc>
                <a:spcPts val="3100"/>
              </a:lnSpc>
              <a:buNone/>
            </a:pPr>
            <a:r>
              <a:rPr lang="en-US" sz="1900" b="1" dirty="0">
                <a:solidFill>
                  <a:srgbClr val="FFE14D"/>
                </a:solidFill>
                <a:latin typeface="Raleway Medium" pitchFamily="34" charset="0"/>
                <a:ea typeface="Raleway Medium" pitchFamily="34" charset="-122"/>
                <a:cs typeface="Raleway Medium" pitchFamily="34" charset="-120"/>
              </a:rPr>
              <a:t>Max Time: 15 minutes</a:t>
            </a:r>
            <a:endParaRPr lang="en-US" sz="1900" dirty="0"/>
          </a:p>
        </p:txBody>
      </p:sp>
      <p:sp>
        <p:nvSpPr>
          <p:cNvPr id="8" name="Text 6"/>
          <p:cNvSpPr/>
          <p:nvPr/>
        </p:nvSpPr>
        <p:spPr>
          <a:xfrm>
            <a:off x="864037" y="6305903"/>
            <a:ext cx="12902327" cy="395049"/>
          </a:xfrm>
          <a:prstGeom prst="rect">
            <a:avLst/>
          </a:prstGeom>
          <a:noFill/>
          <a:ln/>
        </p:spPr>
        <p:txBody>
          <a:bodyPr wrap="none" lIns="0" tIns="0" rIns="0" bIns="0" rtlCol="0" anchor="t"/>
          <a:lstStyle/>
          <a:p>
            <a:pPr marL="0" indent="0" algn="l">
              <a:lnSpc>
                <a:spcPts val="3100"/>
              </a:lnSpc>
              <a:buNone/>
            </a:pPr>
            <a:r>
              <a:rPr lang="en-US" sz="1900" b="1" dirty="0">
                <a:solidFill>
                  <a:srgbClr val="F9D933"/>
                </a:solidFill>
                <a:latin typeface="Raleway Medium" pitchFamily="34" charset="0"/>
                <a:ea typeface="Raleway Medium" pitchFamily="34" charset="-122"/>
                <a:cs typeface="Raleway Medium" pitchFamily="34" charset="-120"/>
              </a:rPr>
              <a:t>Max marks : 20</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4037" y="1324570"/>
            <a:ext cx="5486400" cy="685800"/>
          </a:xfrm>
          <a:prstGeom prst="rect">
            <a:avLst/>
          </a:prstGeom>
          <a:noFill/>
          <a:ln/>
        </p:spPr>
        <p:txBody>
          <a:bodyPr wrap="non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#Inspirations</a:t>
            </a:r>
            <a:endParaRPr lang="en-US" sz="4300" dirty="0"/>
          </a:p>
        </p:txBody>
      </p:sp>
      <p:sp>
        <p:nvSpPr>
          <p:cNvPr id="3" name="Text 1"/>
          <p:cNvSpPr/>
          <p:nvPr/>
        </p:nvSpPr>
        <p:spPr>
          <a:xfrm>
            <a:off x="864036" y="2456695"/>
            <a:ext cx="12902327" cy="1185148"/>
          </a:xfrm>
          <a:prstGeom prst="rect">
            <a:avLst/>
          </a:prstGeom>
          <a:noFill/>
          <a:ln/>
        </p:spPr>
        <p:txBody>
          <a:bodyPr wrap="square" lIns="0" tIns="0" rIns="0" bIns="0" rtlCol="0" anchor="t"/>
          <a:lstStyle/>
          <a:p>
            <a:pPr marL="342900" indent="-342900" algn="l">
              <a:lnSpc>
                <a:spcPts val="3100"/>
              </a:lnSpc>
              <a:buSzPct val="100000"/>
              <a:buChar char="•"/>
            </a:pPr>
            <a:r>
              <a:rPr lang="en-US" sz="2400" dirty="0">
                <a:solidFill>
                  <a:srgbClr val="D7D4CC"/>
                </a:solidFill>
                <a:latin typeface="Raleway Medium" pitchFamily="34" charset="0"/>
                <a:ea typeface="Raleway Medium" pitchFamily="34" charset="-122"/>
                <a:cs typeface="Raleway Medium" pitchFamily="34" charset="-120"/>
              </a:rPr>
              <a:t>Interactive Instagram Stories Quiz: Create a “What’s Your Perfect Pastry?” quiz where followers answer questions (e.g., “Sweet or savory?” “Morning or evening treat?”) and get a personalized pastry recommendation linked to the bakery’s menu. This engages followers and drives traffic to the bakery.</a:t>
            </a:r>
            <a:endParaRPr lang="en-US" sz="2400" dirty="0"/>
          </a:p>
        </p:txBody>
      </p:sp>
      <p:sp>
        <p:nvSpPr>
          <p:cNvPr id="4" name="Text 2"/>
          <p:cNvSpPr/>
          <p:nvPr/>
        </p:nvSpPr>
        <p:spPr>
          <a:xfrm>
            <a:off x="864037" y="4427831"/>
            <a:ext cx="12902327" cy="1185148"/>
          </a:xfrm>
          <a:prstGeom prst="rect">
            <a:avLst/>
          </a:prstGeom>
          <a:noFill/>
          <a:ln/>
        </p:spPr>
        <p:txBody>
          <a:bodyPr wrap="square" lIns="0" tIns="0" rIns="0" bIns="0" rtlCol="0" anchor="t"/>
          <a:lstStyle/>
          <a:p>
            <a:pPr marL="342900" indent="-342900" algn="l">
              <a:lnSpc>
                <a:spcPts val="3100"/>
              </a:lnSpc>
              <a:buSzPct val="100000"/>
              <a:buChar char="•"/>
            </a:pPr>
            <a:r>
              <a:rPr lang="en-US" sz="2400" dirty="0">
                <a:solidFill>
                  <a:srgbClr val="D7D4CC"/>
                </a:solidFill>
                <a:latin typeface="Raleway Medium" pitchFamily="34" charset="0"/>
                <a:ea typeface="Raleway Medium" pitchFamily="34" charset="-122"/>
                <a:cs typeface="Raleway Medium" pitchFamily="34" charset="-120"/>
              </a:rPr>
              <a:t>Behind-the-Scenes Video Series: Film short videos showing the baking process (e.g., “How We Make Our Famous Cinnamon Rolls”) and share them on TikTok or YouTube Shorts. This builds transparency and trust while showcasing expertise.</a:t>
            </a:r>
            <a:endParaRPr lang="en-US" sz="2400" dirty="0"/>
          </a:p>
        </p:txBody>
      </p:sp>
      <p:sp>
        <p:nvSpPr>
          <p:cNvPr id="5" name="Text 3"/>
          <p:cNvSpPr/>
          <p:nvPr/>
        </p:nvSpPr>
        <p:spPr>
          <a:xfrm>
            <a:off x="864035" y="5917287"/>
            <a:ext cx="12902327" cy="1185148"/>
          </a:xfrm>
          <a:prstGeom prst="rect">
            <a:avLst/>
          </a:prstGeom>
          <a:noFill/>
          <a:ln/>
        </p:spPr>
        <p:txBody>
          <a:bodyPr wrap="square" lIns="0" tIns="0" rIns="0" bIns="0" rtlCol="0" anchor="t"/>
          <a:lstStyle/>
          <a:p>
            <a:pPr marL="342900" indent="-342900" algn="l">
              <a:lnSpc>
                <a:spcPts val="3100"/>
              </a:lnSpc>
              <a:buSzPct val="100000"/>
              <a:buChar char="•"/>
            </a:pPr>
            <a:r>
              <a:rPr lang="en-US" sz="2400" dirty="0">
                <a:solidFill>
                  <a:srgbClr val="D7D4CC"/>
                </a:solidFill>
                <a:latin typeface="Raleway Medium" pitchFamily="34" charset="0"/>
                <a:ea typeface="Raleway Medium" pitchFamily="34" charset="-122"/>
                <a:cs typeface="Raleway Medium" pitchFamily="34" charset="-120"/>
              </a:rPr>
              <a:t>User-Generated Content Campaign: Launch a campaign asking customers to share photos of their bakery purchases with a hashtag (e.g., #MyBakeryMoment) and feature the best ones on the bakery’s social media. This fosters community and provides authentic testimonials.(You can add a Bakery photo on Instagram)</a:t>
            </a:r>
            <a:endParaRPr lang="en-US" sz="2400" dirty="0"/>
          </a:p>
        </p:txBody>
      </p:sp>
      <p:sp>
        <p:nvSpPr>
          <p:cNvPr id="6" name="Text 4"/>
          <p:cNvSpPr/>
          <p:nvPr/>
        </p:nvSpPr>
        <p:spPr>
          <a:xfrm>
            <a:off x="864037" y="6509861"/>
            <a:ext cx="12902327" cy="395049"/>
          </a:xfrm>
          <a:prstGeom prst="rect">
            <a:avLst/>
          </a:prstGeom>
          <a:noFill/>
          <a:ln/>
        </p:spPr>
        <p:txBody>
          <a:bodyPr wrap="none" lIns="0" tIns="0" rIns="0" bIns="0" rtlCol="0" anchor="t"/>
          <a:lstStyle/>
          <a:p>
            <a:pPr marL="0" indent="0" algn="l">
              <a:lnSpc>
                <a:spcPts val="3100"/>
              </a:lnSpc>
              <a:buNone/>
            </a:pP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3429000"/>
            <a:ext cx="7415927" cy="1371600"/>
          </a:xfrm>
          <a:prstGeom prst="rect">
            <a:avLst/>
          </a:prstGeom>
          <a:noFill/>
          <a:ln/>
        </p:spPr>
        <p:txBody>
          <a:bodyPr wrap="squar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Extended Breakdown of Content Marketing</a:t>
            </a:r>
            <a:endParaRPr lang="en-US" sz="4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3052" y="474464"/>
            <a:ext cx="6118146" cy="478631"/>
          </a:xfrm>
          <a:prstGeom prst="rect">
            <a:avLst/>
          </a:prstGeom>
          <a:noFill/>
          <a:ln/>
        </p:spPr>
        <p:txBody>
          <a:bodyPr wrap="none" lIns="0" tIns="0" rIns="0" bIns="0" rtlCol="0" anchor="t"/>
          <a:lstStyle/>
          <a:p>
            <a:pPr marL="0" indent="0" algn="l">
              <a:lnSpc>
                <a:spcPts val="3750"/>
              </a:lnSpc>
              <a:buNone/>
            </a:pPr>
            <a:r>
              <a:rPr lang="en-US" sz="3000" b="1" dirty="0">
                <a:solidFill>
                  <a:srgbClr val="FFE14D"/>
                </a:solidFill>
                <a:latin typeface="Comfortaa Bold" pitchFamily="34" charset="0"/>
                <a:ea typeface="Comfortaa Bold" pitchFamily="34" charset="-122"/>
                <a:cs typeface="Comfortaa Bold" pitchFamily="34" charset="-120"/>
              </a:rPr>
              <a:t>The Content Marketing Funnel</a:t>
            </a:r>
            <a:endParaRPr lang="en-US" sz="3000" dirty="0"/>
          </a:p>
        </p:txBody>
      </p:sp>
      <p:pic>
        <p:nvPicPr>
          <p:cNvPr id="3" name="Image 0" descr="preencoded.png"/>
          <p:cNvPicPr>
            <a:picLocks noChangeAspect="1"/>
          </p:cNvPicPr>
          <p:nvPr/>
        </p:nvPicPr>
        <p:blipFill>
          <a:blip r:embed="rId3"/>
          <a:stretch>
            <a:fillRect/>
          </a:stretch>
        </p:blipFill>
        <p:spPr>
          <a:xfrm>
            <a:off x="1524000" y="1405294"/>
            <a:ext cx="8626793" cy="6074211"/>
          </a:xfrm>
          <a:prstGeom prst="rect">
            <a:avLst/>
          </a:prstGeom>
        </p:spPr>
      </p:pic>
      <p:sp>
        <p:nvSpPr>
          <p:cNvPr id="4" name="Text 1"/>
          <p:cNvSpPr/>
          <p:nvPr/>
        </p:nvSpPr>
        <p:spPr>
          <a:xfrm>
            <a:off x="10360997" y="1408195"/>
            <a:ext cx="3673851" cy="1367089"/>
          </a:xfrm>
          <a:prstGeom prst="rect">
            <a:avLst/>
          </a:prstGeom>
          <a:noFill/>
          <a:ln/>
        </p:spPr>
        <p:txBody>
          <a:bodyPr wrap="square" lIns="0" tIns="0" rIns="0" bIns="0" rtlCol="0" anchor="t"/>
          <a:lstStyle/>
          <a:p>
            <a:pPr marL="0" indent="0" algn="l">
              <a:buNone/>
            </a:pPr>
            <a:r>
              <a:rPr lang="en-US" sz="2800" b="1" i="1" dirty="0">
                <a:solidFill>
                  <a:srgbClr val="FFE14D"/>
                </a:solidFill>
                <a:latin typeface="Raleway Medium" pitchFamily="34" charset="0"/>
                <a:ea typeface="Raleway Medium" pitchFamily="34" charset="-122"/>
                <a:cs typeface="Raleway Medium" pitchFamily="34" charset="-120"/>
              </a:rPr>
              <a:t>Awareness Stage: </a:t>
            </a:r>
            <a:r>
              <a:rPr lang="en-US" sz="2800" dirty="0">
                <a:solidFill>
                  <a:srgbClr val="D7D4CC"/>
                </a:solidFill>
                <a:latin typeface="Raleway Medium" pitchFamily="34" charset="0"/>
                <a:ea typeface="Raleway Medium" pitchFamily="34" charset="-122"/>
                <a:cs typeface="Raleway Medium" pitchFamily="34" charset="-120"/>
              </a:rPr>
              <a:t>Attract attention (e.g., blog posts, social media, infographics</a:t>
            </a:r>
            <a:r>
              <a:rPr lang="en-US" sz="1350" dirty="0">
                <a:solidFill>
                  <a:srgbClr val="D7D4CC"/>
                </a:solidFill>
                <a:latin typeface="Raleway Medium" pitchFamily="34" charset="0"/>
                <a:ea typeface="Raleway Medium" pitchFamily="34" charset="-122"/>
                <a:cs typeface="Raleway Medium" pitchFamily="34" charset="-120"/>
              </a:rPr>
              <a:t>).</a:t>
            </a:r>
            <a:endParaRPr lang="en-US" sz="1350" dirty="0"/>
          </a:p>
        </p:txBody>
      </p:sp>
      <p:sp>
        <p:nvSpPr>
          <p:cNvPr id="5" name="Text 2"/>
          <p:cNvSpPr/>
          <p:nvPr/>
        </p:nvSpPr>
        <p:spPr>
          <a:xfrm>
            <a:off x="10501181" y="3525132"/>
            <a:ext cx="3456146" cy="1367089"/>
          </a:xfrm>
          <a:prstGeom prst="rect">
            <a:avLst/>
          </a:prstGeom>
          <a:noFill/>
          <a:ln/>
        </p:spPr>
        <p:txBody>
          <a:bodyPr wrap="square" lIns="0" tIns="0" rIns="0" bIns="0" rtlCol="0" anchor="t"/>
          <a:lstStyle/>
          <a:p>
            <a:pPr marL="0" indent="0" algn="l">
              <a:buNone/>
            </a:pPr>
            <a:r>
              <a:rPr lang="en-US" sz="2800" b="1" i="1" dirty="0">
                <a:solidFill>
                  <a:srgbClr val="FFE14D"/>
                </a:solidFill>
                <a:latin typeface="Raleway Medium" pitchFamily="34" charset="0"/>
                <a:ea typeface="Raleway Medium" pitchFamily="34" charset="-122"/>
                <a:cs typeface="Raleway Medium" pitchFamily="34" charset="-120"/>
              </a:rPr>
              <a:t>Consideration Stage: </a:t>
            </a:r>
            <a:r>
              <a:rPr lang="en-US" sz="2800" dirty="0">
                <a:solidFill>
                  <a:srgbClr val="D7D4CC"/>
                </a:solidFill>
                <a:latin typeface="Raleway Medium" pitchFamily="34" charset="0"/>
                <a:ea typeface="Raleway Medium" pitchFamily="34" charset="-122"/>
                <a:cs typeface="Raleway Medium" pitchFamily="34" charset="-120"/>
              </a:rPr>
              <a:t>Educate and build trust (e.g., case studies, webinars, how-to guides).</a:t>
            </a:r>
            <a:endParaRPr lang="en-US" sz="2800" dirty="0"/>
          </a:p>
        </p:txBody>
      </p:sp>
      <p:sp>
        <p:nvSpPr>
          <p:cNvPr id="6" name="Text 3"/>
          <p:cNvSpPr/>
          <p:nvPr/>
        </p:nvSpPr>
        <p:spPr>
          <a:xfrm>
            <a:off x="10501181" y="5935953"/>
            <a:ext cx="3456146" cy="1819183"/>
          </a:xfrm>
          <a:prstGeom prst="rect">
            <a:avLst/>
          </a:prstGeom>
          <a:noFill/>
          <a:ln/>
        </p:spPr>
        <p:txBody>
          <a:bodyPr wrap="square" lIns="0" tIns="0" rIns="0" bIns="0" rtlCol="0" anchor="t"/>
          <a:lstStyle/>
          <a:p>
            <a:pPr marL="0" indent="0" algn="l">
              <a:buNone/>
            </a:pPr>
            <a:r>
              <a:rPr lang="en-US" sz="2400" b="1" i="1" dirty="0">
                <a:solidFill>
                  <a:srgbClr val="FFE14D"/>
                </a:solidFill>
                <a:latin typeface="Raleway Medium" pitchFamily="34" charset="0"/>
                <a:ea typeface="Raleway Medium" pitchFamily="34" charset="-122"/>
                <a:cs typeface="Raleway Medium" pitchFamily="34" charset="-120"/>
              </a:rPr>
              <a:t>Decision Stage: </a:t>
            </a:r>
            <a:r>
              <a:rPr lang="en-US" sz="2400" dirty="0">
                <a:solidFill>
                  <a:srgbClr val="D7D4CC"/>
                </a:solidFill>
                <a:latin typeface="Raleway Medium" pitchFamily="34" charset="0"/>
                <a:ea typeface="Raleway Medium" pitchFamily="34" charset="-122"/>
                <a:cs typeface="Raleway Medium" pitchFamily="34" charset="-120"/>
              </a:rPr>
              <a:t>Convert (e.g., product demos, testimonials, free trials).
</a:t>
            </a:r>
            <a:endParaRPr lang="en-US" sz="2400" dirty="0"/>
          </a:p>
        </p:txBody>
      </p:sp>
      <p:sp>
        <p:nvSpPr>
          <p:cNvPr id="7" name="Text 4"/>
          <p:cNvSpPr/>
          <p:nvPr/>
        </p:nvSpPr>
        <p:spPr>
          <a:xfrm>
            <a:off x="603052" y="7479506"/>
            <a:ext cx="13424297" cy="275630"/>
          </a:xfrm>
          <a:prstGeom prst="rect">
            <a:avLst/>
          </a:prstGeom>
          <a:noFill/>
          <a:ln/>
        </p:spPr>
        <p:txBody>
          <a:bodyPr wrap="none" lIns="0" tIns="0" rIns="0" bIns="0" rtlCol="0" anchor="t"/>
          <a:lstStyle/>
          <a:p>
            <a:pPr marL="0" indent="0" algn="l">
              <a:lnSpc>
                <a:spcPts val="2150"/>
              </a:lnSpc>
              <a:buNone/>
            </a:pP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0294" y="354925"/>
            <a:ext cx="2858929" cy="357307"/>
          </a:xfrm>
          <a:prstGeom prst="rect">
            <a:avLst/>
          </a:prstGeom>
          <a:noFill/>
          <a:ln/>
        </p:spPr>
        <p:txBody>
          <a:bodyPr wrap="none" lIns="0" tIns="0" rIns="0" bIns="0" rtlCol="0" anchor="t"/>
          <a:lstStyle/>
          <a:p>
            <a:pPr marL="0" indent="0" algn="l">
              <a:lnSpc>
                <a:spcPts val="2800"/>
              </a:lnSpc>
              <a:buNone/>
            </a:pPr>
            <a:r>
              <a:rPr lang="en-US" sz="2250" b="1" dirty="0">
                <a:solidFill>
                  <a:srgbClr val="FFE14D"/>
                </a:solidFill>
                <a:latin typeface="Comfortaa Bold" pitchFamily="34" charset="0"/>
                <a:ea typeface="Comfortaa Bold" pitchFamily="34" charset="-122"/>
                <a:cs typeface="Comfortaa Bold" pitchFamily="34" charset="-120"/>
              </a:rPr>
              <a:t>Types of Content</a:t>
            </a:r>
            <a:endParaRPr lang="en-US" sz="2250" dirty="0"/>
          </a:p>
        </p:txBody>
      </p:sp>
      <p:pic>
        <p:nvPicPr>
          <p:cNvPr id="3" name="Image 0" descr="preencoded.png"/>
          <p:cNvPicPr>
            <a:picLocks noChangeAspect="1"/>
          </p:cNvPicPr>
          <p:nvPr/>
        </p:nvPicPr>
        <p:blipFill>
          <a:blip r:embed="rId3"/>
          <a:stretch>
            <a:fillRect/>
          </a:stretch>
        </p:blipFill>
        <p:spPr>
          <a:xfrm>
            <a:off x="450294" y="1049774"/>
            <a:ext cx="5661748" cy="3092529"/>
          </a:xfrm>
          <a:prstGeom prst="rect">
            <a:avLst/>
          </a:prstGeom>
        </p:spPr>
      </p:pic>
      <p:pic>
        <p:nvPicPr>
          <p:cNvPr id="4" name="Image 1" descr="preencoded.png"/>
          <p:cNvPicPr>
            <a:picLocks noChangeAspect="1"/>
          </p:cNvPicPr>
          <p:nvPr/>
        </p:nvPicPr>
        <p:blipFill>
          <a:blip r:embed="rId3"/>
          <a:stretch>
            <a:fillRect/>
          </a:stretch>
        </p:blipFill>
        <p:spPr>
          <a:xfrm>
            <a:off x="450294" y="4286964"/>
            <a:ext cx="5661748" cy="3092529"/>
          </a:xfrm>
          <a:prstGeom prst="rect">
            <a:avLst/>
          </a:prstGeom>
        </p:spPr>
      </p:pic>
      <p:sp>
        <p:nvSpPr>
          <p:cNvPr id="5" name="Text 1"/>
          <p:cNvSpPr/>
          <p:nvPr/>
        </p:nvSpPr>
        <p:spPr>
          <a:xfrm>
            <a:off x="6496645" y="950119"/>
            <a:ext cx="7690961" cy="205859"/>
          </a:xfrm>
          <a:prstGeom prst="rect">
            <a:avLst/>
          </a:prstGeom>
          <a:noFill/>
          <a:ln/>
        </p:spPr>
        <p:txBody>
          <a:bodyPr wrap="none" lIns="0" tIns="0" rIns="0" bIns="0" rtlCol="0" anchor="t"/>
          <a:lstStyle/>
          <a:p>
            <a:pPr marL="342900" indent="-342900" algn="l">
              <a:lnSpc>
                <a:spcPts val="1600"/>
              </a:lnSpc>
              <a:buSzPct val="100000"/>
              <a:buChar char="•"/>
            </a:pPr>
            <a:r>
              <a:rPr lang="en-US" sz="2800" b="1" dirty="0">
                <a:solidFill>
                  <a:srgbClr val="F9D933"/>
                </a:solidFill>
                <a:latin typeface="Raleway Medium" pitchFamily="34" charset="0"/>
                <a:ea typeface="Raleway Medium" pitchFamily="34" charset="-122"/>
                <a:cs typeface="Raleway Medium" pitchFamily="34" charset="-120"/>
              </a:rPr>
              <a:t>Written: Blogs, whitepapers, e-books.</a:t>
            </a:r>
            <a:endParaRPr lang="en-US" sz="2800" dirty="0"/>
          </a:p>
        </p:txBody>
      </p:sp>
      <p:sp>
        <p:nvSpPr>
          <p:cNvPr id="6" name="Text 2"/>
          <p:cNvSpPr/>
          <p:nvPr/>
        </p:nvSpPr>
        <p:spPr>
          <a:xfrm>
            <a:off x="6489144" y="1362286"/>
            <a:ext cx="7690961" cy="205859"/>
          </a:xfrm>
          <a:prstGeom prst="rect">
            <a:avLst/>
          </a:prstGeom>
          <a:noFill/>
          <a:ln/>
        </p:spPr>
        <p:txBody>
          <a:bodyPr wrap="none" lIns="0" tIns="0" rIns="0" bIns="0" rtlCol="0" anchor="t"/>
          <a:lstStyle/>
          <a:p>
            <a:pPr marL="685800" lvl="1" indent="-342900" algn="l">
              <a:lnSpc>
                <a:spcPts val="1600"/>
              </a:lnSpc>
              <a:buSzPct val="100000"/>
              <a:buChar char="•"/>
            </a:pPr>
            <a:r>
              <a:rPr lang="en-US" sz="2000" dirty="0">
                <a:solidFill>
                  <a:srgbClr val="D7D4CC"/>
                </a:solidFill>
                <a:latin typeface="Raleway Medium" pitchFamily="34" charset="0"/>
                <a:ea typeface="Raleway Medium" pitchFamily="34" charset="-122"/>
                <a:cs typeface="Raleway Medium" pitchFamily="34" charset="-120"/>
              </a:rPr>
              <a:t>Purpose: Educate, inform, or establish thought leadership.</a:t>
            </a:r>
            <a:endParaRPr lang="en-US" sz="2000" dirty="0"/>
          </a:p>
        </p:txBody>
      </p:sp>
      <p:sp>
        <p:nvSpPr>
          <p:cNvPr id="7" name="Text 3"/>
          <p:cNvSpPr/>
          <p:nvPr/>
        </p:nvSpPr>
        <p:spPr>
          <a:xfrm>
            <a:off x="6528731" y="1750568"/>
            <a:ext cx="7690961" cy="411718"/>
          </a:xfrm>
          <a:prstGeom prst="rect">
            <a:avLst/>
          </a:prstGeom>
          <a:noFill/>
          <a:ln/>
        </p:spPr>
        <p:txBody>
          <a:bodyPr wrap="square" lIns="0" tIns="0" rIns="0" bIns="0" rtlCol="0" anchor="t"/>
          <a:lstStyle/>
          <a:p>
            <a:pPr marL="685800" lvl="1" indent="-342900" algn="l">
              <a:lnSpc>
                <a:spcPts val="1600"/>
              </a:lnSpc>
              <a:buSzPct val="100000"/>
              <a:buChar char="•"/>
            </a:pPr>
            <a:r>
              <a:rPr lang="en-US" dirty="0">
                <a:solidFill>
                  <a:srgbClr val="D7D4CC"/>
                </a:solidFill>
                <a:latin typeface="Raleway Medium" pitchFamily="34" charset="0"/>
                <a:ea typeface="Raleway Medium" pitchFamily="34" charset="-122"/>
                <a:cs typeface="Raleway Medium" pitchFamily="34" charset="-120"/>
              </a:rPr>
              <a:t>Examples: A blog post on “How to Train Your Puppy” (pet brand), a whitepaper on “The Future of Remote Work” (tech company), an e-book on “Healthy Meal Prep Ideas” (nutrition brand).</a:t>
            </a:r>
            <a:endParaRPr lang="en-US" dirty="0"/>
          </a:p>
        </p:txBody>
      </p:sp>
      <p:sp>
        <p:nvSpPr>
          <p:cNvPr id="8" name="Text 4"/>
          <p:cNvSpPr/>
          <p:nvPr/>
        </p:nvSpPr>
        <p:spPr>
          <a:xfrm>
            <a:off x="6489143" y="2780763"/>
            <a:ext cx="7690961" cy="205859"/>
          </a:xfrm>
          <a:prstGeom prst="rect">
            <a:avLst/>
          </a:prstGeom>
          <a:noFill/>
          <a:ln/>
        </p:spPr>
        <p:txBody>
          <a:bodyPr wrap="none" lIns="0" tIns="0" rIns="0" bIns="0" rtlCol="0" anchor="t"/>
          <a:lstStyle/>
          <a:p>
            <a:pPr marL="342900" indent="-342900">
              <a:lnSpc>
                <a:spcPts val="1600"/>
              </a:lnSpc>
              <a:buSzPct val="100000"/>
              <a:buChar char="•"/>
            </a:pPr>
            <a:r>
              <a:rPr lang="en-US" sz="2800" b="1" dirty="0">
                <a:solidFill>
                  <a:srgbClr val="F9D933"/>
                </a:solidFill>
                <a:latin typeface="Raleway Medium" pitchFamily="34" charset="0"/>
              </a:rPr>
              <a:t>Visual: Infographics, videos, memes.</a:t>
            </a:r>
          </a:p>
        </p:txBody>
      </p:sp>
      <p:sp>
        <p:nvSpPr>
          <p:cNvPr id="9" name="Text 5"/>
          <p:cNvSpPr/>
          <p:nvPr/>
        </p:nvSpPr>
        <p:spPr>
          <a:xfrm>
            <a:off x="6496645" y="3237487"/>
            <a:ext cx="7690961" cy="498422"/>
          </a:xfrm>
          <a:prstGeom prst="rect">
            <a:avLst/>
          </a:prstGeom>
          <a:noFill/>
          <a:ln/>
        </p:spPr>
        <p:txBody>
          <a:bodyPr wrap="none" lIns="0" tIns="0" rIns="0" bIns="0" rtlCol="0" anchor="t"/>
          <a:lstStyle/>
          <a:p>
            <a:pPr marL="685800" lvl="1" indent="-342900" algn="l">
              <a:lnSpc>
                <a:spcPts val="1600"/>
              </a:lnSpc>
              <a:buSzPct val="100000"/>
              <a:buChar char="•"/>
            </a:pPr>
            <a:r>
              <a:rPr lang="en-US" sz="1600" dirty="0">
                <a:solidFill>
                  <a:srgbClr val="D7D4CC"/>
                </a:solidFill>
                <a:latin typeface="Raleway Medium" pitchFamily="34" charset="0"/>
                <a:ea typeface="Raleway Medium" pitchFamily="34" charset="-122"/>
                <a:cs typeface="Raleway Medium" pitchFamily="34" charset="-120"/>
              </a:rPr>
              <a:t>Purpose: Engage, entertain, or simplify complex information.</a:t>
            </a:r>
            <a:endParaRPr lang="en-US" sz="1600" dirty="0"/>
          </a:p>
        </p:txBody>
      </p:sp>
      <p:sp>
        <p:nvSpPr>
          <p:cNvPr id="10" name="Text 6"/>
          <p:cNvSpPr/>
          <p:nvPr/>
        </p:nvSpPr>
        <p:spPr>
          <a:xfrm>
            <a:off x="6496645" y="3488351"/>
            <a:ext cx="7690961" cy="996844"/>
          </a:xfrm>
          <a:prstGeom prst="rect">
            <a:avLst/>
          </a:prstGeom>
          <a:noFill/>
          <a:ln/>
        </p:spPr>
        <p:txBody>
          <a:bodyPr wrap="square" lIns="0" tIns="0" rIns="0" bIns="0" rtlCol="0" anchor="t"/>
          <a:lstStyle/>
          <a:p>
            <a:pPr marL="685800" lvl="1" indent="-342900" algn="l">
              <a:lnSpc>
                <a:spcPts val="1600"/>
              </a:lnSpc>
              <a:buSzPct val="100000"/>
              <a:buChar char="•"/>
            </a:pPr>
            <a:r>
              <a:rPr lang="en-US" sz="1600" dirty="0">
                <a:solidFill>
                  <a:srgbClr val="D7D4CC"/>
                </a:solidFill>
                <a:latin typeface="Raleway Medium" pitchFamily="34" charset="0"/>
                <a:ea typeface="Raleway Medium" pitchFamily="34" charset="-122"/>
                <a:cs typeface="Raleway Medium" pitchFamily="34" charset="-120"/>
              </a:rPr>
              <a:t>Examples: An infographic on “The Benefits of Organic Pet Food” (pet brand), a video tutorial on “Setting Up Your First Project in Our Software” (tech company), a meme about “Monday Morning Struggles” (relatable for any brand).</a:t>
            </a:r>
            <a:endParaRPr lang="en-US" sz="1600" dirty="0"/>
          </a:p>
        </p:txBody>
      </p:sp>
      <p:sp>
        <p:nvSpPr>
          <p:cNvPr id="11" name="Text 7"/>
          <p:cNvSpPr/>
          <p:nvPr/>
        </p:nvSpPr>
        <p:spPr>
          <a:xfrm>
            <a:off x="6737276" y="4892337"/>
            <a:ext cx="7690961" cy="205859"/>
          </a:xfrm>
          <a:prstGeom prst="rect">
            <a:avLst/>
          </a:prstGeom>
          <a:noFill/>
          <a:ln/>
        </p:spPr>
        <p:txBody>
          <a:bodyPr wrap="none" lIns="0" tIns="0" rIns="0" bIns="0" rtlCol="0" anchor="t"/>
          <a:lstStyle/>
          <a:p>
            <a:pPr marL="342900" indent="-342900">
              <a:lnSpc>
                <a:spcPts val="1600"/>
              </a:lnSpc>
              <a:buSzPct val="100000"/>
              <a:buChar char="•"/>
            </a:pPr>
            <a:r>
              <a:rPr lang="en-US" sz="2800" b="1" dirty="0">
                <a:solidFill>
                  <a:srgbClr val="F9D933"/>
                </a:solidFill>
                <a:latin typeface="Raleway Medium" pitchFamily="34" charset="0"/>
              </a:rPr>
              <a:t>Interactive: Quizzes, polls, calculators.</a:t>
            </a:r>
          </a:p>
        </p:txBody>
      </p:sp>
      <p:sp>
        <p:nvSpPr>
          <p:cNvPr id="12" name="Text 8"/>
          <p:cNvSpPr/>
          <p:nvPr/>
        </p:nvSpPr>
        <p:spPr>
          <a:xfrm>
            <a:off x="6737273" y="5195539"/>
            <a:ext cx="7690961" cy="412948"/>
          </a:xfrm>
          <a:prstGeom prst="rect">
            <a:avLst/>
          </a:prstGeom>
          <a:noFill/>
          <a:ln/>
        </p:spPr>
        <p:txBody>
          <a:bodyPr wrap="none" lIns="0" tIns="0" rIns="0" bIns="0" rtlCol="0" anchor="t"/>
          <a:lstStyle/>
          <a:p>
            <a:pPr marL="685800" lvl="1" indent="-342900" algn="l">
              <a:buSzPct val="100000"/>
              <a:buChar char="•"/>
            </a:pPr>
            <a:r>
              <a:rPr lang="en-US" dirty="0">
                <a:solidFill>
                  <a:srgbClr val="D7D4CC"/>
                </a:solidFill>
                <a:latin typeface="Raleway Medium" pitchFamily="34" charset="0"/>
                <a:ea typeface="Raleway Medium" pitchFamily="34" charset="-122"/>
                <a:cs typeface="Raleway Medium" pitchFamily="34" charset="-120"/>
              </a:rPr>
              <a:t>Purpose: Increase engagement, personalize experiences, or </a:t>
            </a:r>
          </a:p>
          <a:p>
            <a:pPr marL="342900" lvl="1" algn="l">
              <a:buSzPct val="100000"/>
            </a:pPr>
            <a:r>
              <a:rPr lang="en-US" dirty="0">
                <a:solidFill>
                  <a:srgbClr val="D7D4CC"/>
                </a:solidFill>
                <a:latin typeface="Raleway Medium" pitchFamily="34" charset="0"/>
                <a:ea typeface="Raleway Medium" pitchFamily="34" charset="-122"/>
                <a:cs typeface="Raleway Medium" pitchFamily="34" charset="-120"/>
              </a:rPr>
              <a:t>      collect data.</a:t>
            </a:r>
            <a:endParaRPr lang="en-US" dirty="0"/>
          </a:p>
        </p:txBody>
      </p:sp>
      <p:sp>
        <p:nvSpPr>
          <p:cNvPr id="13" name="Text 9"/>
          <p:cNvSpPr/>
          <p:nvPr/>
        </p:nvSpPr>
        <p:spPr>
          <a:xfrm>
            <a:off x="6737274" y="5815262"/>
            <a:ext cx="7690961" cy="617577"/>
          </a:xfrm>
          <a:prstGeom prst="rect">
            <a:avLst/>
          </a:prstGeom>
          <a:noFill/>
          <a:ln/>
        </p:spPr>
        <p:txBody>
          <a:bodyPr wrap="square" lIns="0" tIns="0" rIns="0" bIns="0" rtlCol="0" anchor="t"/>
          <a:lstStyle/>
          <a:p>
            <a:pPr marL="685800" lvl="1" indent="-342900" algn="l">
              <a:buSzPct val="100000"/>
              <a:buChar char="•"/>
            </a:pPr>
            <a:r>
              <a:rPr lang="en-US" dirty="0">
                <a:solidFill>
                  <a:srgbClr val="D7D4CC"/>
                </a:solidFill>
                <a:latin typeface="Raleway Medium" pitchFamily="34" charset="0"/>
                <a:ea typeface="Raleway Medium" pitchFamily="34" charset="-122"/>
                <a:cs typeface="Raleway Medium" pitchFamily="34" charset="-120"/>
              </a:rPr>
              <a:t>Examples: A quiz on “What’s Your Dog’s Personality Type?” (pet brand), a poll on “What’s Your Biggest Work Challenge?” (tech company), a calculator for “How Much Can You Save with Our Software?” (SaaS company).
</a:t>
            </a:r>
            <a:endParaRPr lang="en-US" dirty="0"/>
          </a:p>
        </p:txBody>
      </p:sp>
      <p:sp>
        <p:nvSpPr>
          <p:cNvPr id="14" name="Text 10"/>
          <p:cNvSpPr/>
          <p:nvPr/>
        </p:nvSpPr>
        <p:spPr>
          <a:xfrm>
            <a:off x="450294" y="7668816"/>
            <a:ext cx="13729811" cy="205859"/>
          </a:xfrm>
          <a:prstGeom prst="rect">
            <a:avLst/>
          </a:prstGeom>
          <a:noFill/>
          <a:ln/>
        </p:spPr>
        <p:txBody>
          <a:bodyPr wrap="none" lIns="0" tIns="0" rIns="0" bIns="0" rtlCol="0" anchor="t"/>
          <a:lstStyle/>
          <a:p>
            <a:pPr marL="0" indent="0" algn="l">
              <a:lnSpc>
                <a:spcPts val="1600"/>
              </a:lnSpc>
              <a:buNone/>
            </a:pP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31959" y="339447"/>
            <a:ext cx="5368766" cy="342900"/>
          </a:xfrm>
          <a:prstGeom prst="rect">
            <a:avLst/>
          </a:prstGeom>
          <a:noFill/>
          <a:ln/>
        </p:spPr>
        <p:txBody>
          <a:bodyPr wrap="none" lIns="0" tIns="0" rIns="0" bIns="0" rtlCol="0" anchor="t"/>
          <a:lstStyle/>
          <a:p>
            <a:pPr marL="0" indent="0" algn="l">
              <a:lnSpc>
                <a:spcPts val="2700"/>
              </a:lnSpc>
              <a:buNone/>
            </a:pPr>
            <a:r>
              <a:rPr lang="en-US" sz="2150" b="1" dirty="0">
                <a:solidFill>
                  <a:srgbClr val="FFE14D"/>
                </a:solidFill>
                <a:latin typeface="Comfortaa Bold" pitchFamily="34" charset="0"/>
                <a:ea typeface="Comfortaa Bold" pitchFamily="34" charset="-122"/>
                <a:cs typeface="Comfortaa Bold" pitchFamily="34" charset="-120"/>
              </a:rPr>
              <a:t>Detailed breakdown of  Content types</a:t>
            </a:r>
            <a:endParaRPr lang="en-US" sz="2150" dirty="0"/>
          </a:p>
        </p:txBody>
      </p:sp>
      <p:sp>
        <p:nvSpPr>
          <p:cNvPr id="3" name="Text 1"/>
          <p:cNvSpPr/>
          <p:nvPr/>
        </p:nvSpPr>
        <p:spPr>
          <a:xfrm>
            <a:off x="431960" y="929164"/>
            <a:ext cx="5368766" cy="293250"/>
          </a:xfrm>
          <a:prstGeom prst="rect">
            <a:avLst/>
          </a:prstGeom>
          <a:noFill/>
          <a:ln/>
        </p:spPr>
        <p:txBody>
          <a:bodyPr wrap="none" lIns="0" tIns="0" rIns="0" bIns="0" rtlCol="0" anchor="t"/>
          <a:lstStyle/>
          <a:p>
            <a:pPr marL="0" indent="0" algn="l">
              <a:lnSpc>
                <a:spcPts val="1550"/>
              </a:lnSpc>
              <a:buNone/>
            </a:pPr>
            <a:r>
              <a:rPr lang="en-US" sz="2800" b="1" dirty="0">
                <a:solidFill>
                  <a:srgbClr val="FFE14D"/>
                </a:solidFill>
                <a:latin typeface="Raleway Medium" pitchFamily="34" charset="0"/>
                <a:ea typeface="Raleway Medium" pitchFamily="34" charset="-122"/>
                <a:cs typeface="Raleway Medium" pitchFamily="34" charset="-120"/>
              </a:rPr>
              <a:t>Written Content:</a:t>
            </a:r>
            <a:endParaRPr lang="en-US" sz="2800" dirty="0"/>
          </a:p>
        </p:txBody>
      </p:sp>
      <p:sp>
        <p:nvSpPr>
          <p:cNvPr id="4" name="Text 2"/>
          <p:cNvSpPr/>
          <p:nvPr/>
        </p:nvSpPr>
        <p:spPr>
          <a:xfrm>
            <a:off x="425796" y="1330009"/>
            <a:ext cx="13613402" cy="1569323"/>
          </a:xfrm>
          <a:prstGeom prst="rect">
            <a:avLst/>
          </a:prstGeom>
          <a:noFill/>
          <a:ln/>
        </p:spPr>
        <p:txBody>
          <a:bodyPr wrap="none" lIns="0" tIns="0" rIns="0" bIns="0" rtlCol="0" anchor="t"/>
          <a:lstStyle/>
          <a:p>
            <a:pPr marL="342900" indent="-342900" algn="l">
              <a:lnSpc>
                <a:spcPts val="1550"/>
              </a:lnSpc>
              <a:buSzPct val="100000"/>
              <a:buChar char="•"/>
            </a:pPr>
            <a:r>
              <a:rPr lang="en-US" sz="1600" dirty="0">
                <a:solidFill>
                  <a:srgbClr val="D7D4CC"/>
                </a:solidFill>
                <a:latin typeface="Raleway Medium" pitchFamily="34" charset="0"/>
                <a:ea typeface="Raleway Medium" pitchFamily="34" charset="-122"/>
                <a:cs typeface="Raleway Medium" pitchFamily="34" charset="-120"/>
              </a:rPr>
              <a:t>Why it’s effective: Written content is great for in-depth education and SEO (e.g., blogs rank well on Google). It’s also versatile for</a:t>
            </a:r>
          </a:p>
          <a:p>
            <a:pPr marL="342900" indent="-342900" algn="l">
              <a:lnSpc>
                <a:spcPts val="1550"/>
              </a:lnSpc>
              <a:buSzPct val="100000"/>
              <a:buChar char="•"/>
            </a:pPr>
            <a:r>
              <a:rPr lang="en-US" sz="1600" dirty="0">
                <a:solidFill>
                  <a:srgbClr val="D7D4CC"/>
                </a:solidFill>
                <a:latin typeface="Raleway Medium" pitchFamily="34" charset="0"/>
                <a:ea typeface="Raleway Medium" pitchFamily="34" charset="-122"/>
                <a:cs typeface="Raleway Medium" pitchFamily="34" charset="-120"/>
              </a:rPr>
              <a:t> repurposing (e.g., a whitepaper can be turned into blog posts).W</a:t>
            </a:r>
            <a:endParaRPr lang="en-US" sz="1600" dirty="0"/>
          </a:p>
        </p:txBody>
      </p:sp>
      <p:sp>
        <p:nvSpPr>
          <p:cNvPr id="5" name="Text 3"/>
          <p:cNvSpPr/>
          <p:nvPr/>
        </p:nvSpPr>
        <p:spPr>
          <a:xfrm>
            <a:off x="486603" y="2323018"/>
            <a:ext cx="11455241" cy="1133061"/>
          </a:xfrm>
          <a:prstGeom prst="rect">
            <a:avLst/>
          </a:prstGeom>
          <a:noFill/>
          <a:ln/>
        </p:spPr>
        <p:txBody>
          <a:bodyPr wrap="none" lIns="0" tIns="0" rIns="0" bIns="0" rtlCol="0" anchor="t"/>
          <a:lstStyle/>
          <a:p>
            <a:pPr marL="342900" indent="-342900" algn="l">
              <a:lnSpc>
                <a:spcPts val="1550"/>
              </a:lnSpc>
              <a:buSzPct val="100000"/>
              <a:buChar char="•"/>
            </a:pPr>
            <a:r>
              <a:rPr lang="en-US" sz="1600" dirty="0">
                <a:solidFill>
                  <a:srgbClr val="D7D4CC"/>
                </a:solidFill>
                <a:latin typeface="Raleway Medium" pitchFamily="34" charset="0"/>
                <a:ea typeface="Raleway Medium" pitchFamily="34" charset="-122"/>
                <a:cs typeface="Raleway Medium" pitchFamily="34" charset="-120"/>
              </a:rPr>
              <a:t>Audience fit: Blogs work well for audiences seeking detailed information (e.g., professionals, researchers), while e-books appeal to those looking</a:t>
            </a:r>
          </a:p>
          <a:p>
            <a:pPr algn="l">
              <a:lnSpc>
                <a:spcPts val="1550"/>
              </a:lnSpc>
              <a:buSzPct val="100000"/>
            </a:pPr>
            <a:r>
              <a:rPr lang="en-US" sz="1600" dirty="0">
                <a:solidFill>
                  <a:srgbClr val="D7D4CC"/>
                </a:solidFill>
                <a:latin typeface="Raleway Medium" pitchFamily="34" charset="0"/>
                <a:ea typeface="Raleway Medium" pitchFamily="34" charset="-122"/>
                <a:cs typeface="Raleway Medium" pitchFamily="34" charset="-120"/>
              </a:rPr>
              <a:t>       for comprehensive guides (e.g., hobbyists, learners).</a:t>
            </a:r>
            <a:endParaRPr lang="en-US" sz="1600" dirty="0"/>
          </a:p>
        </p:txBody>
      </p:sp>
      <p:sp>
        <p:nvSpPr>
          <p:cNvPr id="6" name="Text 4"/>
          <p:cNvSpPr/>
          <p:nvPr/>
        </p:nvSpPr>
        <p:spPr>
          <a:xfrm>
            <a:off x="36387" y="1949800"/>
            <a:ext cx="13766483" cy="485436"/>
          </a:xfrm>
          <a:prstGeom prst="rect">
            <a:avLst/>
          </a:prstGeom>
          <a:noFill/>
          <a:ln/>
        </p:spPr>
        <p:txBody>
          <a:bodyPr wrap="none" lIns="0" tIns="0" rIns="0" bIns="0" rtlCol="0" anchor="t"/>
          <a:lstStyle/>
          <a:p>
            <a:pPr marL="342900" indent="-342900" algn="l">
              <a:lnSpc>
                <a:spcPts val="1550"/>
              </a:lnSpc>
              <a:buSzPct val="100000"/>
              <a:buChar char="•"/>
            </a:pPr>
            <a:r>
              <a:rPr lang="en-US" sz="2000" dirty="0">
                <a:solidFill>
                  <a:srgbClr val="D7D4CC"/>
                </a:solidFill>
                <a:latin typeface="Raleway Medium" pitchFamily="34" charset="0"/>
                <a:ea typeface="Raleway Medium" pitchFamily="34" charset="-122"/>
                <a:cs typeface="Raleway Medium" pitchFamily="34" charset="-120"/>
              </a:rPr>
              <a:t>Example</a:t>
            </a:r>
            <a:r>
              <a:rPr lang="en-US" sz="950" dirty="0">
                <a:solidFill>
                  <a:srgbClr val="D7D4CC"/>
                </a:solidFill>
                <a:latin typeface="Raleway Medium" pitchFamily="34" charset="0"/>
                <a:ea typeface="Raleway Medium" pitchFamily="34" charset="-122"/>
                <a:cs typeface="Raleway Medium" pitchFamily="34" charset="-120"/>
              </a:rPr>
              <a:t> :</a:t>
            </a:r>
            <a:endParaRPr lang="en-US" sz="950" dirty="0"/>
          </a:p>
        </p:txBody>
      </p:sp>
      <p:sp>
        <p:nvSpPr>
          <p:cNvPr id="7" name="Text 5"/>
          <p:cNvSpPr/>
          <p:nvPr/>
        </p:nvSpPr>
        <p:spPr>
          <a:xfrm>
            <a:off x="159243" y="3010019"/>
            <a:ext cx="13766483" cy="676871"/>
          </a:xfrm>
          <a:prstGeom prst="rect">
            <a:avLst/>
          </a:prstGeom>
          <a:noFill/>
          <a:ln/>
        </p:spPr>
        <p:txBody>
          <a:bodyPr wrap="none" lIns="0" tIns="0" rIns="0" bIns="0" rtlCol="0" anchor="t"/>
          <a:lstStyle/>
          <a:p>
            <a:pPr marL="0" indent="0" algn="l">
              <a:lnSpc>
                <a:spcPts val="1550"/>
              </a:lnSpc>
              <a:buNone/>
            </a:pPr>
            <a:r>
              <a:rPr lang="en-US" dirty="0">
                <a:solidFill>
                  <a:srgbClr val="D7D4CC"/>
                </a:solidFill>
                <a:latin typeface="Raleway Medium" pitchFamily="34" charset="0"/>
                <a:ea typeface="Raleway Medium" pitchFamily="34" charset="-122"/>
                <a:cs typeface="Raleway Medium" pitchFamily="34" charset="-120"/>
              </a:rPr>
              <a:t>        Blue Tokai Blog : </a:t>
            </a:r>
            <a:r>
              <a:rPr lang="en-US" u="sng" dirty="0">
                <a:solidFill>
                  <a:srgbClr val="FFE14D"/>
                </a:solidFill>
                <a:latin typeface="Raleway Medium" pitchFamily="34" charset="0"/>
                <a:ea typeface="Raleway Medium" pitchFamily="34" charset="-122"/>
                <a:cs typeface="Raleway Medium" pitchFamily="34" charset="-120"/>
                <a:hlinkClick r:id="rId3">
                  <a:extLst>
                    <a:ext uri="{A12FA001-AC4F-418D-AE19-62706E023703}">
                      <ahyp:hlinkClr xmlns:ahyp="http://schemas.microsoft.com/office/drawing/2018/hyperlinkcolor" val="tx"/>
                    </a:ext>
                  </a:extLst>
                </a:hlinkClick>
              </a:rPr>
              <a:t>https://bluetokaicoffee.com/blogs</a:t>
            </a:r>
            <a:endParaRPr lang="en-US" dirty="0"/>
          </a:p>
        </p:txBody>
      </p:sp>
      <p:sp>
        <p:nvSpPr>
          <p:cNvPr id="8" name="Text 6"/>
          <p:cNvSpPr/>
          <p:nvPr/>
        </p:nvSpPr>
        <p:spPr>
          <a:xfrm>
            <a:off x="377314" y="3528758"/>
            <a:ext cx="13766483" cy="381415"/>
          </a:xfrm>
          <a:prstGeom prst="rect">
            <a:avLst/>
          </a:prstGeom>
          <a:noFill/>
          <a:ln/>
        </p:spPr>
        <p:txBody>
          <a:bodyPr wrap="none" lIns="0" tIns="0" rIns="0" bIns="0" rtlCol="0" anchor="t"/>
          <a:lstStyle/>
          <a:p>
            <a:pPr marL="0" indent="0" algn="l">
              <a:lnSpc>
                <a:spcPts val="1550"/>
              </a:lnSpc>
              <a:buNone/>
            </a:pPr>
            <a:r>
              <a:rPr lang="en-US" sz="2000" b="1" dirty="0">
                <a:solidFill>
                  <a:srgbClr val="FFE14D"/>
                </a:solidFill>
                <a:latin typeface="Raleway Medium" pitchFamily="34" charset="0"/>
                <a:ea typeface="Raleway Medium" pitchFamily="34" charset="-122"/>
                <a:cs typeface="Raleway Medium" pitchFamily="34" charset="-120"/>
              </a:rPr>
              <a:t>Visual Content:</a:t>
            </a:r>
            <a:endParaRPr lang="en-US" sz="2000" dirty="0"/>
          </a:p>
        </p:txBody>
      </p:sp>
      <p:sp>
        <p:nvSpPr>
          <p:cNvPr id="9" name="Text 7"/>
          <p:cNvSpPr/>
          <p:nvPr/>
        </p:nvSpPr>
        <p:spPr>
          <a:xfrm>
            <a:off x="36388" y="4381741"/>
            <a:ext cx="13766483" cy="1371305"/>
          </a:xfrm>
          <a:prstGeom prst="rect">
            <a:avLst/>
          </a:prstGeom>
          <a:noFill/>
          <a:ln/>
        </p:spPr>
        <p:txBody>
          <a:bodyPr wrap="none" lIns="0" tIns="0" rIns="0" bIns="0" rtlCol="0" anchor="t"/>
          <a:lstStyle/>
          <a:p>
            <a:pPr marL="342900" indent="-342900" algn="l">
              <a:lnSpc>
                <a:spcPts val="1550"/>
              </a:lnSpc>
              <a:buSzPct val="100000"/>
              <a:buChar char="•"/>
            </a:pPr>
            <a:r>
              <a:rPr lang="en-US" sz="2000" dirty="0">
                <a:solidFill>
                  <a:srgbClr val="D7D4CC"/>
                </a:solidFill>
                <a:latin typeface="Raleway Medium" pitchFamily="34" charset="0"/>
                <a:ea typeface="Raleway Medium" pitchFamily="34" charset="-122"/>
                <a:cs typeface="Raleway Medium" pitchFamily="34" charset="-120"/>
              </a:rPr>
              <a:t>Why it’s effective: Visuals are highly shareable and digestible, making them ideal for social media. They can also evoke emotions </a:t>
            </a:r>
          </a:p>
          <a:p>
            <a:pPr marL="342900" indent="-342900" algn="l">
              <a:lnSpc>
                <a:spcPts val="1550"/>
              </a:lnSpc>
              <a:buSzPct val="100000"/>
              <a:buChar char="•"/>
            </a:pPr>
            <a:r>
              <a:rPr lang="en-US" sz="2000" dirty="0">
                <a:solidFill>
                  <a:srgbClr val="D7D4CC"/>
                </a:solidFill>
                <a:latin typeface="Raleway Medium" pitchFamily="34" charset="0"/>
                <a:ea typeface="Raleway Medium" pitchFamily="34" charset="-122"/>
                <a:cs typeface="Raleway Medium" pitchFamily="34" charset="-120"/>
              </a:rPr>
              <a:t>(e.g., a funny meme) or simplify data (e.g., an infographic).</a:t>
            </a:r>
            <a:endParaRPr lang="en-US" sz="2000" dirty="0"/>
          </a:p>
        </p:txBody>
      </p:sp>
      <p:sp>
        <p:nvSpPr>
          <p:cNvPr id="10" name="Text 8"/>
          <p:cNvSpPr/>
          <p:nvPr/>
        </p:nvSpPr>
        <p:spPr>
          <a:xfrm>
            <a:off x="425796" y="6739141"/>
            <a:ext cx="13766483" cy="976781"/>
          </a:xfrm>
          <a:prstGeom prst="rect">
            <a:avLst/>
          </a:prstGeom>
          <a:noFill/>
          <a:ln/>
        </p:spPr>
        <p:txBody>
          <a:bodyPr wrap="none" lIns="0" tIns="0" rIns="0" bIns="0" rtlCol="0" anchor="t"/>
          <a:lstStyle/>
          <a:p>
            <a:pPr algn="l">
              <a:lnSpc>
                <a:spcPts val="1550"/>
              </a:lnSpc>
              <a:buSzPct val="100000"/>
            </a:pPr>
            <a:r>
              <a:rPr lang="en-US" sz="2000" dirty="0">
                <a:solidFill>
                  <a:srgbClr val="D7D4CC"/>
                </a:solidFill>
                <a:latin typeface="Raleway Medium" pitchFamily="34" charset="0"/>
                <a:ea typeface="Raleway Medium" pitchFamily="34" charset="-122"/>
                <a:cs typeface="Raleway Medium" pitchFamily="34" charset="-120"/>
              </a:rPr>
              <a:t>   Audience fit: Videos and memes resonate with younger audiences (e.g., Gen Z on TikTok), while infographics </a:t>
            </a:r>
          </a:p>
          <a:p>
            <a:pPr algn="l">
              <a:lnSpc>
                <a:spcPts val="1550"/>
              </a:lnSpc>
              <a:buSzPct val="100000"/>
            </a:pPr>
            <a:r>
              <a:rPr lang="en-US" sz="2000" dirty="0">
                <a:solidFill>
                  <a:srgbClr val="D7D4CC"/>
                </a:solidFill>
                <a:latin typeface="Raleway Medium" pitchFamily="34" charset="0"/>
                <a:ea typeface="Raleway Medium" pitchFamily="34" charset="-122"/>
                <a:cs typeface="Raleway Medium" pitchFamily="34" charset="-120"/>
              </a:rPr>
              <a:t>appeal to busy professionals who want quick insights.</a:t>
            </a:r>
            <a:endParaRPr lang="en-US" sz="2000" dirty="0"/>
          </a:p>
        </p:txBody>
      </p:sp>
      <p:sp>
        <p:nvSpPr>
          <p:cNvPr id="11" name="Text 9"/>
          <p:cNvSpPr/>
          <p:nvPr/>
        </p:nvSpPr>
        <p:spPr>
          <a:xfrm>
            <a:off x="272715" y="5838892"/>
            <a:ext cx="13766483" cy="457582"/>
          </a:xfrm>
          <a:prstGeom prst="rect">
            <a:avLst/>
          </a:prstGeom>
          <a:noFill/>
          <a:ln/>
        </p:spPr>
        <p:txBody>
          <a:bodyPr wrap="none" lIns="0" tIns="0" rIns="0" bIns="0" rtlCol="0" anchor="t"/>
          <a:lstStyle/>
          <a:p>
            <a:pPr marL="342900" indent="-342900" algn="l">
              <a:lnSpc>
                <a:spcPts val="1550"/>
              </a:lnSpc>
              <a:buSzPct val="100000"/>
              <a:buChar char="•"/>
            </a:pPr>
            <a:r>
              <a:rPr lang="en-US" sz="3200" dirty="0">
                <a:solidFill>
                  <a:srgbClr val="D7D4CC"/>
                </a:solidFill>
                <a:latin typeface="Raleway Medium" pitchFamily="34" charset="0"/>
                <a:ea typeface="Raleway Medium" pitchFamily="34" charset="-122"/>
                <a:cs typeface="Raleway Medium" pitchFamily="34" charset="-120"/>
              </a:rPr>
              <a:t>Example</a:t>
            </a:r>
            <a:r>
              <a:rPr lang="en-US" sz="1050" dirty="0">
                <a:solidFill>
                  <a:srgbClr val="D7D4CC"/>
                </a:solidFill>
                <a:latin typeface="Raleway Medium" pitchFamily="34" charset="0"/>
                <a:ea typeface="Raleway Medium" pitchFamily="34" charset="-122"/>
                <a:cs typeface="Raleway Medium" pitchFamily="34" charset="-120"/>
              </a:rPr>
              <a:t> </a:t>
            </a:r>
            <a:endParaRPr lang="en-US" sz="1050" dirty="0"/>
          </a:p>
        </p:txBody>
      </p:sp>
      <p:sp>
        <p:nvSpPr>
          <p:cNvPr id="12" name="Text 10"/>
          <p:cNvSpPr/>
          <p:nvPr/>
        </p:nvSpPr>
        <p:spPr>
          <a:xfrm>
            <a:off x="377315" y="3542644"/>
            <a:ext cx="13766483" cy="197525"/>
          </a:xfrm>
          <a:prstGeom prst="rect">
            <a:avLst/>
          </a:prstGeom>
          <a:noFill/>
          <a:ln/>
        </p:spPr>
        <p:txBody>
          <a:bodyPr wrap="none" lIns="0" tIns="0" rIns="0" bIns="0" rtlCol="0" anchor="t"/>
          <a:lstStyle/>
          <a:p>
            <a:pPr marL="0" indent="0" algn="l">
              <a:lnSpc>
                <a:spcPts val="1550"/>
              </a:lnSpc>
              <a:buNone/>
            </a:pPr>
            <a:r>
              <a:rPr lang="en-US" sz="950" dirty="0">
                <a:solidFill>
                  <a:srgbClr val="D7D4CC"/>
                </a:solidFill>
                <a:latin typeface="Raleway Medium" pitchFamily="34" charset="0"/>
                <a:ea typeface="Raleway Medium" pitchFamily="34" charset="-122"/>
                <a:cs typeface="Raleway Medium" pitchFamily="34" charset="-120"/>
              </a:rPr>
              <a:t>     </a:t>
            </a:r>
            <a:endParaRPr lang="en-US" sz="950" dirty="0"/>
          </a:p>
        </p:txBody>
      </p:sp>
      <p:sp>
        <p:nvSpPr>
          <p:cNvPr id="13" name="Text 11"/>
          <p:cNvSpPr/>
          <p:nvPr/>
        </p:nvSpPr>
        <p:spPr>
          <a:xfrm>
            <a:off x="431959" y="725448"/>
            <a:ext cx="7797642" cy="5295125"/>
          </a:xfrm>
          <a:prstGeom prst="rect">
            <a:avLst/>
          </a:prstGeom>
          <a:noFill/>
          <a:ln/>
        </p:spPr>
        <p:txBody>
          <a:bodyPr wrap="none" lIns="0" tIns="0" rIns="0" bIns="0" rtlCol="0" anchor="t"/>
          <a:lstStyle/>
          <a:p>
            <a:pPr marL="0" indent="0" algn="l">
              <a:lnSpc>
                <a:spcPts val="1550"/>
              </a:lnSpc>
              <a:buNone/>
            </a:pPr>
            <a:endParaRPr lang="en-US" sz="950" dirty="0"/>
          </a:p>
        </p:txBody>
      </p:sp>
      <p:pic>
        <p:nvPicPr>
          <p:cNvPr id="14" name="Image 0" descr="preencoded.png"/>
          <p:cNvPicPr>
            <a:picLocks noChangeAspect="1"/>
          </p:cNvPicPr>
          <p:nvPr/>
        </p:nvPicPr>
        <p:blipFill>
          <a:blip r:embed="rId4"/>
          <a:stretch>
            <a:fillRect/>
          </a:stretch>
        </p:blipFill>
        <p:spPr>
          <a:xfrm>
            <a:off x="8206571" y="4346111"/>
            <a:ext cx="6387441" cy="3833830"/>
          </a:xfrm>
          <a:prstGeom prst="rect">
            <a:avLst/>
          </a:prstGeom>
        </p:spPr>
      </p:pic>
      <p:sp>
        <p:nvSpPr>
          <p:cNvPr id="15" name="Text 12"/>
          <p:cNvSpPr/>
          <p:nvPr/>
        </p:nvSpPr>
        <p:spPr>
          <a:xfrm>
            <a:off x="11279029" y="4020860"/>
            <a:ext cx="2934414" cy="197525"/>
          </a:xfrm>
          <a:prstGeom prst="rect">
            <a:avLst/>
          </a:prstGeom>
          <a:noFill/>
          <a:ln/>
        </p:spPr>
        <p:txBody>
          <a:bodyPr wrap="none" lIns="0" tIns="0" rIns="0" bIns="0" rtlCol="0" anchor="t"/>
          <a:lstStyle/>
          <a:p>
            <a:pPr marL="0" indent="0" algn="l">
              <a:lnSpc>
                <a:spcPts val="1550"/>
              </a:lnSpc>
              <a:buNone/>
            </a:pPr>
            <a:endParaRPr lang="en-US" sz="950" dirty="0"/>
          </a:p>
        </p:txBody>
      </p:sp>
      <p:sp>
        <p:nvSpPr>
          <p:cNvPr id="16" name="Text 13"/>
          <p:cNvSpPr/>
          <p:nvPr/>
        </p:nvSpPr>
        <p:spPr>
          <a:xfrm>
            <a:off x="431959" y="11793974"/>
            <a:ext cx="13766483" cy="197525"/>
          </a:xfrm>
          <a:prstGeom prst="rect">
            <a:avLst/>
          </a:prstGeom>
          <a:noFill/>
          <a:ln/>
        </p:spPr>
        <p:txBody>
          <a:bodyPr wrap="none" lIns="0" tIns="0" rIns="0" bIns="0" rtlCol="0" anchor="t"/>
          <a:lstStyle/>
          <a:p>
            <a:pPr marL="0" indent="0" algn="l">
              <a:lnSpc>
                <a:spcPts val="1550"/>
              </a:lnSpc>
              <a:buNone/>
            </a:pPr>
            <a:r>
              <a:rPr lang="en-US" sz="950" b="1" dirty="0">
                <a:solidFill>
                  <a:srgbClr val="FFE14D"/>
                </a:solidFill>
                <a:latin typeface="Raleway Medium" pitchFamily="34" charset="0"/>
                <a:ea typeface="Raleway Medium" pitchFamily="34" charset="-122"/>
                <a:cs typeface="Raleway Medium" pitchFamily="34" charset="-120"/>
              </a:rPr>
              <a:t>Interactive: Quizzes, polls, calculators.</a:t>
            </a:r>
            <a:endParaRPr lang="en-US" sz="950" dirty="0"/>
          </a:p>
        </p:txBody>
      </p:sp>
      <p:sp>
        <p:nvSpPr>
          <p:cNvPr id="17" name="Text 14"/>
          <p:cNvSpPr/>
          <p:nvPr/>
        </p:nvSpPr>
        <p:spPr>
          <a:xfrm>
            <a:off x="431959" y="12130326"/>
            <a:ext cx="13766483" cy="197525"/>
          </a:xfrm>
          <a:prstGeom prst="rect">
            <a:avLst/>
          </a:prstGeom>
          <a:noFill/>
          <a:ln/>
        </p:spPr>
        <p:txBody>
          <a:bodyPr wrap="none" lIns="0" tIns="0" rIns="0" bIns="0" rtlCol="0" anchor="t"/>
          <a:lstStyle/>
          <a:p>
            <a:pPr marL="342900" indent="-342900" algn="l">
              <a:lnSpc>
                <a:spcPts val="1550"/>
              </a:lnSpc>
              <a:buSzPct val="100000"/>
              <a:buChar char="•"/>
            </a:pPr>
            <a:r>
              <a:rPr lang="en-US" sz="950" dirty="0">
                <a:solidFill>
                  <a:srgbClr val="D7D4CC"/>
                </a:solidFill>
                <a:latin typeface="Raleway Medium" pitchFamily="34" charset="0"/>
                <a:ea typeface="Raleway Medium" pitchFamily="34" charset="-122"/>
                <a:cs typeface="Raleway Medium" pitchFamily="34" charset="-120"/>
              </a:rPr>
              <a:t>Purpose: Increase engagement, personalize experiences, or collect data.</a:t>
            </a:r>
            <a:endParaRPr lang="en-US" sz="950" dirty="0"/>
          </a:p>
        </p:txBody>
      </p:sp>
      <p:sp>
        <p:nvSpPr>
          <p:cNvPr id="18" name="Text 15"/>
          <p:cNvSpPr/>
          <p:nvPr/>
        </p:nvSpPr>
        <p:spPr>
          <a:xfrm>
            <a:off x="431959" y="12370951"/>
            <a:ext cx="13766483" cy="395049"/>
          </a:xfrm>
          <a:prstGeom prst="rect">
            <a:avLst/>
          </a:prstGeom>
          <a:noFill/>
          <a:ln/>
        </p:spPr>
        <p:txBody>
          <a:bodyPr wrap="square" lIns="0" tIns="0" rIns="0" bIns="0" rtlCol="0" anchor="t"/>
          <a:lstStyle/>
          <a:p>
            <a:pPr marL="342900" indent="-342900" algn="l">
              <a:lnSpc>
                <a:spcPts val="1550"/>
              </a:lnSpc>
              <a:buSzPct val="100000"/>
              <a:buChar char="•"/>
            </a:pPr>
            <a:r>
              <a:rPr lang="en-US" sz="950" dirty="0">
                <a:solidFill>
                  <a:srgbClr val="D7D4CC"/>
                </a:solidFill>
                <a:latin typeface="Raleway Medium" pitchFamily="34" charset="0"/>
                <a:ea typeface="Raleway Medium" pitchFamily="34" charset="-122"/>
                <a:cs typeface="Raleway Medium" pitchFamily="34" charset="-120"/>
              </a:rPr>
              <a:t>Examples: A quiz on </a:t>
            </a:r>
            <a:r>
              <a:rPr lang="en-US" sz="950" b="1" dirty="0">
                <a:solidFill>
                  <a:srgbClr val="D7D4CC"/>
                </a:solidFill>
                <a:latin typeface="Raleway Medium" pitchFamily="34" charset="0"/>
                <a:ea typeface="Raleway Medium" pitchFamily="34" charset="-122"/>
                <a:cs typeface="Raleway Medium" pitchFamily="34" charset="-120"/>
              </a:rPr>
              <a:t>“What’s Your Dog’s Personality Type?”</a:t>
            </a:r>
            <a:r>
              <a:rPr lang="en-US" sz="950" dirty="0">
                <a:solidFill>
                  <a:srgbClr val="D7D4CC"/>
                </a:solidFill>
                <a:latin typeface="Raleway Medium" pitchFamily="34" charset="0"/>
                <a:ea typeface="Raleway Medium" pitchFamily="34" charset="-122"/>
                <a:cs typeface="Raleway Medium" pitchFamily="34" charset="-120"/>
              </a:rPr>
              <a:t> (pet brand), a poll on </a:t>
            </a:r>
            <a:r>
              <a:rPr lang="en-US" sz="950" b="1" dirty="0">
                <a:solidFill>
                  <a:srgbClr val="D7D4CC"/>
                </a:solidFill>
                <a:latin typeface="Raleway Medium" pitchFamily="34" charset="0"/>
                <a:ea typeface="Raleway Medium" pitchFamily="34" charset="-122"/>
                <a:cs typeface="Raleway Medium" pitchFamily="34" charset="-120"/>
              </a:rPr>
              <a:t>“What’s Your Biggest Work Challenge?”</a:t>
            </a:r>
            <a:r>
              <a:rPr lang="en-US" sz="950" dirty="0">
                <a:solidFill>
                  <a:srgbClr val="D7D4CC"/>
                </a:solidFill>
                <a:latin typeface="Raleway Medium" pitchFamily="34" charset="0"/>
                <a:ea typeface="Raleway Medium" pitchFamily="34" charset="-122"/>
                <a:cs typeface="Raleway Medium" pitchFamily="34" charset="-120"/>
              </a:rPr>
              <a:t> (tech company), a calculator for “How Much Can You Save with Our Software?” (SaaS company).
Visual: Examples of each type (e.g., screenshot of a blog, an infographic, a quiz interface)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39448" y="568172"/>
            <a:ext cx="13397394" cy="2057400"/>
          </a:xfrm>
          <a:prstGeom prst="rect">
            <a:avLst/>
          </a:prstGeom>
          <a:noFill/>
          <a:ln/>
        </p:spPr>
        <p:txBody>
          <a:bodyPr wrap="squar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Use case : Content Marketing Strategy for </a:t>
            </a:r>
          </a:p>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a:t>
            </a:r>
            <a:r>
              <a:rPr lang="en-US" sz="44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4300" b="1" dirty="0" err="1">
                <a:solidFill>
                  <a:srgbClr val="FFE14D"/>
                </a:solidFill>
                <a:latin typeface="Comfortaa Bold" pitchFamily="34" charset="0"/>
                <a:ea typeface="Comfortaa Bold" pitchFamily="34" charset="-122"/>
              </a:rPr>
              <a:t>GreenThreads</a:t>
            </a:r>
            <a:r>
              <a:rPr lang="en-US" sz="44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4300" b="1" dirty="0">
                <a:solidFill>
                  <a:srgbClr val="FFE14D"/>
                </a:solidFill>
                <a:latin typeface="Comfortaa Bold" pitchFamily="34" charset="0"/>
                <a:ea typeface="Comfortaa Bold" pitchFamily="34" charset="-122"/>
                <a:cs typeface="Comfortaa Bold" pitchFamily="34" charset="-120"/>
              </a:rPr>
              <a:t>" – A Sustainable Fashion Brand.</a:t>
            </a:r>
            <a:endParaRPr lang="en-US" sz="4300" dirty="0"/>
          </a:p>
        </p:txBody>
      </p:sp>
      <p:sp>
        <p:nvSpPr>
          <p:cNvPr id="3" name="Text 1"/>
          <p:cNvSpPr/>
          <p:nvPr/>
        </p:nvSpPr>
        <p:spPr>
          <a:xfrm>
            <a:off x="446942" y="3372420"/>
            <a:ext cx="12902327" cy="3830485"/>
          </a:xfrm>
          <a:prstGeom prst="rect">
            <a:avLst/>
          </a:prstGeom>
          <a:noFill/>
          <a:ln/>
        </p:spPr>
        <p:txBody>
          <a:bodyPr wrap="square" lIns="0" tIns="0" rIns="0" bIns="0" rtlCol="0" anchor="t"/>
          <a:lstStyle/>
          <a:p>
            <a:pPr>
              <a:lnSpc>
                <a:spcPts val="3100"/>
              </a:lnSpc>
            </a:pPr>
            <a:r>
              <a:rPr lang="en-US" sz="3600" b="1" i="1" dirty="0">
                <a:solidFill>
                  <a:srgbClr val="FFA44F"/>
                </a:solidFill>
                <a:latin typeface="Raleway Medium" pitchFamily="34" charset="0"/>
                <a:ea typeface="Raleway Medium" pitchFamily="34" charset="-122"/>
                <a:cs typeface="Raleway Medium" pitchFamily="34" charset="-120"/>
              </a:rPr>
              <a:t>Business</a:t>
            </a:r>
            <a:r>
              <a:rPr lang="en-US" sz="1900" b="1" i="1" dirty="0">
                <a:solidFill>
                  <a:srgbClr val="FFA44F"/>
                </a:solidFill>
                <a:latin typeface="Raleway Medium" pitchFamily="34" charset="0"/>
                <a:ea typeface="Raleway Medium" pitchFamily="34" charset="-122"/>
                <a:cs typeface="Raleway Medium" pitchFamily="34" charset="-120"/>
              </a:rPr>
              <a:t> </a:t>
            </a:r>
            <a:r>
              <a:rPr lang="en-US" sz="3600" b="1" i="1" dirty="0">
                <a:solidFill>
                  <a:srgbClr val="FFA44F"/>
                </a:solidFill>
                <a:latin typeface="Raleway Medium" pitchFamily="34" charset="0"/>
              </a:rPr>
              <a:t>Overview</a:t>
            </a:r>
            <a:r>
              <a:rPr lang="en-US" sz="1900" b="1" i="1" dirty="0">
                <a:solidFill>
                  <a:srgbClr val="FFA44F"/>
                </a:solidFill>
                <a:latin typeface="Raleway Medium" pitchFamily="34" charset="0"/>
                <a:ea typeface="Raleway Medium" pitchFamily="34" charset="-122"/>
                <a:cs typeface="Raleway Medium" pitchFamily="34" charset="-120"/>
              </a:rPr>
              <a:t>:</a:t>
            </a:r>
            <a:r>
              <a:rPr lang="en-US" sz="1900" dirty="0">
                <a:solidFill>
                  <a:srgbClr val="D7D4CC"/>
                </a:solidFill>
                <a:latin typeface="Raleway Medium" pitchFamily="34" charset="0"/>
                <a:ea typeface="Raleway Medium" pitchFamily="34" charset="-122"/>
                <a:cs typeface="Raleway Medium" pitchFamily="34" charset="-120"/>
              </a:rPr>
              <a:t>
</a:t>
            </a:r>
            <a:r>
              <a:rPr lang="en-US" sz="2800" b="1"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GreenThreads</a:t>
            </a:r>
            <a:r>
              <a:rPr lang="en-US" sz="28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is a newly launched sustainable fashion startup based in your city. The brand specializes in eco-friendly casual wear made from organic materials and is committed to zero-waste packaging. With minimal online presence and low brand awareness, </a:t>
            </a:r>
            <a:r>
              <a:rPr lang="en-US" sz="28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GreenThreads</a:t>
            </a:r>
            <a:r>
              <a:rPr lang="en-US" sz="28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is looking to grow its customer base by leveraging content marketing strategies.</a:t>
            </a:r>
          </a:p>
          <a:p>
            <a:pPr marL="0" indent="0" algn="l">
              <a:lnSpc>
                <a:spcPts val="3100"/>
              </a:lnSpc>
              <a:buNone/>
            </a:pP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1081</TotalTime>
  <Words>1202</Words>
  <Application>Microsoft Office PowerPoint</Application>
  <PresentationFormat>Custom</PresentationFormat>
  <Paragraphs>86</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Cambria</vt:lpstr>
      <vt:lpstr>Calibri</vt:lpstr>
      <vt:lpstr>Raleway Medium</vt:lpstr>
      <vt:lpstr>Comfortaa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Diptarko Das Sharma</cp:lastModifiedBy>
  <cp:revision>23</cp:revision>
  <dcterms:created xsi:type="dcterms:W3CDTF">2025-04-10T14:42:05Z</dcterms:created>
  <dcterms:modified xsi:type="dcterms:W3CDTF">2025-04-14T12:42:19Z</dcterms:modified>
</cp:coreProperties>
</file>